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5"/>
  </p:notesMasterIdLst>
  <p:sldIdLst>
    <p:sldId id="1119" r:id="rId2"/>
    <p:sldId id="1496" r:id="rId3"/>
    <p:sldId id="1497" r:id="rId4"/>
    <p:sldId id="1509" r:id="rId5"/>
    <p:sldId id="1510" r:id="rId6"/>
    <p:sldId id="1498" r:id="rId7"/>
    <p:sldId id="1499" r:id="rId8"/>
    <p:sldId id="1500" r:id="rId9"/>
    <p:sldId id="1501" r:id="rId10"/>
    <p:sldId id="1502" r:id="rId11"/>
    <p:sldId id="1515" r:id="rId12"/>
    <p:sldId id="1514" r:id="rId13"/>
    <p:sldId id="1503" r:id="rId14"/>
    <p:sldId id="1517" r:id="rId15"/>
    <p:sldId id="1504" r:id="rId16"/>
    <p:sldId id="1505" r:id="rId17"/>
    <p:sldId id="1506" r:id="rId18"/>
    <p:sldId id="1507" r:id="rId19"/>
    <p:sldId id="1508" r:id="rId20"/>
    <p:sldId id="1511" r:id="rId21"/>
    <p:sldId id="1512" r:id="rId22"/>
    <p:sldId id="1513" r:id="rId23"/>
    <p:sldId id="30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9A"/>
    <a:srgbClr val="2CB22F"/>
    <a:srgbClr val="AEFCFC"/>
    <a:srgbClr val="E0C1FF"/>
    <a:srgbClr val="CC99FF"/>
    <a:srgbClr val="DECEFE"/>
    <a:srgbClr val="D0B9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741698-ADA7-4E06-9890-30A2FDBBEA07}" v="132" dt="2026-09-10T07:03:14.2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75" d="100"/>
          <a:sy n="75" d="100"/>
        </p:scale>
        <p:origin x="902"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kaj Kumar" userId="a7b0b64156972ab5" providerId="LiveId" clId="{76F84501-E36D-4D4B-A3C6-A77B5B00B2B0}"/>
    <pc:docChg chg="delSld modSld">
      <pc:chgData name="Pankaj Kumar" userId="a7b0b64156972ab5" providerId="LiveId" clId="{76F84501-E36D-4D4B-A3C6-A77B5B00B2B0}" dt="2026-09-10T11:28:21.440" v="127" actId="2696"/>
      <pc:docMkLst>
        <pc:docMk/>
      </pc:docMkLst>
      <pc:sldChg chg="addSp modSp">
        <pc:chgData name="Pankaj Kumar" userId="a7b0b64156972ab5" providerId="LiveId" clId="{76F84501-E36D-4D4B-A3C6-A77B5B00B2B0}" dt="2026-09-09T06:39:46.017" v="8"/>
        <pc:sldMkLst>
          <pc:docMk/>
          <pc:sldMk cId="3752104249" sldId="1499"/>
        </pc:sldMkLst>
        <pc:graphicFrameChg chg="add mod">
          <ac:chgData name="Pankaj Kumar" userId="a7b0b64156972ab5" providerId="LiveId" clId="{76F84501-E36D-4D4B-A3C6-A77B5B00B2B0}" dt="2026-09-09T06:37:08.725" v="0"/>
          <ac:graphicFrameMkLst>
            <pc:docMk/>
            <pc:sldMk cId="3752104249" sldId="1499"/>
            <ac:graphicFrameMk id="2" creationId="{5F5D448D-596B-4CC0-E6E6-F9238FE1AE5E}"/>
          </ac:graphicFrameMkLst>
        </pc:graphicFrameChg>
        <pc:cxnChg chg="add mod">
          <ac:chgData name="Pankaj Kumar" userId="a7b0b64156972ab5" providerId="LiveId" clId="{76F84501-E36D-4D4B-A3C6-A77B5B00B2B0}" dt="2026-09-09T06:38:05.026" v="1"/>
          <ac:cxnSpMkLst>
            <pc:docMk/>
            <pc:sldMk cId="3752104249" sldId="1499"/>
            <ac:cxnSpMk id="7" creationId="{3FDB8D28-E608-5803-BBFA-24F4CDF0B6E5}"/>
          </ac:cxnSpMkLst>
        </pc:cxnChg>
        <pc:cxnChg chg="add mod">
          <ac:chgData name="Pankaj Kumar" userId="a7b0b64156972ab5" providerId="LiveId" clId="{76F84501-E36D-4D4B-A3C6-A77B5B00B2B0}" dt="2026-09-09T06:38:14.433" v="2"/>
          <ac:cxnSpMkLst>
            <pc:docMk/>
            <pc:sldMk cId="3752104249" sldId="1499"/>
            <ac:cxnSpMk id="8" creationId="{1AC81AC5-A821-2D08-F95A-A98C0AA4C22C}"/>
          </ac:cxnSpMkLst>
        </pc:cxnChg>
        <pc:cxnChg chg="add mod">
          <ac:chgData name="Pankaj Kumar" userId="a7b0b64156972ab5" providerId="LiveId" clId="{76F84501-E36D-4D4B-A3C6-A77B5B00B2B0}" dt="2026-09-09T06:38:23.822" v="3"/>
          <ac:cxnSpMkLst>
            <pc:docMk/>
            <pc:sldMk cId="3752104249" sldId="1499"/>
            <ac:cxnSpMk id="9" creationId="{EFB09D0E-C026-F4E1-6B7B-1193984AFB0E}"/>
          </ac:cxnSpMkLst>
        </pc:cxnChg>
        <pc:cxnChg chg="add mod">
          <ac:chgData name="Pankaj Kumar" userId="a7b0b64156972ab5" providerId="LiveId" clId="{76F84501-E36D-4D4B-A3C6-A77B5B00B2B0}" dt="2026-09-09T06:38:48.988" v="4"/>
          <ac:cxnSpMkLst>
            <pc:docMk/>
            <pc:sldMk cId="3752104249" sldId="1499"/>
            <ac:cxnSpMk id="12" creationId="{0920D243-0293-33B0-889B-49688357F877}"/>
          </ac:cxnSpMkLst>
        </pc:cxnChg>
        <pc:cxnChg chg="add mod">
          <ac:chgData name="Pankaj Kumar" userId="a7b0b64156972ab5" providerId="LiveId" clId="{76F84501-E36D-4D4B-A3C6-A77B5B00B2B0}" dt="2026-09-09T06:39:00.623" v="5"/>
          <ac:cxnSpMkLst>
            <pc:docMk/>
            <pc:sldMk cId="3752104249" sldId="1499"/>
            <ac:cxnSpMk id="13" creationId="{69D9891F-551D-0760-AB31-CBADBF20A496}"/>
          </ac:cxnSpMkLst>
        </pc:cxnChg>
        <pc:cxnChg chg="add mod">
          <ac:chgData name="Pankaj Kumar" userId="a7b0b64156972ab5" providerId="LiveId" clId="{76F84501-E36D-4D4B-A3C6-A77B5B00B2B0}" dt="2026-09-09T06:39:22.397" v="6"/>
          <ac:cxnSpMkLst>
            <pc:docMk/>
            <pc:sldMk cId="3752104249" sldId="1499"/>
            <ac:cxnSpMk id="15" creationId="{642D919A-7EC5-AEF5-8A3A-4994D4A4076E}"/>
          </ac:cxnSpMkLst>
        </pc:cxnChg>
        <pc:cxnChg chg="add mod">
          <ac:chgData name="Pankaj Kumar" userId="a7b0b64156972ab5" providerId="LiveId" clId="{76F84501-E36D-4D4B-A3C6-A77B5B00B2B0}" dt="2026-09-09T06:39:34.549" v="7"/>
          <ac:cxnSpMkLst>
            <pc:docMk/>
            <pc:sldMk cId="3752104249" sldId="1499"/>
            <ac:cxnSpMk id="16" creationId="{7308820B-B5DF-1134-B3B9-7689D1A2B70A}"/>
          </ac:cxnSpMkLst>
        </pc:cxnChg>
        <pc:cxnChg chg="add mod">
          <ac:chgData name="Pankaj Kumar" userId="a7b0b64156972ab5" providerId="LiveId" clId="{76F84501-E36D-4D4B-A3C6-A77B5B00B2B0}" dt="2026-09-09T06:39:46.017" v="8"/>
          <ac:cxnSpMkLst>
            <pc:docMk/>
            <pc:sldMk cId="3752104249" sldId="1499"/>
            <ac:cxnSpMk id="17" creationId="{DBEA6623-B28C-A624-C5DD-9F8060232D46}"/>
          </ac:cxnSpMkLst>
        </pc:cxnChg>
      </pc:sldChg>
      <pc:sldChg chg="addSp modSp">
        <pc:chgData name="Pankaj Kumar" userId="a7b0b64156972ab5" providerId="LiveId" clId="{76F84501-E36D-4D4B-A3C6-A77B5B00B2B0}" dt="2026-09-09T07:14:24.019" v="49"/>
        <pc:sldMkLst>
          <pc:docMk/>
          <pc:sldMk cId="450989171" sldId="1501"/>
        </pc:sldMkLst>
        <pc:graphicFrameChg chg="add mod">
          <ac:chgData name="Pankaj Kumar" userId="a7b0b64156972ab5" providerId="LiveId" clId="{76F84501-E36D-4D4B-A3C6-A77B5B00B2B0}" dt="2026-09-09T06:47:43.473" v="9"/>
          <ac:graphicFrameMkLst>
            <pc:docMk/>
            <pc:sldMk cId="450989171" sldId="1501"/>
            <ac:graphicFrameMk id="4" creationId="{F52A066B-76E2-3AF8-F194-35381653EB51}"/>
          </ac:graphicFrameMkLst>
        </pc:graphicFrameChg>
        <pc:cxnChg chg="add mod">
          <ac:chgData name="Pankaj Kumar" userId="a7b0b64156972ab5" providerId="LiveId" clId="{76F84501-E36D-4D4B-A3C6-A77B5B00B2B0}" dt="2026-09-09T06:49:37.714" v="10"/>
          <ac:cxnSpMkLst>
            <pc:docMk/>
            <pc:sldMk cId="450989171" sldId="1501"/>
            <ac:cxnSpMk id="11" creationId="{DDCCCA2B-9369-9575-C471-28839BC54522}"/>
          </ac:cxnSpMkLst>
        </pc:cxnChg>
        <pc:cxnChg chg="add mod">
          <ac:chgData name="Pankaj Kumar" userId="a7b0b64156972ab5" providerId="LiveId" clId="{76F84501-E36D-4D4B-A3C6-A77B5B00B2B0}" dt="2026-09-09T06:49:44.018" v="11"/>
          <ac:cxnSpMkLst>
            <pc:docMk/>
            <pc:sldMk cId="450989171" sldId="1501"/>
            <ac:cxnSpMk id="12" creationId="{FD9EE7DB-9713-BA01-83E4-5A97B0DA0A17}"/>
          </ac:cxnSpMkLst>
        </pc:cxnChg>
        <pc:cxnChg chg="add mod">
          <ac:chgData name="Pankaj Kumar" userId="a7b0b64156972ab5" providerId="LiveId" clId="{76F84501-E36D-4D4B-A3C6-A77B5B00B2B0}" dt="2026-09-09T06:49:57.164" v="12"/>
          <ac:cxnSpMkLst>
            <pc:docMk/>
            <pc:sldMk cId="450989171" sldId="1501"/>
            <ac:cxnSpMk id="13" creationId="{54F26415-0C7D-9596-0842-B460449675D2}"/>
          </ac:cxnSpMkLst>
        </pc:cxnChg>
        <pc:cxnChg chg="add mod">
          <ac:chgData name="Pankaj Kumar" userId="a7b0b64156972ab5" providerId="LiveId" clId="{76F84501-E36D-4D4B-A3C6-A77B5B00B2B0}" dt="2026-09-09T06:50:08.231" v="13"/>
          <ac:cxnSpMkLst>
            <pc:docMk/>
            <pc:sldMk cId="450989171" sldId="1501"/>
            <ac:cxnSpMk id="14" creationId="{37541D79-1C57-B15B-F234-4ADBB69B02C0}"/>
          </ac:cxnSpMkLst>
        </pc:cxnChg>
        <pc:cxnChg chg="add mod">
          <ac:chgData name="Pankaj Kumar" userId="a7b0b64156972ab5" providerId="LiveId" clId="{76F84501-E36D-4D4B-A3C6-A77B5B00B2B0}" dt="2026-09-09T06:50:49.874" v="14"/>
          <ac:cxnSpMkLst>
            <pc:docMk/>
            <pc:sldMk cId="450989171" sldId="1501"/>
            <ac:cxnSpMk id="17" creationId="{D174FC8C-19EC-837B-533B-8169F3EC10C8}"/>
          </ac:cxnSpMkLst>
        </pc:cxnChg>
        <pc:cxnChg chg="add mod">
          <ac:chgData name="Pankaj Kumar" userId="a7b0b64156972ab5" providerId="LiveId" clId="{76F84501-E36D-4D4B-A3C6-A77B5B00B2B0}" dt="2026-09-09T06:50:58.245" v="15"/>
          <ac:cxnSpMkLst>
            <pc:docMk/>
            <pc:sldMk cId="450989171" sldId="1501"/>
            <ac:cxnSpMk id="18" creationId="{D0B22992-A473-D791-B916-8A2FBFACF130}"/>
          </ac:cxnSpMkLst>
        </pc:cxnChg>
        <pc:cxnChg chg="add mod">
          <ac:chgData name="Pankaj Kumar" userId="a7b0b64156972ab5" providerId="LiveId" clId="{76F84501-E36D-4D4B-A3C6-A77B5B00B2B0}" dt="2026-09-09T06:51:05.391" v="16"/>
          <ac:cxnSpMkLst>
            <pc:docMk/>
            <pc:sldMk cId="450989171" sldId="1501"/>
            <ac:cxnSpMk id="19" creationId="{8751E44B-630C-2032-0C14-FA7F51FE7B87}"/>
          </ac:cxnSpMkLst>
        </pc:cxnChg>
        <pc:cxnChg chg="add mod">
          <ac:chgData name="Pankaj Kumar" userId="a7b0b64156972ab5" providerId="LiveId" clId="{76F84501-E36D-4D4B-A3C6-A77B5B00B2B0}" dt="2026-09-09T06:51:15.707" v="17"/>
          <ac:cxnSpMkLst>
            <pc:docMk/>
            <pc:sldMk cId="450989171" sldId="1501"/>
            <ac:cxnSpMk id="20" creationId="{C790523E-71D9-F56A-2DEC-71564C5C0322}"/>
          </ac:cxnSpMkLst>
        </pc:cxnChg>
        <pc:cxnChg chg="add mod">
          <ac:chgData name="Pankaj Kumar" userId="a7b0b64156972ab5" providerId="LiveId" clId="{76F84501-E36D-4D4B-A3C6-A77B5B00B2B0}" dt="2026-09-09T06:51:30.215" v="18"/>
          <ac:cxnSpMkLst>
            <pc:docMk/>
            <pc:sldMk cId="450989171" sldId="1501"/>
            <ac:cxnSpMk id="21" creationId="{EEF42EE6-D94B-66F9-2415-BB4B51DA1C47}"/>
          </ac:cxnSpMkLst>
        </pc:cxnChg>
        <pc:cxnChg chg="add mod">
          <ac:chgData name="Pankaj Kumar" userId="a7b0b64156972ab5" providerId="LiveId" clId="{76F84501-E36D-4D4B-A3C6-A77B5B00B2B0}" dt="2026-09-09T06:51:37.800" v="19"/>
          <ac:cxnSpMkLst>
            <pc:docMk/>
            <pc:sldMk cId="450989171" sldId="1501"/>
            <ac:cxnSpMk id="22" creationId="{9D930492-113B-0699-19CF-7D87A9265E27}"/>
          </ac:cxnSpMkLst>
        </pc:cxnChg>
        <pc:cxnChg chg="add mod">
          <ac:chgData name="Pankaj Kumar" userId="a7b0b64156972ab5" providerId="LiveId" clId="{76F84501-E36D-4D4B-A3C6-A77B5B00B2B0}" dt="2026-09-09T06:51:58.591" v="20"/>
          <ac:cxnSpMkLst>
            <pc:docMk/>
            <pc:sldMk cId="450989171" sldId="1501"/>
            <ac:cxnSpMk id="23" creationId="{8C5F183B-DCD2-6BC2-E3BA-48380034B0F6}"/>
          </ac:cxnSpMkLst>
        </pc:cxnChg>
        <pc:cxnChg chg="add mod">
          <ac:chgData name="Pankaj Kumar" userId="a7b0b64156972ab5" providerId="LiveId" clId="{76F84501-E36D-4D4B-A3C6-A77B5B00B2B0}" dt="2026-09-09T06:52:08.579" v="21"/>
          <ac:cxnSpMkLst>
            <pc:docMk/>
            <pc:sldMk cId="450989171" sldId="1501"/>
            <ac:cxnSpMk id="24" creationId="{A252D16C-B454-7313-D815-0C19ED6CFE70}"/>
          </ac:cxnSpMkLst>
        </pc:cxnChg>
        <pc:cxnChg chg="add mod">
          <ac:chgData name="Pankaj Kumar" userId="a7b0b64156972ab5" providerId="LiveId" clId="{76F84501-E36D-4D4B-A3C6-A77B5B00B2B0}" dt="2026-09-09T06:52:24.096" v="22"/>
          <ac:cxnSpMkLst>
            <pc:docMk/>
            <pc:sldMk cId="450989171" sldId="1501"/>
            <ac:cxnSpMk id="25" creationId="{80D865EE-3005-2547-C3A0-29FEF9655A4B}"/>
          </ac:cxnSpMkLst>
        </pc:cxnChg>
        <pc:cxnChg chg="add mod">
          <ac:chgData name="Pankaj Kumar" userId="a7b0b64156972ab5" providerId="LiveId" clId="{76F84501-E36D-4D4B-A3C6-A77B5B00B2B0}" dt="2026-09-09T06:52:33.116" v="23"/>
          <ac:cxnSpMkLst>
            <pc:docMk/>
            <pc:sldMk cId="450989171" sldId="1501"/>
            <ac:cxnSpMk id="26" creationId="{5D99FA1B-B35A-EEB8-1BF1-B83BA723977C}"/>
          </ac:cxnSpMkLst>
        </pc:cxnChg>
        <pc:cxnChg chg="add mod">
          <ac:chgData name="Pankaj Kumar" userId="a7b0b64156972ab5" providerId="LiveId" clId="{76F84501-E36D-4D4B-A3C6-A77B5B00B2B0}" dt="2026-09-09T06:52:42.708" v="24"/>
          <ac:cxnSpMkLst>
            <pc:docMk/>
            <pc:sldMk cId="450989171" sldId="1501"/>
            <ac:cxnSpMk id="27" creationId="{D0159406-E17A-7BBE-560F-6E96C633E540}"/>
          </ac:cxnSpMkLst>
        </pc:cxnChg>
        <pc:cxnChg chg="add mod">
          <ac:chgData name="Pankaj Kumar" userId="a7b0b64156972ab5" providerId="LiveId" clId="{76F84501-E36D-4D4B-A3C6-A77B5B00B2B0}" dt="2026-09-09T07:12:01.029" v="37"/>
          <ac:cxnSpMkLst>
            <pc:docMk/>
            <pc:sldMk cId="450989171" sldId="1501"/>
            <ac:cxnSpMk id="32" creationId="{8AFCCF41-B5DC-587C-FB2E-6C9398C84016}"/>
          </ac:cxnSpMkLst>
        </pc:cxnChg>
        <pc:cxnChg chg="add mod">
          <ac:chgData name="Pankaj Kumar" userId="a7b0b64156972ab5" providerId="LiveId" clId="{76F84501-E36D-4D4B-A3C6-A77B5B00B2B0}" dt="2026-09-09T07:12:10.065" v="38"/>
          <ac:cxnSpMkLst>
            <pc:docMk/>
            <pc:sldMk cId="450989171" sldId="1501"/>
            <ac:cxnSpMk id="33" creationId="{F57B8EA5-040E-46FE-19F9-7D84A62FACF6}"/>
          </ac:cxnSpMkLst>
        </pc:cxnChg>
        <pc:cxnChg chg="add mod">
          <ac:chgData name="Pankaj Kumar" userId="a7b0b64156972ab5" providerId="LiveId" clId="{76F84501-E36D-4D4B-A3C6-A77B5B00B2B0}" dt="2026-09-09T07:12:23.734" v="39"/>
          <ac:cxnSpMkLst>
            <pc:docMk/>
            <pc:sldMk cId="450989171" sldId="1501"/>
            <ac:cxnSpMk id="34" creationId="{E69C92D6-ACE4-981D-7710-78EC94506044}"/>
          </ac:cxnSpMkLst>
        </pc:cxnChg>
        <pc:cxnChg chg="add mod">
          <ac:chgData name="Pankaj Kumar" userId="a7b0b64156972ab5" providerId="LiveId" clId="{76F84501-E36D-4D4B-A3C6-A77B5B00B2B0}" dt="2026-09-09T07:12:36.453" v="40"/>
          <ac:cxnSpMkLst>
            <pc:docMk/>
            <pc:sldMk cId="450989171" sldId="1501"/>
            <ac:cxnSpMk id="35" creationId="{F6479785-345D-E4A5-CC71-53FE2F7DAA8D}"/>
          </ac:cxnSpMkLst>
        </pc:cxnChg>
        <pc:cxnChg chg="add mod">
          <ac:chgData name="Pankaj Kumar" userId="a7b0b64156972ab5" providerId="LiveId" clId="{76F84501-E36D-4D4B-A3C6-A77B5B00B2B0}" dt="2026-09-09T07:13:08.862" v="41"/>
          <ac:cxnSpMkLst>
            <pc:docMk/>
            <pc:sldMk cId="450989171" sldId="1501"/>
            <ac:cxnSpMk id="38" creationId="{FBCA8648-7068-C217-6F2A-755BEDE3110F}"/>
          </ac:cxnSpMkLst>
        </pc:cxnChg>
        <pc:cxnChg chg="add mod">
          <ac:chgData name="Pankaj Kumar" userId="a7b0b64156972ab5" providerId="LiveId" clId="{76F84501-E36D-4D4B-A3C6-A77B5B00B2B0}" dt="2026-09-09T07:13:14.856" v="42"/>
          <ac:cxnSpMkLst>
            <pc:docMk/>
            <pc:sldMk cId="450989171" sldId="1501"/>
            <ac:cxnSpMk id="39" creationId="{07ABE497-318B-C714-D151-DE987378F333}"/>
          </ac:cxnSpMkLst>
        </pc:cxnChg>
        <pc:cxnChg chg="add mod">
          <ac:chgData name="Pankaj Kumar" userId="a7b0b64156972ab5" providerId="LiveId" clId="{76F84501-E36D-4D4B-A3C6-A77B5B00B2B0}" dt="2026-09-09T07:13:20.675" v="43"/>
          <ac:cxnSpMkLst>
            <pc:docMk/>
            <pc:sldMk cId="450989171" sldId="1501"/>
            <ac:cxnSpMk id="40" creationId="{35D7D112-15E6-9718-F0D0-099F64056565}"/>
          </ac:cxnSpMkLst>
        </pc:cxnChg>
        <pc:cxnChg chg="add mod">
          <ac:chgData name="Pankaj Kumar" userId="a7b0b64156972ab5" providerId="LiveId" clId="{76F84501-E36D-4D4B-A3C6-A77B5B00B2B0}" dt="2026-09-09T07:13:30.207" v="44"/>
          <ac:cxnSpMkLst>
            <pc:docMk/>
            <pc:sldMk cId="450989171" sldId="1501"/>
            <ac:cxnSpMk id="41" creationId="{BB608D55-C24A-909F-61D4-B9229975AB76}"/>
          </ac:cxnSpMkLst>
        </pc:cxnChg>
        <pc:cxnChg chg="add mod">
          <ac:chgData name="Pankaj Kumar" userId="a7b0b64156972ab5" providerId="LiveId" clId="{76F84501-E36D-4D4B-A3C6-A77B5B00B2B0}" dt="2026-09-09T07:13:40.732" v="45"/>
          <ac:cxnSpMkLst>
            <pc:docMk/>
            <pc:sldMk cId="450989171" sldId="1501"/>
            <ac:cxnSpMk id="42" creationId="{331E584D-D45A-7426-9A9A-663B598794BE}"/>
          </ac:cxnSpMkLst>
        </pc:cxnChg>
        <pc:cxnChg chg="add mod">
          <ac:chgData name="Pankaj Kumar" userId="a7b0b64156972ab5" providerId="LiveId" clId="{76F84501-E36D-4D4B-A3C6-A77B5B00B2B0}" dt="2026-09-09T07:13:51.278" v="46"/>
          <ac:cxnSpMkLst>
            <pc:docMk/>
            <pc:sldMk cId="450989171" sldId="1501"/>
            <ac:cxnSpMk id="43" creationId="{3630082F-01D8-9E6F-83C8-892B961CA392}"/>
          </ac:cxnSpMkLst>
        </pc:cxnChg>
        <pc:cxnChg chg="add mod">
          <ac:chgData name="Pankaj Kumar" userId="a7b0b64156972ab5" providerId="LiveId" clId="{76F84501-E36D-4D4B-A3C6-A77B5B00B2B0}" dt="2026-09-09T07:13:59.939" v="47"/>
          <ac:cxnSpMkLst>
            <pc:docMk/>
            <pc:sldMk cId="450989171" sldId="1501"/>
            <ac:cxnSpMk id="44" creationId="{11C5BA47-9D28-8409-FE31-2FA8B10F2071}"/>
          </ac:cxnSpMkLst>
        </pc:cxnChg>
        <pc:cxnChg chg="add mod">
          <ac:chgData name="Pankaj Kumar" userId="a7b0b64156972ab5" providerId="LiveId" clId="{76F84501-E36D-4D4B-A3C6-A77B5B00B2B0}" dt="2026-09-09T07:14:13.243" v="48"/>
          <ac:cxnSpMkLst>
            <pc:docMk/>
            <pc:sldMk cId="450989171" sldId="1501"/>
            <ac:cxnSpMk id="45" creationId="{A64D3B6D-0803-3856-AF8A-9F5501B811FB}"/>
          </ac:cxnSpMkLst>
        </pc:cxnChg>
        <pc:cxnChg chg="add mod">
          <ac:chgData name="Pankaj Kumar" userId="a7b0b64156972ab5" providerId="LiveId" clId="{76F84501-E36D-4D4B-A3C6-A77B5B00B2B0}" dt="2026-09-09T07:14:24.019" v="49"/>
          <ac:cxnSpMkLst>
            <pc:docMk/>
            <pc:sldMk cId="450989171" sldId="1501"/>
            <ac:cxnSpMk id="46" creationId="{22D142CC-850D-C8EF-15A7-99BF8C0E85CA}"/>
          </ac:cxnSpMkLst>
        </pc:cxnChg>
      </pc:sldChg>
      <pc:sldChg chg="addSp modSp">
        <pc:chgData name="Pankaj Kumar" userId="a7b0b64156972ab5" providerId="LiveId" clId="{76F84501-E36D-4D4B-A3C6-A77B5B00B2B0}" dt="2026-09-09T07:01:01.920" v="36"/>
        <pc:sldMkLst>
          <pc:docMk/>
          <pc:sldMk cId="3859445596" sldId="1502"/>
        </pc:sldMkLst>
        <pc:graphicFrameChg chg="add mod">
          <ac:chgData name="Pankaj Kumar" userId="a7b0b64156972ab5" providerId="LiveId" clId="{76F84501-E36D-4D4B-A3C6-A77B5B00B2B0}" dt="2026-09-09T06:58:45.441" v="25"/>
          <ac:graphicFrameMkLst>
            <pc:docMk/>
            <pc:sldMk cId="3859445596" sldId="1502"/>
            <ac:graphicFrameMk id="10" creationId="{2705B918-6A6E-E3B0-0E93-E063AF365999}"/>
          </ac:graphicFrameMkLst>
        </pc:graphicFrameChg>
        <pc:graphicFrameChg chg="add mod">
          <ac:chgData name="Pankaj Kumar" userId="a7b0b64156972ab5" providerId="LiveId" clId="{76F84501-E36D-4D4B-A3C6-A77B5B00B2B0}" dt="2026-09-09T06:59:31.752" v="26"/>
          <ac:graphicFrameMkLst>
            <pc:docMk/>
            <pc:sldMk cId="3859445596" sldId="1502"/>
            <ac:graphicFrameMk id="13" creationId="{3229DD35-D111-6059-C759-AF518D835EC9}"/>
          </ac:graphicFrameMkLst>
        </pc:graphicFrameChg>
        <pc:cxnChg chg="add mod">
          <ac:chgData name="Pankaj Kumar" userId="a7b0b64156972ab5" providerId="LiveId" clId="{76F84501-E36D-4D4B-A3C6-A77B5B00B2B0}" dt="2026-09-09T06:59:36.580" v="27"/>
          <ac:cxnSpMkLst>
            <pc:docMk/>
            <pc:sldMk cId="3859445596" sldId="1502"/>
            <ac:cxnSpMk id="14" creationId="{900BD907-BAD8-E551-ADC9-B9FA15B362F7}"/>
          </ac:cxnSpMkLst>
        </pc:cxnChg>
        <pc:cxnChg chg="add mod">
          <ac:chgData name="Pankaj Kumar" userId="a7b0b64156972ab5" providerId="LiveId" clId="{76F84501-E36D-4D4B-A3C6-A77B5B00B2B0}" dt="2026-09-09T06:59:43.817" v="28"/>
          <ac:cxnSpMkLst>
            <pc:docMk/>
            <pc:sldMk cId="3859445596" sldId="1502"/>
            <ac:cxnSpMk id="15" creationId="{CA23E9F4-DA39-1BF4-5C91-1F83799B6588}"/>
          </ac:cxnSpMkLst>
        </pc:cxnChg>
        <pc:cxnChg chg="add mod">
          <ac:chgData name="Pankaj Kumar" userId="a7b0b64156972ab5" providerId="LiveId" clId="{76F84501-E36D-4D4B-A3C6-A77B5B00B2B0}" dt="2026-09-09T06:59:52.163" v="29"/>
          <ac:cxnSpMkLst>
            <pc:docMk/>
            <pc:sldMk cId="3859445596" sldId="1502"/>
            <ac:cxnSpMk id="16" creationId="{818A3174-F959-EADF-C41B-3AAED37414DF}"/>
          </ac:cxnSpMkLst>
        </pc:cxnChg>
        <pc:cxnChg chg="add mod">
          <ac:chgData name="Pankaj Kumar" userId="a7b0b64156972ab5" providerId="LiveId" clId="{76F84501-E36D-4D4B-A3C6-A77B5B00B2B0}" dt="2026-09-09T07:00:00.048" v="30"/>
          <ac:cxnSpMkLst>
            <pc:docMk/>
            <pc:sldMk cId="3859445596" sldId="1502"/>
            <ac:cxnSpMk id="17" creationId="{77F3A336-40E7-C402-A2FF-3BC859CD4D98}"/>
          </ac:cxnSpMkLst>
        </pc:cxnChg>
        <pc:cxnChg chg="add mod">
          <ac:chgData name="Pankaj Kumar" userId="a7b0b64156972ab5" providerId="LiveId" clId="{76F84501-E36D-4D4B-A3C6-A77B5B00B2B0}" dt="2026-09-09T07:00:08.550" v="31"/>
          <ac:cxnSpMkLst>
            <pc:docMk/>
            <pc:sldMk cId="3859445596" sldId="1502"/>
            <ac:cxnSpMk id="18" creationId="{D210B831-9976-EF9A-BD54-ADAD4A2C1273}"/>
          </ac:cxnSpMkLst>
        </pc:cxnChg>
        <pc:cxnChg chg="add mod">
          <ac:chgData name="Pankaj Kumar" userId="a7b0b64156972ab5" providerId="LiveId" clId="{76F84501-E36D-4D4B-A3C6-A77B5B00B2B0}" dt="2026-09-09T07:00:15.269" v="32"/>
          <ac:cxnSpMkLst>
            <pc:docMk/>
            <pc:sldMk cId="3859445596" sldId="1502"/>
            <ac:cxnSpMk id="19" creationId="{9EA24413-157C-7F59-E22B-CA40835C68F3}"/>
          </ac:cxnSpMkLst>
        </pc:cxnChg>
        <pc:cxnChg chg="add mod">
          <ac:chgData name="Pankaj Kumar" userId="a7b0b64156972ab5" providerId="LiveId" clId="{76F84501-E36D-4D4B-A3C6-A77B5B00B2B0}" dt="2026-09-09T07:00:22.778" v="33"/>
          <ac:cxnSpMkLst>
            <pc:docMk/>
            <pc:sldMk cId="3859445596" sldId="1502"/>
            <ac:cxnSpMk id="20" creationId="{CCD0C471-C429-9253-610C-FB3D8567B622}"/>
          </ac:cxnSpMkLst>
        </pc:cxnChg>
        <pc:cxnChg chg="add mod">
          <ac:chgData name="Pankaj Kumar" userId="a7b0b64156972ab5" providerId="LiveId" clId="{76F84501-E36D-4D4B-A3C6-A77B5B00B2B0}" dt="2026-09-09T07:00:47.084" v="34"/>
          <ac:cxnSpMkLst>
            <pc:docMk/>
            <pc:sldMk cId="3859445596" sldId="1502"/>
            <ac:cxnSpMk id="23" creationId="{0C337D06-CA47-F648-06D5-359BC7F363F2}"/>
          </ac:cxnSpMkLst>
        </pc:cxnChg>
        <pc:cxnChg chg="add mod">
          <ac:chgData name="Pankaj Kumar" userId="a7b0b64156972ab5" providerId="LiveId" clId="{76F84501-E36D-4D4B-A3C6-A77B5B00B2B0}" dt="2026-09-09T07:00:54.953" v="35"/>
          <ac:cxnSpMkLst>
            <pc:docMk/>
            <pc:sldMk cId="3859445596" sldId="1502"/>
            <ac:cxnSpMk id="24" creationId="{BC5440A3-520C-393D-419A-30FEA1FCB6F0}"/>
          </ac:cxnSpMkLst>
        </pc:cxnChg>
        <pc:cxnChg chg="add mod">
          <ac:chgData name="Pankaj Kumar" userId="a7b0b64156972ab5" providerId="LiveId" clId="{76F84501-E36D-4D4B-A3C6-A77B5B00B2B0}" dt="2026-09-09T07:01:01.920" v="36"/>
          <ac:cxnSpMkLst>
            <pc:docMk/>
            <pc:sldMk cId="3859445596" sldId="1502"/>
            <ac:cxnSpMk id="25" creationId="{F89F4EE9-13DF-FAD2-46DA-337A2F65B167}"/>
          </ac:cxnSpMkLst>
        </pc:cxnChg>
      </pc:sldChg>
      <pc:sldChg chg="addSp modSp">
        <pc:chgData name="Pankaj Kumar" userId="a7b0b64156972ab5" providerId="LiveId" clId="{76F84501-E36D-4D4B-A3C6-A77B5B00B2B0}" dt="2026-09-09T07:30:35.995" v="61"/>
        <pc:sldMkLst>
          <pc:docMk/>
          <pc:sldMk cId="67618412" sldId="1504"/>
        </pc:sldMkLst>
        <pc:graphicFrameChg chg="add mod">
          <ac:chgData name="Pankaj Kumar" userId="a7b0b64156972ab5" providerId="LiveId" clId="{76F84501-E36D-4D4B-A3C6-A77B5B00B2B0}" dt="2026-09-09T07:26:50.390" v="50"/>
          <ac:graphicFrameMkLst>
            <pc:docMk/>
            <pc:sldMk cId="67618412" sldId="1504"/>
            <ac:graphicFrameMk id="6" creationId="{36361C0E-A970-40BD-816A-ED0012B899F8}"/>
          </ac:graphicFrameMkLst>
        </pc:graphicFrameChg>
        <pc:cxnChg chg="add mod">
          <ac:chgData name="Pankaj Kumar" userId="a7b0b64156972ab5" providerId="LiveId" clId="{76F84501-E36D-4D4B-A3C6-A77B5B00B2B0}" dt="2026-09-09T07:28:36.220" v="51"/>
          <ac:cxnSpMkLst>
            <pc:docMk/>
            <pc:sldMk cId="67618412" sldId="1504"/>
            <ac:cxnSpMk id="11" creationId="{A2392484-15E6-4EE4-E529-7D6062AF0DE4}"/>
          </ac:cxnSpMkLst>
        </pc:cxnChg>
        <pc:cxnChg chg="add mod">
          <ac:chgData name="Pankaj Kumar" userId="a7b0b64156972ab5" providerId="LiveId" clId="{76F84501-E36D-4D4B-A3C6-A77B5B00B2B0}" dt="2026-09-09T07:28:42.018" v="52"/>
          <ac:cxnSpMkLst>
            <pc:docMk/>
            <pc:sldMk cId="67618412" sldId="1504"/>
            <ac:cxnSpMk id="12" creationId="{4BAF8556-247A-7150-978C-3E01B6551F2A}"/>
          </ac:cxnSpMkLst>
        </pc:cxnChg>
        <pc:cxnChg chg="add mod">
          <ac:chgData name="Pankaj Kumar" userId="a7b0b64156972ab5" providerId="LiveId" clId="{76F84501-E36D-4D4B-A3C6-A77B5B00B2B0}" dt="2026-09-09T07:28:49.025" v="53"/>
          <ac:cxnSpMkLst>
            <pc:docMk/>
            <pc:sldMk cId="67618412" sldId="1504"/>
            <ac:cxnSpMk id="13" creationId="{68F49B2B-6D22-7F8E-1E1F-354EC7B2F874}"/>
          </ac:cxnSpMkLst>
        </pc:cxnChg>
        <pc:cxnChg chg="add mod">
          <ac:chgData name="Pankaj Kumar" userId="a7b0b64156972ab5" providerId="LiveId" clId="{76F84501-E36D-4D4B-A3C6-A77B5B00B2B0}" dt="2026-09-09T07:29:37.837" v="54"/>
          <ac:cxnSpMkLst>
            <pc:docMk/>
            <pc:sldMk cId="67618412" sldId="1504"/>
            <ac:cxnSpMk id="16" creationId="{433F6DA8-4933-0FEF-592D-223AAB814132}"/>
          </ac:cxnSpMkLst>
        </pc:cxnChg>
        <pc:cxnChg chg="add mod">
          <ac:chgData name="Pankaj Kumar" userId="a7b0b64156972ab5" providerId="LiveId" clId="{76F84501-E36D-4D4B-A3C6-A77B5B00B2B0}" dt="2026-09-09T07:29:42.184" v="55"/>
          <ac:cxnSpMkLst>
            <pc:docMk/>
            <pc:sldMk cId="67618412" sldId="1504"/>
            <ac:cxnSpMk id="17" creationId="{4B3A55BC-2D3B-F0E4-E991-440F21319BB0}"/>
          </ac:cxnSpMkLst>
        </pc:cxnChg>
        <pc:cxnChg chg="add mod">
          <ac:chgData name="Pankaj Kumar" userId="a7b0b64156972ab5" providerId="LiveId" clId="{76F84501-E36D-4D4B-A3C6-A77B5B00B2B0}" dt="2026-09-09T07:29:50.947" v="56"/>
          <ac:cxnSpMkLst>
            <pc:docMk/>
            <pc:sldMk cId="67618412" sldId="1504"/>
            <ac:cxnSpMk id="18" creationId="{FF99E1F2-C13D-AEEE-26E8-E6DE52CB76C3}"/>
          </ac:cxnSpMkLst>
        </pc:cxnChg>
        <pc:cxnChg chg="add mod">
          <ac:chgData name="Pankaj Kumar" userId="a7b0b64156972ab5" providerId="LiveId" clId="{76F84501-E36D-4D4B-A3C6-A77B5B00B2B0}" dt="2026-09-09T07:29:59.498" v="57"/>
          <ac:cxnSpMkLst>
            <pc:docMk/>
            <pc:sldMk cId="67618412" sldId="1504"/>
            <ac:cxnSpMk id="19" creationId="{6E8E0C41-DA46-087F-D379-76FFD5D0B410}"/>
          </ac:cxnSpMkLst>
        </pc:cxnChg>
        <pc:cxnChg chg="add mod">
          <ac:chgData name="Pankaj Kumar" userId="a7b0b64156972ab5" providerId="LiveId" clId="{76F84501-E36D-4D4B-A3C6-A77B5B00B2B0}" dt="2026-09-09T07:30:10.712" v="58"/>
          <ac:cxnSpMkLst>
            <pc:docMk/>
            <pc:sldMk cId="67618412" sldId="1504"/>
            <ac:cxnSpMk id="20" creationId="{904557B6-9CD3-57B6-8183-766A9BFD2342}"/>
          </ac:cxnSpMkLst>
        </pc:cxnChg>
        <pc:cxnChg chg="add mod">
          <ac:chgData name="Pankaj Kumar" userId="a7b0b64156972ab5" providerId="LiveId" clId="{76F84501-E36D-4D4B-A3C6-A77B5B00B2B0}" dt="2026-09-09T07:30:18.694" v="59"/>
          <ac:cxnSpMkLst>
            <pc:docMk/>
            <pc:sldMk cId="67618412" sldId="1504"/>
            <ac:cxnSpMk id="21" creationId="{FD8FE0E8-9FE5-3352-0B11-745D395216E3}"/>
          </ac:cxnSpMkLst>
        </pc:cxnChg>
        <pc:cxnChg chg="add mod">
          <ac:chgData name="Pankaj Kumar" userId="a7b0b64156972ab5" providerId="LiveId" clId="{76F84501-E36D-4D4B-A3C6-A77B5B00B2B0}" dt="2026-09-09T07:30:25.590" v="60"/>
          <ac:cxnSpMkLst>
            <pc:docMk/>
            <pc:sldMk cId="67618412" sldId="1504"/>
            <ac:cxnSpMk id="22" creationId="{B3C2E13C-AE7A-4BBA-8A20-6043324EA330}"/>
          </ac:cxnSpMkLst>
        </pc:cxnChg>
        <pc:cxnChg chg="add mod">
          <ac:chgData name="Pankaj Kumar" userId="a7b0b64156972ab5" providerId="LiveId" clId="{76F84501-E36D-4D4B-A3C6-A77B5B00B2B0}" dt="2026-09-09T07:30:35.995" v="61"/>
          <ac:cxnSpMkLst>
            <pc:docMk/>
            <pc:sldMk cId="67618412" sldId="1504"/>
            <ac:cxnSpMk id="23" creationId="{B8299C53-0F0C-D2EC-AAC6-B332B6885A31}"/>
          </ac:cxnSpMkLst>
        </pc:cxnChg>
      </pc:sldChg>
      <pc:sldChg chg="addSp modSp">
        <pc:chgData name="Pankaj Kumar" userId="a7b0b64156972ab5" providerId="LiveId" clId="{76F84501-E36D-4D4B-A3C6-A77B5B00B2B0}" dt="2026-09-10T06:19:44.130" v="81"/>
        <pc:sldMkLst>
          <pc:docMk/>
          <pc:sldMk cId="1242088901" sldId="1505"/>
        </pc:sldMkLst>
        <pc:spChg chg="mod">
          <ac:chgData name="Pankaj Kumar" userId="a7b0b64156972ab5" providerId="LiveId" clId="{76F84501-E36D-4D4B-A3C6-A77B5B00B2B0}" dt="2026-09-10T06:19:16.272" v="80"/>
          <ac:spMkLst>
            <pc:docMk/>
            <pc:sldMk cId="1242088901" sldId="1505"/>
            <ac:spMk id="2" creationId="{9C2AD734-0564-7A04-0350-85DC4B7127D2}"/>
          </ac:spMkLst>
        </pc:spChg>
        <pc:spChg chg="add mod">
          <ac:chgData name="Pankaj Kumar" userId="a7b0b64156972ab5" providerId="LiveId" clId="{76F84501-E36D-4D4B-A3C6-A77B5B00B2B0}" dt="2026-09-10T06:08:51.011" v="69"/>
          <ac:spMkLst>
            <pc:docMk/>
            <pc:sldMk cId="1242088901" sldId="1505"/>
            <ac:spMk id="26" creationId="{48BB8462-9A0F-3181-AC55-7F14AF9597CE}"/>
          </ac:spMkLst>
        </pc:spChg>
        <pc:spChg chg="add mod">
          <ac:chgData name="Pankaj Kumar" userId="a7b0b64156972ab5" providerId="LiveId" clId="{76F84501-E36D-4D4B-A3C6-A77B5B00B2B0}" dt="2026-09-10T06:09:26.693" v="70" actId="767"/>
          <ac:spMkLst>
            <pc:docMk/>
            <pc:sldMk cId="1242088901" sldId="1505"/>
            <ac:spMk id="27" creationId="{3C62492E-3B2F-555D-C1F4-3754B0A0D9E7}"/>
          </ac:spMkLst>
        </pc:spChg>
        <pc:spChg chg="add mod">
          <ac:chgData name="Pankaj Kumar" userId="a7b0b64156972ab5" providerId="LiveId" clId="{76F84501-E36D-4D4B-A3C6-A77B5B00B2B0}" dt="2026-09-10T06:11:34.910" v="71" actId="767"/>
          <ac:spMkLst>
            <pc:docMk/>
            <pc:sldMk cId="1242088901" sldId="1505"/>
            <ac:spMk id="34" creationId="{E3740116-58AD-4A38-75DD-F63347434884}"/>
          </ac:spMkLst>
        </pc:spChg>
        <pc:spChg chg="add mod">
          <ac:chgData name="Pankaj Kumar" userId="a7b0b64156972ab5" providerId="LiveId" clId="{76F84501-E36D-4D4B-A3C6-A77B5B00B2B0}" dt="2026-09-10T06:15:53.423" v="73"/>
          <ac:spMkLst>
            <pc:docMk/>
            <pc:sldMk cId="1242088901" sldId="1505"/>
            <ac:spMk id="45" creationId="{EDD47E69-306F-616F-C804-207E7424193B}"/>
          </ac:spMkLst>
        </pc:spChg>
        <pc:spChg chg="add mod">
          <ac:chgData name="Pankaj Kumar" userId="a7b0b64156972ab5" providerId="LiveId" clId="{76F84501-E36D-4D4B-A3C6-A77B5B00B2B0}" dt="2026-09-10T06:17:14.798" v="76"/>
          <ac:spMkLst>
            <pc:docMk/>
            <pc:sldMk cId="1242088901" sldId="1505"/>
            <ac:spMk id="46" creationId="{F93CD386-C469-099F-F30C-BBD37953CCD7}"/>
          </ac:spMkLst>
        </pc:spChg>
        <pc:spChg chg="mod">
          <ac:chgData name="Pankaj Kumar" userId="a7b0b64156972ab5" providerId="LiveId" clId="{76F84501-E36D-4D4B-A3C6-A77B5B00B2B0}" dt="2026-09-10T06:17:51.035" v="77"/>
          <ac:spMkLst>
            <pc:docMk/>
            <pc:sldMk cId="1242088901" sldId="1505"/>
            <ac:spMk id="48" creationId="{3E4185D1-237F-8C21-CA9D-AF2762D0A487}"/>
          </ac:spMkLst>
        </pc:spChg>
        <pc:spChg chg="mod">
          <ac:chgData name="Pankaj Kumar" userId="a7b0b64156972ab5" providerId="LiveId" clId="{76F84501-E36D-4D4B-A3C6-A77B5B00B2B0}" dt="2026-09-10T06:18:56.766" v="79"/>
          <ac:spMkLst>
            <pc:docMk/>
            <pc:sldMk cId="1242088901" sldId="1505"/>
            <ac:spMk id="50" creationId="{22F9F786-17F7-73A8-A8F2-D365C226A83F}"/>
          </ac:spMkLst>
        </pc:spChg>
        <pc:spChg chg="mod">
          <ac:chgData name="Pankaj Kumar" userId="a7b0b64156972ab5" providerId="LiveId" clId="{76F84501-E36D-4D4B-A3C6-A77B5B00B2B0}" dt="2026-09-10T06:19:44.130" v="81"/>
          <ac:spMkLst>
            <pc:docMk/>
            <pc:sldMk cId="1242088901" sldId="1505"/>
            <ac:spMk id="52" creationId="{8FE48DE7-8DAD-F0DC-8B9F-1BE4EF2B9BE5}"/>
          </ac:spMkLst>
        </pc:spChg>
        <pc:cxnChg chg="add mod">
          <ac:chgData name="Pankaj Kumar" userId="a7b0b64156972ab5" providerId="LiveId" clId="{76F84501-E36D-4D4B-A3C6-A77B5B00B2B0}" dt="2026-09-10T06:03:24.697" v="62"/>
          <ac:cxnSpMkLst>
            <pc:docMk/>
            <pc:sldMk cId="1242088901" sldId="1505"/>
            <ac:cxnSpMk id="12" creationId="{CB2F2817-C50D-9932-5A7B-A1C184EBB4DB}"/>
          </ac:cxnSpMkLst>
        </pc:cxnChg>
        <pc:cxnChg chg="add mod">
          <ac:chgData name="Pankaj Kumar" userId="a7b0b64156972ab5" providerId="LiveId" clId="{76F84501-E36D-4D4B-A3C6-A77B5B00B2B0}" dt="2026-09-10T06:03:30.017" v="63"/>
          <ac:cxnSpMkLst>
            <pc:docMk/>
            <pc:sldMk cId="1242088901" sldId="1505"/>
            <ac:cxnSpMk id="13" creationId="{D8395724-5A95-68F3-9E69-83AFD41FE4A4}"/>
          </ac:cxnSpMkLst>
        </pc:cxnChg>
        <pc:cxnChg chg="add mod">
          <ac:chgData name="Pankaj Kumar" userId="a7b0b64156972ab5" providerId="LiveId" clId="{76F84501-E36D-4D4B-A3C6-A77B5B00B2B0}" dt="2026-09-10T06:04:18.455" v="64"/>
          <ac:cxnSpMkLst>
            <pc:docMk/>
            <pc:sldMk cId="1242088901" sldId="1505"/>
            <ac:cxnSpMk id="16" creationId="{46F84854-7BD0-5484-2B18-433A59D0D37F}"/>
          </ac:cxnSpMkLst>
        </pc:cxnChg>
        <pc:cxnChg chg="add mod">
          <ac:chgData name="Pankaj Kumar" userId="a7b0b64156972ab5" providerId="LiveId" clId="{76F84501-E36D-4D4B-A3C6-A77B5B00B2B0}" dt="2026-09-10T06:04:28.167" v="65"/>
          <ac:cxnSpMkLst>
            <pc:docMk/>
            <pc:sldMk cId="1242088901" sldId="1505"/>
            <ac:cxnSpMk id="17" creationId="{685BF818-C45A-FD56-703B-35EF2B902C35}"/>
          </ac:cxnSpMkLst>
        </pc:cxnChg>
        <pc:cxnChg chg="add mod">
          <ac:chgData name="Pankaj Kumar" userId="a7b0b64156972ab5" providerId="LiveId" clId="{76F84501-E36D-4D4B-A3C6-A77B5B00B2B0}" dt="2026-09-10T06:04:35.590" v="66"/>
          <ac:cxnSpMkLst>
            <pc:docMk/>
            <pc:sldMk cId="1242088901" sldId="1505"/>
            <ac:cxnSpMk id="18" creationId="{EFB2571C-D77C-EFEE-1635-257E00303B32}"/>
          </ac:cxnSpMkLst>
        </pc:cxnChg>
        <pc:cxnChg chg="add mod">
          <ac:chgData name="Pankaj Kumar" userId="a7b0b64156972ab5" providerId="LiveId" clId="{76F84501-E36D-4D4B-A3C6-A77B5B00B2B0}" dt="2026-09-10T06:04:42.041" v="67"/>
          <ac:cxnSpMkLst>
            <pc:docMk/>
            <pc:sldMk cId="1242088901" sldId="1505"/>
            <ac:cxnSpMk id="19" creationId="{4447D99C-3A11-F6B5-9252-011D1861941B}"/>
          </ac:cxnSpMkLst>
        </pc:cxnChg>
      </pc:sldChg>
      <pc:sldChg chg="addSp modSp">
        <pc:chgData name="Pankaj Kumar" userId="a7b0b64156972ab5" providerId="LiveId" clId="{76F84501-E36D-4D4B-A3C6-A77B5B00B2B0}" dt="2026-09-10T06:29:52.395" v="86"/>
        <pc:sldMkLst>
          <pc:docMk/>
          <pc:sldMk cId="191787646" sldId="1506"/>
        </pc:sldMkLst>
        <pc:spChg chg="add mod">
          <ac:chgData name="Pankaj Kumar" userId="a7b0b64156972ab5" providerId="LiveId" clId="{76F84501-E36D-4D4B-A3C6-A77B5B00B2B0}" dt="2026-09-10T06:24:12.812" v="83"/>
          <ac:spMkLst>
            <pc:docMk/>
            <pc:sldMk cId="191787646" sldId="1506"/>
            <ac:spMk id="17" creationId="{185DB574-3BA7-30C0-3314-FD2BBC2E34BC}"/>
          </ac:spMkLst>
        </pc:spChg>
        <pc:spChg chg="add mod">
          <ac:chgData name="Pankaj Kumar" userId="a7b0b64156972ab5" providerId="LiveId" clId="{76F84501-E36D-4D4B-A3C6-A77B5B00B2B0}" dt="2026-09-10T06:23:15.733" v="82"/>
          <ac:spMkLst>
            <pc:docMk/>
            <pc:sldMk cId="191787646" sldId="1506"/>
            <ac:spMk id="19" creationId="{676E12E5-8AE5-3932-42E9-77C3584BC2D4}"/>
          </ac:spMkLst>
        </pc:spChg>
        <pc:spChg chg="add mod">
          <ac:chgData name="Pankaj Kumar" userId="a7b0b64156972ab5" providerId="LiveId" clId="{76F84501-E36D-4D4B-A3C6-A77B5B00B2B0}" dt="2026-09-10T06:23:15.733" v="82"/>
          <ac:spMkLst>
            <pc:docMk/>
            <pc:sldMk cId="191787646" sldId="1506"/>
            <ac:spMk id="20" creationId="{F5F2CFB2-BB6E-398A-BC77-526E387BE936}"/>
          </ac:spMkLst>
        </pc:spChg>
        <pc:spChg chg="add mod">
          <ac:chgData name="Pankaj Kumar" userId="a7b0b64156972ab5" providerId="LiveId" clId="{76F84501-E36D-4D4B-A3C6-A77B5B00B2B0}" dt="2026-09-10T06:23:15.733" v="82"/>
          <ac:spMkLst>
            <pc:docMk/>
            <pc:sldMk cId="191787646" sldId="1506"/>
            <ac:spMk id="21" creationId="{02D9B0E9-3AB7-F673-1A5A-E32B2B2C4EA4}"/>
          </ac:spMkLst>
        </pc:spChg>
        <pc:spChg chg="add mod">
          <ac:chgData name="Pankaj Kumar" userId="a7b0b64156972ab5" providerId="LiveId" clId="{76F84501-E36D-4D4B-A3C6-A77B5B00B2B0}" dt="2026-09-10T06:23:15.733" v="82"/>
          <ac:spMkLst>
            <pc:docMk/>
            <pc:sldMk cId="191787646" sldId="1506"/>
            <ac:spMk id="24" creationId="{114BFC3A-B79E-BC27-2368-E1C7560A5B12}"/>
          </ac:spMkLst>
        </pc:spChg>
        <pc:spChg chg="add mod">
          <ac:chgData name="Pankaj Kumar" userId="a7b0b64156972ab5" providerId="LiveId" clId="{76F84501-E36D-4D4B-A3C6-A77B5B00B2B0}" dt="2026-09-10T06:23:15.733" v="82"/>
          <ac:spMkLst>
            <pc:docMk/>
            <pc:sldMk cId="191787646" sldId="1506"/>
            <ac:spMk id="25" creationId="{F377B319-C444-E80E-0D49-B230C097CFD3}"/>
          </ac:spMkLst>
        </pc:spChg>
        <pc:spChg chg="add mod">
          <ac:chgData name="Pankaj Kumar" userId="a7b0b64156972ab5" providerId="LiveId" clId="{76F84501-E36D-4D4B-A3C6-A77B5B00B2B0}" dt="2026-09-10T06:23:15.733" v="82"/>
          <ac:spMkLst>
            <pc:docMk/>
            <pc:sldMk cId="191787646" sldId="1506"/>
            <ac:spMk id="26" creationId="{BC3DD813-7348-5BE9-1449-C94A8A819DFF}"/>
          </ac:spMkLst>
        </pc:spChg>
        <pc:spChg chg="add mod">
          <ac:chgData name="Pankaj Kumar" userId="a7b0b64156972ab5" providerId="LiveId" clId="{76F84501-E36D-4D4B-A3C6-A77B5B00B2B0}" dt="2026-09-10T06:23:15.733" v="82"/>
          <ac:spMkLst>
            <pc:docMk/>
            <pc:sldMk cId="191787646" sldId="1506"/>
            <ac:spMk id="28" creationId="{78427EE5-FC9B-63E3-8372-3E78D26128E2}"/>
          </ac:spMkLst>
        </pc:spChg>
        <pc:spChg chg="add mod">
          <ac:chgData name="Pankaj Kumar" userId="a7b0b64156972ab5" providerId="LiveId" clId="{76F84501-E36D-4D4B-A3C6-A77B5B00B2B0}" dt="2026-09-10T06:23:15.733" v="82"/>
          <ac:spMkLst>
            <pc:docMk/>
            <pc:sldMk cId="191787646" sldId="1506"/>
            <ac:spMk id="29" creationId="{1AA362FC-1F3F-3501-2CD1-7EA6F9F5B8BC}"/>
          </ac:spMkLst>
        </pc:spChg>
        <pc:spChg chg="mod">
          <ac:chgData name="Pankaj Kumar" userId="a7b0b64156972ab5" providerId="LiveId" clId="{76F84501-E36D-4D4B-A3C6-A77B5B00B2B0}" dt="2026-09-10T06:29:10.998" v="84"/>
          <ac:spMkLst>
            <pc:docMk/>
            <pc:sldMk cId="191787646" sldId="1506"/>
            <ac:spMk id="30" creationId="{D0AAF58D-DBC7-A0B5-CBE4-E6D5A19F1D60}"/>
          </ac:spMkLst>
        </pc:spChg>
        <pc:spChg chg="mod">
          <ac:chgData name="Pankaj Kumar" userId="a7b0b64156972ab5" providerId="LiveId" clId="{76F84501-E36D-4D4B-A3C6-A77B5B00B2B0}" dt="2026-09-10T06:29:33.511" v="85"/>
          <ac:spMkLst>
            <pc:docMk/>
            <pc:sldMk cId="191787646" sldId="1506"/>
            <ac:spMk id="31" creationId="{AFF23808-8946-11BA-039F-D3D521DAB259}"/>
          </ac:spMkLst>
        </pc:spChg>
        <pc:spChg chg="add mod">
          <ac:chgData name="Pankaj Kumar" userId="a7b0b64156972ab5" providerId="LiveId" clId="{76F84501-E36D-4D4B-A3C6-A77B5B00B2B0}" dt="2026-09-10T06:29:52.395" v="86"/>
          <ac:spMkLst>
            <pc:docMk/>
            <pc:sldMk cId="191787646" sldId="1506"/>
            <ac:spMk id="32" creationId="{2D6BAD78-D70A-96DB-7C03-6EC57BEF795D}"/>
          </ac:spMkLst>
        </pc:spChg>
      </pc:sldChg>
      <pc:sldChg chg="addSp modSp">
        <pc:chgData name="Pankaj Kumar" userId="a7b0b64156972ab5" providerId="LiveId" clId="{76F84501-E36D-4D4B-A3C6-A77B5B00B2B0}" dt="2026-09-10T06:38:04.205" v="94"/>
        <pc:sldMkLst>
          <pc:docMk/>
          <pc:sldMk cId="1197099112" sldId="1507"/>
        </pc:sldMkLst>
        <pc:spChg chg="add mod">
          <ac:chgData name="Pankaj Kumar" userId="a7b0b64156972ab5" providerId="LiveId" clId="{76F84501-E36D-4D4B-A3C6-A77B5B00B2B0}" dt="2026-09-10T06:32:44.511" v="87"/>
          <ac:spMkLst>
            <pc:docMk/>
            <pc:sldMk cId="1197099112" sldId="1507"/>
            <ac:spMk id="2" creationId="{48BDF410-B2BB-B9F3-E2B8-5AEA2FE6002E}"/>
          </ac:spMkLst>
        </pc:spChg>
        <pc:spChg chg="add mod">
          <ac:chgData name="Pankaj Kumar" userId="a7b0b64156972ab5" providerId="LiveId" clId="{76F84501-E36D-4D4B-A3C6-A77B5B00B2B0}" dt="2026-09-10T06:32:59.965" v="88"/>
          <ac:spMkLst>
            <pc:docMk/>
            <pc:sldMk cId="1197099112" sldId="1507"/>
            <ac:spMk id="17" creationId="{0B7A446B-8582-4029-1C4E-4A63B97C276B}"/>
          </ac:spMkLst>
        </pc:spChg>
        <pc:spChg chg="add mod">
          <ac:chgData name="Pankaj Kumar" userId="a7b0b64156972ab5" providerId="LiveId" clId="{76F84501-E36D-4D4B-A3C6-A77B5B00B2B0}" dt="2026-09-10T06:32:44.511" v="87"/>
          <ac:spMkLst>
            <pc:docMk/>
            <pc:sldMk cId="1197099112" sldId="1507"/>
            <ac:spMk id="19" creationId="{2B9A147D-F34B-5C92-8038-2C689D27A12F}"/>
          </ac:spMkLst>
        </pc:spChg>
        <pc:spChg chg="add mod">
          <ac:chgData name="Pankaj Kumar" userId="a7b0b64156972ab5" providerId="LiveId" clId="{76F84501-E36D-4D4B-A3C6-A77B5B00B2B0}" dt="2026-09-10T06:32:44.511" v="87"/>
          <ac:spMkLst>
            <pc:docMk/>
            <pc:sldMk cId="1197099112" sldId="1507"/>
            <ac:spMk id="22" creationId="{177679F0-E4B6-8220-FDF4-2488C6F32BCD}"/>
          </ac:spMkLst>
        </pc:spChg>
        <pc:spChg chg="add mod">
          <ac:chgData name="Pankaj Kumar" userId="a7b0b64156972ab5" providerId="LiveId" clId="{76F84501-E36D-4D4B-A3C6-A77B5B00B2B0}" dt="2026-09-10T06:32:44.511" v="87"/>
          <ac:spMkLst>
            <pc:docMk/>
            <pc:sldMk cId="1197099112" sldId="1507"/>
            <ac:spMk id="23" creationId="{7F953553-F1BC-3D79-BC1B-BBDB31DC8910}"/>
          </ac:spMkLst>
        </pc:spChg>
        <pc:spChg chg="add mod">
          <ac:chgData name="Pankaj Kumar" userId="a7b0b64156972ab5" providerId="LiveId" clId="{76F84501-E36D-4D4B-A3C6-A77B5B00B2B0}" dt="2026-09-10T06:32:44.511" v="87"/>
          <ac:spMkLst>
            <pc:docMk/>
            <pc:sldMk cId="1197099112" sldId="1507"/>
            <ac:spMk id="25" creationId="{708C8721-CE65-B8BF-0CFE-9CDCF23456B4}"/>
          </ac:spMkLst>
        </pc:spChg>
        <pc:spChg chg="add mod">
          <ac:chgData name="Pankaj Kumar" userId="a7b0b64156972ab5" providerId="LiveId" clId="{76F84501-E36D-4D4B-A3C6-A77B5B00B2B0}" dt="2026-09-10T06:32:44.511" v="87"/>
          <ac:spMkLst>
            <pc:docMk/>
            <pc:sldMk cId="1197099112" sldId="1507"/>
            <ac:spMk id="26" creationId="{8399934E-9441-D7BA-315A-9C42FFAA6931}"/>
          </ac:spMkLst>
        </pc:spChg>
        <pc:spChg chg="add mod">
          <ac:chgData name="Pankaj Kumar" userId="a7b0b64156972ab5" providerId="LiveId" clId="{76F84501-E36D-4D4B-A3C6-A77B5B00B2B0}" dt="2026-09-10T06:32:44.511" v="87"/>
          <ac:spMkLst>
            <pc:docMk/>
            <pc:sldMk cId="1197099112" sldId="1507"/>
            <ac:spMk id="27" creationId="{1A012155-02E4-6135-0331-7165F7026FAF}"/>
          </ac:spMkLst>
        </pc:spChg>
        <pc:spChg chg="add mod">
          <ac:chgData name="Pankaj Kumar" userId="a7b0b64156972ab5" providerId="LiveId" clId="{76F84501-E36D-4D4B-A3C6-A77B5B00B2B0}" dt="2026-09-10T06:37:11.197" v="91"/>
          <ac:spMkLst>
            <pc:docMk/>
            <pc:sldMk cId="1197099112" sldId="1507"/>
            <ac:spMk id="28" creationId="{5DC3C17C-CD12-1A36-1F6F-EC8A1A5A04DC}"/>
          </ac:spMkLst>
        </pc:spChg>
        <pc:spChg chg="mod">
          <ac:chgData name="Pankaj Kumar" userId="a7b0b64156972ab5" providerId="LiveId" clId="{76F84501-E36D-4D4B-A3C6-A77B5B00B2B0}" dt="2026-09-10T06:37:22.696" v="92"/>
          <ac:spMkLst>
            <pc:docMk/>
            <pc:sldMk cId="1197099112" sldId="1507"/>
            <ac:spMk id="29" creationId="{AD11972E-6B52-7EEF-9C02-C753071D9452}"/>
          </ac:spMkLst>
        </pc:spChg>
        <pc:spChg chg="mod">
          <ac:chgData name="Pankaj Kumar" userId="a7b0b64156972ab5" providerId="LiveId" clId="{76F84501-E36D-4D4B-A3C6-A77B5B00B2B0}" dt="2026-09-10T06:37:48.283" v="93"/>
          <ac:spMkLst>
            <pc:docMk/>
            <pc:sldMk cId="1197099112" sldId="1507"/>
            <ac:spMk id="30" creationId="{D5DAFDD3-E909-34D6-BEC3-03E7D582F2A3}"/>
          </ac:spMkLst>
        </pc:spChg>
        <pc:spChg chg="mod">
          <ac:chgData name="Pankaj Kumar" userId="a7b0b64156972ab5" providerId="LiveId" clId="{76F84501-E36D-4D4B-A3C6-A77B5B00B2B0}" dt="2026-09-10T06:38:04.205" v="94"/>
          <ac:spMkLst>
            <pc:docMk/>
            <pc:sldMk cId="1197099112" sldId="1507"/>
            <ac:spMk id="31" creationId="{3A335EE4-76F3-4746-5A62-A16831848CA5}"/>
          </ac:spMkLst>
        </pc:spChg>
        <pc:spChg chg="mod">
          <ac:chgData name="Pankaj Kumar" userId="a7b0b64156972ab5" providerId="LiveId" clId="{76F84501-E36D-4D4B-A3C6-A77B5B00B2B0}" dt="2026-09-10T06:36:31.924" v="89"/>
          <ac:spMkLst>
            <pc:docMk/>
            <pc:sldMk cId="1197099112" sldId="1507"/>
            <ac:spMk id="33" creationId="{E11B2081-5204-98DA-3A2F-4D7B3B5E44E0}"/>
          </ac:spMkLst>
        </pc:spChg>
        <pc:spChg chg="add mod">
          <ac:chgData name="Pankaj Kumar" userId="a7b0b64156972ab5" providerId="LiveId" clId="{76F84501-E36D-4D4B-A3C6-A77B5B00B2B0}" dt="2026-09-10T06:36:52.571" v="90"/>
          <ac:spMkLst>
            <pc:docMk/>
            <pc:sldMk cId="1197099112" sldId="1507"/>
            <ac:spMk id="34" creationId="{2E748270-935F-DFC9-2AE9-1CBBB97CE90D}"/>
          </ac:spMkLst>
        </pc:spChg>
      </pc:sldChg>
      <pc:sldChg chg="addSp modSp">
        <pc:chgData name="Pankaj Kumar" userId="a7b0b64156972ab5" providerId="LiveId" clId="{76F84501-E36D-4D4B-A3C6-A77B5B00B2B0}" dt="2026-09-10T06:46:31.462" v="103"/>
        <pc:sldMkLst>
          <pc:docMk/>
          <pc:sldMk cId="937970022" sldId="1508"/>
        </pc:sldMkLst>
        <pc:spChg chg="mod">
          <ac:chgData name="Pankaj Kumar" userId="a7b0b64156972ab5" providerId="LiveId" clId="{76F84501-E36D-4D4B-A3C6-A77B5B00B2B0}" dt="2026-09-10T06:39:17.340" v="96"/>
          <ac:spMkLst>
            <pc:docMk/>
            <pc:sldMk cId="937970022" sldId="1508"/>
            <ac:spMk id="17" creationId="{5F4D205A-B807-5DA4-3784-20CF0BCD6323}"/>
          </ac:spMkLst>
        </pc:spChg>
        <pc:spChg chg="add mod">
          <ac:chgData name="Pankaj Kumar" userId="a7b0b64156972ab5" providerId="LiveId" clId="{76F84501-E36D-4D4B-A3C6-A77B5B00B2B0}" dt="2026-09-10T06:39:04.827" v="95"/>
          <ac:spMkLst>
            <pc:docMk/>
            <pc:sldMk cId="937970022" sldId="1508"/>
            <ac:spMk id="18" creationId="{A77CD88C-4990-341D-A4B0-5E6042B6B374}"/>
          </ac:spMkLst>
        </pc:spChg>
        <pc:spChg chg="add mod">
          <ac:chgData name="Pankaj Kumar" userId="a7b0b64156972ab5" providerId="LiveId" clId="{76F84501-E36D-4D4B-A3C6-A77B5B00B2B0}" dt="2026-09-10T06:39:04.827" v="95"/>
          <ac:spMkLst>
            <pc:docMk/>
            <pc:sldMk cId="937970022" sldId="1508"/>
            <ac:spMk id="20" creationId="{6B815B1B-79CA-E4CB-8BBC-E8A4584936F1}"/>
          </ac:spMkLst>
        </pc:spChg>
        <pc:spChg chg="add mod">
          <ac:chgData name="Pankaj Kumar" userId="a7b0b64156972ab5" providerId="LiveId" clId="{76F84501-E36D-4D4B-A3C6-A77B5B00B2B0}" dt="2026-09-10T06:39:04.827" v="95"/>
          <ac:spMkLst>
            <pc:docMk/>
            <pc:sldMk cId="937970022" sldId="1508"/>
            <ac:spMk id="21" creationId="{5A4B16B2-72C2-1CAD-FFC7-9C7EC51AE58F}"/>
          </ac:spMkLst>
        </pc:spChg>
        <pc:spChg chg="add mod">
          <ac:chgData name="Pankaj Kumar" userId="a7b0b64156972ab5" providerId="LiveId" clId="{76F84501-E36D-4D4B-A3C6-A77B5B00B2B0}" dt="2026-09-10T06:39:04.827" v="95"/>
          <ac:spMkLst>
            <pc:docMk/>
            <pc:sldMk cId="937970022" sldId="1508"/>
            <ac:spMk id="23" creationId="{0757819F-4A9F-C94A-38BD-99D497ACC923}"/>
          </ac:spMkLst>
        </pc:spChg>
        <pc:spChg chg="add mod">
          <ac:chgData name="Pankaj Kumar" userId="a7b0b64156972ab5" providerId="LiveId" clId="{76F84501-E36D-4D4B-A3C6-A77B5B00B2B0}" dt="2026-09-10T06:39:04.827" v="95"/>
          <ac:spMkLst>
            <pc:docMk/>
            <pc:sldMk cId="937970022" sldId="1508"/>
            <ac:spMk id="24" creationId="{42A49D5F-6109-F035-CDFD-BB5F57A9E9EF}"/>
          </ac:spMkLst>
        </pc:spChg>
        <pc:spChg chg="add mod">
          <ac:chgData name="Pankaj Kumar" userId="a7b0b64156972ab5" providerId="LiveId" clId="{76F84501-E36D-4D4B-A3C6-A77B5B00B2B0}" dt="2026-09-10T06:39:04.827" v="95"/>
          <ac:spMkLst>
            <pc:docMk/>
            <pc:sldMk cId="937970022" sldId="1508"/>
            <ac:spMk id="25" creationId="{0DA66BB6-ED62-DA3C-1532-B9AE27802E82}"/>
          </ac:spMkLst>
        </pc:spChg>
        <pc:spChg chg="add mod">
          <ac:chgData name="Pankaj Kumar" userId="a7b0b64156972ab5" providerId="LiveId" clId="{76F84501-E36D-4D4B-A3C6-A77B5B00B2B0}" dt="2026-09-10T06:39:04.827" v="95"/>
          <ac:spMkLst>
            <pc:docMk/>
            <pc:sldMk cId="937970022" sldId="1508"/>
            <ac:spMk id="27" creationId="{590CA08C-65CA-B6D1-CC95-7A4CB602F566}"/>
          </ac:spMkLst>
        </pc:spChg>
        <pc:spChg chg="mod">
          <ac:chgData name="Pankaj Kumar" userId="a7b0b64156972ab5" providerId="LiveId" clId="{76F84501-E36D-4D4B-A3C6-A77B5B00B2B0}" dt="2026-09-10T06:45:16.787" v="99"/>
          <ac:spMkLst>
            <pc:docMk/>
            <pc:sldMk cId="937970022" sldId="1508"/>
            <ac:spMk id="28" creationId="{25CF08CC-2834-EC80-92A2-8B4B135B9C8B}"/>
          </ac:spMkLst>
        </pc:spChg>
        <pc:spChg chg="add mod">
          <ac:chgData name="Pankaj Kumar" userId="a7b0b64156972ab5" providerId="LiveId" clId="{76F84501-E36D-4D4B-A3C6-A77B5B00B2B0}" dt="2026-09-10T06:45:26.529" v="100"/>
          <ac:spMkLst>
            <pc:docMk/>
            <pc:sldMk cId="937970022" sldId="1508"/>
            <ac:spMk id="29" creationId="{6C6B2736-51AB-5D8E-768A-92025BBE9B68}"/>
          </ac:spMkLst>
        </pc:spChg>
        <pc:spChg chg="mod">
          <ac:chgData name="Pankaj Kumar" userId="a7b0b64156972ab5" providerId="LiveId" clId="{76F84501-E36D-4D4B-A3C6-A77B5B00B2B0}" dt="2026-09-10T06:45:46.374" v="101"/>
          <ac:spMkLst>
            <pc:docMk/>
            <pc:sldMk cId="937970022" sldId="1508"/>
            <ac:spMk id="30" creationId="{1F22C8E3-473A-3F84-4873-E66CFC7100C8}"/>
          </ac:spMkLst>
        </pc:spChg>
        <pc:spChg chg="mod">
          <ac:chgData name="Pankaj Kumar" userId="a7b0b64156972ab5" providerId="LiveId" clId="{76F84501-E36D-4D4B-A3C6-A77B5B00B2B0}" dt="2026-09-10T06:46:31.462" v="103"/>
          <ac:spMkLst>
            <pc:docMk/>
            <pc:sldMk cId="937970022" sldId="1508"/>
            <ac:spMk id="31" creationId="{35BE3A4E-5A1A-07E4-5C39-DD459987E567}"/>
          </ac:spMkLst>
        </pc:spChg>
        <pc:spChg chg="add mod">
          <ac:chgData name="Pankaj Kumar" userId="a7b0b64156972ab5" providerId="LiveId" clId="{76F84501-E36D-4D4B-A3C6-A77B5B00B2B0}" dt="2026-09-10T06:44:40.488" v="97"/>
          <ac:spMkLst>
            <pc:docMk/>
            <pc:sldMk cId="937970022" sldId="1508"/>
            <ac:spMk id="33" creationId="{3B180FB7-A99E-DF63-FBDF-D496A207617E}"/>
          </ac:spMkLst>
        </pc:spChg>
        <pc:spChg chg="add mod">
          <ac:chgData name="Pankaj Kumar" userId="a7b0b64156972ab5" providerId="LiveId" clId="{76F84501-E36D-4D4B-A3C6-A77B5B00B2B0}" dt="2026-09-10T06:44:55.370" v="98"/>
          <ac:spMkLst>
            <pc:docMk/>
            <pc:sldMk cId="937970022" sldId="1508"/>
            <ac:spMk id="34" creationId="{FE1B8530-4EA2-D791-36D8-4EEF6056CFDC}"/>
          </ac:spMkLst>
        </pc:spChg>
      </pc:sldChg>
      <pc:sldChg chg="addSp modSp del">
        <pc:chgData name="Pankaj Kumar" userId="a7b0b64156972ab5" providerId="LiveId" clId="{76F84501-E36D-4D4B-A3C6-A77B5B00B2B0}" dt="2026-09-10T11:28:17.522" v="126" actId="2696"/>
        <pc:sldMkLst>
          <pc:docMk/>
          <pc:sldMk cId="3443622260" sldId="1509"/>
        </pc:sldMkLst>
        <pc:graphicFrameChg chg="add mod">
          <ac:chgData name="Pankaj Kumar" userId="a7b0b64156972ab5" providerId="LiveId" clId="{76F84501-E36D-4D4B-A3C6-A77B5B00B2B0}" dt="2026-09-10T06:56:23.858" v="104"/>
          <ac:graphicFrameMkLst>
            <pc:docMk/>
            <pc:sldMk cId="3443622260" sldId="1509"/>
            <ac:graphicFrameMk id="6" creationId="{32662487-8172-ADF2-B355-E50FC07DED4F}"/>
          </ac:graphicFrameMkLst>
        </pc:graphicFrameChg>
        <pc:graphicFrameChg chg="add">
          <ac:chgData name="Pankaj Kumar" userId="a7b0b64156972ab5" providerId="LiveId" clId="{76F84501-E36D-4D4B-A3C6-A77B5B00B2B0}" dt="2026-09-10T07:00:09.594" v="107"/>
          <ac:graphicFrameMkLst>
            <pc:docMk/>
            <pc:sldMk cId="3443622260" sldId="1509"/>
            <ac:graphicFrameMk id="9" creationId="{E050D44F-0959-AB2C-E0C2-E25F7BF84EE9}"/>
          </ac:graphicFrameMkLst>
        </pc:graphicFrameChg>
        <pc:cxnChg chg="add mod">
          <ac:chgData name="Pankaj Kumar" userId="a7b0b64156972ab5" providerId="LiveId" clId="{76F84501-E36D-4D4B-A3C6-A77B5B00B2B0}" dt="2026-09-10T07:00:16.266" v="108"/>
          <ac:cxnSpMkLst>
            <pc:docMk/>
            <pc:sldMk cId="3443622260" sldId="1509"/>
            <ac:cxnSpMk id="10" creationId="{B980729B-B1FE-59C9-5201-743E32FA7F8A}"/>
          </ac:cxnSpMkLst>
        </pc:cxnChg>
        <pc:cxnChg chg="add mod">
          <ac:chgData name="Pankaj Kumar" userId="a7b0b64156972ab5" providerId="LiveId" clId="{76F84501-E36D-4D4B-A3C6-A77B5B00B2B0}" dt="2026-09-10T07:00:24.645" v="109"/>
          <ac:cxnSpMkLst>
            <pc:docMk/>
            <pc:sldMk cId="3443622260" sldId="1509"/>
            <ac:cxnSpMk id="11" creationId="{54D23E02-6783-63B3-07B5-ACEC3961E050}"/>
          </ac:cxnSpMkLst>
        </pc:cxnChg>
        <pc:cxnChg chg="add mod">
          <ac:chgData name="Pankaj Kumar" userId="a7b0b64156972ab5" providerId="LiveId" clId="{76F84501-E36D-4D4B-A3C6-A77B5B00B2B0}" dt="2026-09-10T07:00:31.411" v="110"/>
          <ac:cxnSpMkLst>
            <pc:docMk/>
            <pc:sldMk cId="3443622260" sldId="1509"/>
            <ac:cxnSpMk id="12" creationId="{C2A9830C-1C2C-A6B5-19E2-D4FF49E4EB04}"/>
          </ac:cxnSpMkLst>
        </pc:cxnChg>
        <pc:cxnChg chg="add mod">
          <ac:chgData name="Pankaj Kumar" userId="a7b0b64156972ab5" providerId="LiveId" clId="{76F84501-E36D-4D4B-A3C6-A77B5B00B2B0}" dt="2026-09-10T07:00:40.606" v="111"/>
          <ac:cxnSpMkLst>
            <pc:docMk/>
            <pc:sldMk cId="3443622260" sldId="1509"/>
            <ac:cxnSpMk id="13" creationId="{206A94CF-AD2F-FC94-6988-DB92151C5850}"/>
          </ac:cxnSpMkLst>
        </pc:cxnChg>
        <pc:cxnChg chg="add mod">
          <ac:chgData name="Pankaj Kumar" userId="a7b0b64156972ab5" providerId="LiveId" clId="{76F84501-E36D-4D4B-A3C6-A77B5B00B2B0}" dt="2026-09-10T07:00:49.082" v="112"/>
          <ac:cxnSpMkLst>
            <pc:docMk/>
            <pc:sldMk cId="3443622260" sldId="1509"/>
            <ac:cxnSpMk id="14" creationId="{118522C6-D0EB-2506-F03C-AFB563A18F41}"/>
          </ac:cxnSpMkLst>
        </pc:cxnChg>
        <pc:cxnChg chg="add mod">
          <ac:chgData name="Pankaj Kumar" userId="a7b0b64156972ab5" providerId="LiveId" clId="{76F84501-E36D-4D4B-A3C6-A77B5B00B2B0}" dt="2026-09-10T07:00:55.737" v="113"/>
          <ac:cxnSpMkLst>
            <pc:docMk/>
            <pc:sldMk cId="3443622260" sldId="1509"/>
            <ac:cxnSpMk id="15" creationId="{858E7744-F16A-343C-62DC-29551496F610}"/>
          </ac:cxnSpMkLst>
        </pc:cxnChg>
        <pc:cxnChg chg="add mod">
          <ac:chgData name="Pankaj Kumar" userId="a7b0b64156972ab5" providerId="LiveId" clId="{76F84501-E36D-4D4B-A3C6-A77B5B00B2B0}" dt="2026-09-10T07:01:20.825" v="114"/>
          <ac:cxnSpMkLst>
            <pc:docMk/>
            <pc:sldMk cId="3443622260" sldId="1509"/>
            <ac:cxnSpMk id="18" creationId="{BD893262-3188-004F-89B9-DEAA1F1CD9F8}"/>
          </ac:cxnSpMkLst>
        </pc:cxnChg>
        <pc:cxnChg chg="add mod">
          <ac:chgData name="Pankaj Kumar" userId="a7b0b64156972ab5" providerId="LiveId" clId="{76F84501-E36D-4D4B-A3C6-A77B5B00B2B0}" dt="2026-09-10T07:01:28.296" v="115"/>
          <ac:cxnSpMkLst>
            <pc:docMk/>
            <pc:sldMk cId="3443622260" sldId="1509"/>
            <ac:cxnSpMk id="19" creationId="{F3992A22-9B33-59CF-4C0C-8CB5E6D871C0}"/>
          </ac:cxnSpMkLst>
        </pc:cxnChg>
        <pc:cxnChg chg="add mod">
          <ac:chgData name="Pankaj Kumar" userId="a7b0b64156972ab5" providerId="LiveId" clId="{76F84501-E36D-4D4B-A3C6-A77B5B00B2B0}" dt="2026-09-10T07:01:34.331" v="116"/>
          <ac:cxnSpMkLst>
            <pc:docMk/>
            <pc:sldMk cId="3443622260" sldId="1509"/>
            <ac:cxnSpMk id="20" creationId="{E5EB831C-28CC-4D33-B695-1AEB4926FF1A}"/>
          </ac:cxnSpMkLst>
        </pc:cxnChg>
      </pc:sldChg>
      <pc:sldChg chg="addSp modSp del">
        <pc:chgData name="Pankaj Kumar" userId="a7b0b64156972ab5" providerId="LiveId" clId="{76F84501-E36D-4D4B-A3C6-A77B5B00B2B0}" dt="2026-09-10T11:28:21.440" v="127" actId="2696"/>
        <pc:sldMkLst>
          <pc:docMk/>
          <pc:sldMk cId="4186572383" sldId="1510"/>
        </pc:sldMkLst>
        <pc:graphicFrameChg chg="add">
          <ac:chgData name="Pankaj Kumar" userId="a7b0b64156972ab5" providerId="LiveId" clId="{76F84501-E36D-4D4B-A3C6-A77B5B00B2B0}" dt="2026-09-10T06:58:08.343" v="105"/>
          <ac:graphicFrameMkLst>
            <pc:docMk/>
            <pc:sldMk cId="4186572383" sldId="1510"/>
            <ac:graphicFrameMk id="2" creationId="{80D1D468-CD4B-435B-AA39-17D598B56195}"/>
          </ac:graphicFrameMkLst>
        </pc:graphicFrameChg>
        <pc:graphicFrameChg chg="add">
          <ac:chgData name="Pankaj Kumar" userId="a7b0b64156972ab5" providerId="LiveId" clId="{76F84501-E36D-4D4B-A3C6-A77B5B00B2B0}" dt="2026-09-10T06:59:15.511" v="106"/>
          <ac:graphicFrameMkLst>
            <pc:docMk/>
            <pc:sldMk cId="4186572383" sldId="1510"/>
            <ac:graphicFrameMk id="7" creationId="{B597091E-9962-096D-CB54-425600C843A2}"/>
          </ac:graphicFrameMkLst>
        </pc:graphicFrameChg>
        <pc:cxnChg chg="add mod">
          <ac:chgData name="Pankaj Kumar" userId="a7b0b64156972ab5" providerId="LiveId" clId="{76F84501-E36D-4D4B-A3C6-A77B5B00B2B0}" dt="2026-09-10T07:02:09.565" v="117"/>
          <ac:cxnSpMkLst>
            <pc:docMk/>
            <pc:sldMk cId="4186572383" sldId="1510"/>
            <ac:cxnSpMk id="10" creationId="{0225EC34-DE06-BCE3-A806-72E69686AE9E}"/>
          </ac:cxnSpMkLst>
        </pc:cxnChg>
        <pc:cxnChg chg="add mod">
          <ac:chgData name="Pankaj Kumar" userId="a7b0b64156972ab5" providerId="LiveId" clId="{76F84501-E36D-4D4B-A3C6-A77B5B00B2B0}" dt="2026-09-10T07:02:14.807" v="118"/>
          <ac:cxnSpMkLst>
            <pc:docMk/>
            <pc:sldMk cId="4186572383" sldId="1510"/>
            <ac:cxnSpMk id="11" creationId="{1946735F-2EDB-B517-7799-C75658AE40E4}"/>
          </ac:cxnSpMkLst>
        </pc:cxnChg>
        <pc:cxnChg chg="add mod">
          <ac:chgData name="Pankaj Kumar" userId="a7b0b64156972ab5" providerId="LiveId" clId="{76F84501-E36D-4D4B-A3C6-A77B5B00B2B0}" dt="2026-09-10T07:02:19.198" v="119"/>
          <ac:cxnSpMkLst>
            <pc:docMk/>
            <pc:sldMk cId="4186572383" sldId="1510"/>
            <ac:cxnSpMk id="12" creationId="{D42326A4-D6B0-0038-8430-2D0A5EC4BA94}"/>
          </ac:cxnSpMkLst>
        </pc:cxnChg>
        <pc:cxnChg chg="add mod">
          <ac:chgData name="Pankaj Kumar" userId="a7b0b64156972ab5" providerId="LiveId" clId="{76F84501-E36D-4D4B-A3C6-A77B5B00B2B0}" dt="2026-09-10T07:02:23.421" v="120"/>
          <ac:cxnSpMkLst>
            <pc:docMk/>
            <pc:sldMk cId="4186572383" sldId="1510"/>
            <ac:cxnSpMk id="13" creationId="{2EDFC9EA-59D4-57A6-2A96-1F68AEE8D0A6}"/>
          </ac:cxnSpMkLst>
        </pc:cxnChg>
        <pc:cxnChg chg="add mod">
          <ac:chgData name="Pankaj Kumar" userId="a7b0b64156972ab5" providerId="LiveId" clId="{76F84501-E36D-4D4B-A3C6-A77B5B00B2B0}" dt="2026-09-10T07:02:30.285" v="121"/>
          <ac:cxnSpMkLst>
            <pc:docMk/>
            <pc:sldMk cId="4186572383" sldId="1510"/>
            <ac:cxnSpMk id="14" creationId="{18478D11-ECB4-44E8-6816-7D30A9BF6479}"/>
          </ac:cxnSpMkLst>
        </pc:cxnChg>
        <pc:cxnChg chg="add mod">
          <ac:chgData name="Pankaj Kumar" userId="a7b0b64156972ab5" providerId="LiveId" clId="{76F84501-E36D-4D4B-A3C6-A77B5B00B2B0}" dt="2026-09-10T07:02:38.682" v="122"/>
          <ac:cxnSpMkLst>
            <pc:docMk/>
            <pc:sldMk cId="4186572383" sldId="1510"/>
            <ac:cxnSpMk id="15" creationId="{B2D63358-CC38-B3CB-8F4E-5E1BB0AF2F1D}"/>
          </ac:cxnSpMkLst>
        </pc:cxnChg>
        <pc:cxnChg chg="add mod">
          <ac:chgData name="Pankaj Kumar" userId="a7b0b64156972ab5" providerId="LiveId" clId="{76F84501-E36D-4D4B-A3C6-A77B5B00B2B0}" dt="2026-09-10T07:03:01.465" v="123"/>
          <ac:cxnSpMkLst>
            <pc:docMk/>
            <pc:sldMk cId="4186572383" sldId="1510"/>
            <ac:cxnSpMk id="18" creationId="{63B8C158-A4FD-60DB-2709-BDA2726795DA}"/>
          </ac:cxnSpMkLst>
        </pc:cxnChg>
        <pc:cxnChg chg="add mod">
          <ac:chgData name="Pankaj Kumar" userId="a7b0b64156972ab5" providerId="LiveId" clId="{76F84501-E36D-4D4B-A3C6-A77B5B00B2B0}" dt="2026-09-10T07:03:06.877" v="124"/>
          <ac:cxnSpMkLst>
            <pc:docMk/>
            <pc:sldMk cId="4186572383" sldId="1510"/>
            <ac:cxnSpMk id="19" creationId="{7833EB97-F45E-E55F-1A56-79FED986C35D}"/>
          </ac:cxnSpMkLst>
        </pc:cxnChg>
        <pc:cxnChg chg="add mod">
          <ac:chgData name="Pankaj Kumar" userId="a7b0b64156972ab5" providerId="LiveId" clId="{76F84501-E36D-4D4B-A3C6-A77B5B00B2B0}" dt="2026-09-10T07:03:14.252" v="125"/>
          <ac:cxnSpMkLst>
            <pc:docMk/>
            <pc:sldMk cId="4186572383" sldId="1510"/>
            <ac:cxnSpMk id="20" creationId="{165C9399-0186-5E75-0E5C-EF476E7AFA8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21-09-2026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320085430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71698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367913389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9043547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24672301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4077661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959223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076416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4743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03975395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5589145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448254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415851082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78893738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75207419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101273615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dirty="0"/>
          </a:p>
        </p:txBody>
      </p:sp>
    </p:spTree>
    <p:extLst>
      <p:ext uri="{BB962C8B-B14F-4D97-AF65-F5344CB8AC3E}">
        <p14:creationId xmlns:p14="http://schemas.microsoft.com/office/powerpoint/2010/main" val="215359573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59157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471707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7614572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8">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9">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30">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31">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9/21/2026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0000000-1234-1234-1234-123412341234}" type="slidenum">
              <a:rPr lang="en" smtClean="0"/>
              <a:pPr/>
              <a:t>‹#›</a:t>
            </a:fld>
            <a:endParaRPr lang="en" dirty="0"/>
          </a:p>
        </p:txBody>
      </p:sp>
      <p:sp>
        <p:nvSpPr>
          <p:cNvPr id="11" name="Rectangle 10">
            <a:extLst>
              <a:ext uri="{FF2B5EF4-FFF2-40B4-BE49-F238E27FC236}">
                <a16:creationId xmlns:a16="http://schemas.microsoft.com/office/drawing/2014/main" id="{0163474D-0FCE-D68E-177A-2E117A65431B}"/>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Tree>
    <p:extLst>
      <p:ext uri="{BB962C8B-B14F-4D97-AF65-F5344CB8AC3E}">
        <p14:creationId xmlns:p14="http://schemas.microsoft.com/office/powerpoint/2010/main" val="3689822534"/>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664" r:id="rId21"/>
    <p:sldLayoutId id="2147483665" r:id="rId22"/>
    <p:sldLayoutId id="2147483667" r:id="rId23"/>
    <p:sldLayoutId id="2147483668" r:id="rId24"/>
    <p:sldLayoutId id="2147483670" r:id="rId25"/>
    <p:sldLayoutId id="2147483671" r:id="rId26"/>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healthcare-management-system-7474658118016042.aws.databricksapps.com/" TargetMode="External"/><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hyperlink" Target="https://github.com/harshcodeer/Healthcare-Management-System"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6300218" y="1347837"/>
            <a:ext cx="4741333" cy="5612627"/>
          </a:xfrm>
          <a:prstGeom prst="rect">
            <a:avLst/>
          </a:prstGeom>
          <a:noFill/>
        </p:spPr>
        <p:txBody>
          <a:bodyPr wrap="square" rtlCol="0">
            <a:spAutoFit/>
          </a:bodyPr>
          <a:lstStyle/>
          <a:p>
            <a:pPr algn="ctr" defTabSz="1219170">
              <a:buClr>
                <a:srgbClr val="000000"/>
              </a:buClr>
            </a:pPr>
            <a:r>
              <a:rPr lang="en-IN" sz="3200" b="1" kern="0" dirty="0">
                <a:solidFill>
                  <a:prstClr val="black">
                    <a:lumMod val="85000"/>
                    <a:lumOff val="15000"/>
                  </a:prstClr>
                </a:solidFill>
                <a:latin typeface="Arial"/>
                <a:cs typeface="Arial"/>
                <a:sym typeface="Arial"/>
              </a:rPr>
              <a:t>Project Title: </a:t>
            </a:r>
            <a:r>
              <a:rPr lang="en-IN" sz="2800" b="1" dirty="0">
                <a:solidFill>
                  <a:schemeClr val="bg1"/>
                </a:solidFill>
              </a:rPr>
              <a:t>Healthcare Management Analytics</a:t>
            </a:r>
            <a:endParaRPr lang="en-IN" sz="2667" b="1" kern="0" dirty="0">
              <a:solidFill>
                <a:schemeClr val="bg1"/>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Name: </a:t>
            </a:r>
            <a:r>
              <a:rPr lang="en-IN" sz="2667" b="1" kern="0" dirty="0">
                <a:solidFill>
                  <a:prstClr val="black">
                    <a:lumMod val="85000"/>
                    <a:lumOff val="15000"/>
                  </a:prstClr>
                </a:solidFill>
                <a:latin typeface="+mj-lt"/>
                <a:cs typeface="Arial"/>
                <a:sym typeface="Arial"/>
              </a:rPr>
              <a:t>Pankaj Kumar</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Date: </a:t>
            </a:r>
            <a:r>
              <a:rPr lang="en-IN" sz="2667" b="1" kern="0" dirty="0">
                <a:solidFill>
                  <a:prstClr val="black">
                    <a:lumMod val="85000"/>
                    <a:lumOff val="15000"/>
                  </a:prstClr>
                </a:solidFill>
                <a:latin typeface="+mj-lt"/>
                <a:cs typeface="Arial"/>
                <a:sym typeface="Arial"/>
              </a:rPr>
              <a:t>21-09-2026</a:t>
            </a: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6F19E8-65F4-EA87-1DB4-F179A14CA128}"/>
              </a:ext>
            </a:extLst>
          </p:cNvPr>
          <p:cNvSpPr txBox="1"/>
          <p:nvPr/>
        </p:nvSpPr>
        <p:spPr>
          <a:xfrm>
            <a:off x="594360" y="1289824"/>
            <a:ext cx="10698480" cy="4278094"/>
          </a:xfrm>
          <a:prstGeom prst="rect">
            <a:avLst/>
          </a:prstGeom>
          <a:noFill/>
        </p:spPr>
        <p:txBody>
          <a:bodyPr wrap="square">
            <a:spAutoFit/>
          </a:bodyPr>
          <a:lstStyle/>
          <a:p>
            <a:pPr>
              <a:buNone/>
            </a:pPr>
            <a:r>
              <a:rPr lang="en-IN" sz="1700" dirty="0"/>
              <a:t>The dataset represents a Healthcare Management System that integrates information about patients, doctors, appointments, treatments, and billing across five interconnected tables.</a:t>
            </a:r>
          </a:p>
          <a:p>
            <a:pPr>
              <a:buNone/>
            </a:pPr>
            <a:endParaRPr lang="en-IN" sz="1700" dirty="0"/>
          </a:p>
          <a:p>
            <a:pPr marL="342900" lvl="0" indent="-342900">
              <a:buFont typeface="Arial" panose="020B0604020202020204" pitchFamily="34" charset="0"/>
              <a:buChar char="•"/>
            </a:pPr>
            <a:r>
              <a:rPr lang="en-IN" sz="1700" dirty="0"/>
              <a:t>Healthcare organizations generate large volumes of operational and financial data every day. </a:t>
            </a:r>
          </a:p>
          <a:p>
            <a:pPr marL="342900" lvl="0" indent="-342900">
              <a:buFont typeface="Arial" panose="020B0604020202020204" pitchFamily="34" charset="0"/>
              <a:buChar char="•"/>
            </a:pPr>
            <a:r>
              <a:rPr lang="en-IN" sz="1700" dirty="0"/>
              <a:t>Management needs visibility into patient demand, appointment efficiency, doctor workload, treatment utilization, and revenue collection. </a:t>
            </a:r>
          </a:p>
          <a:p>
            <a:pPr marL="342900" lvl="0" indent="-342900">
              <a:buFont typeface="Arial" panose="020B0604020202020204" pitchFamily="34" charset="0"/>
              <a:buChar char="•"/>
            </a:pPr>
            <a:r>
              <a:rPr lang="en-IN" sz="1700" dirty="0"/>
              <a:t>Raw transactional data makes it difficult to identify no-shows, operational bottlenecks, high-demand specialties, treatment trends, and outstanding payments. </a:t>
            </a:r>
          </a:p>
          <a:p>
            <a:pPr marL="342900" lvl="0" indent="-342900">
              <a:buFont typeface="Arial" panose="020B0604020202020204" pitchFamily="34" charset="0"/>
              <a:buChar char="•"/>
            </a:pPr>
            <a:r>
              <a:rPr lang="en-IN" sz="1700" dirty="0"/>
              <a:t>An integrated analytics solution can convert this data into actionable KPIs, dashboards, and predictive insights. </a:t>
            </a:r>
          </a:p>
          <a:p>
            <a:pPr marL="342900" lvl="0" indent="-342900">
              <a:buFont typeface="Arial" panose="020B0604020202020204" pitchFamily="34" charset="0"/>
              <a:buChar char="•"/>
            </a:pPr>
            <a:r>
              <a:rPr lang="en-IN" sz="1700" dirty="0"/>
              <a:t>The ultimate goal is to improve patient experience, operational efficiency, resource utilization, and financial performance.</a:t>
            </a:r>
          </a:p>
          <a:p>
            <a:pPr lvl="0"/>
            <a:endParaRPr lang="en-IN" sz="1700" dirty="0"/>
          </a:p>
          <a:p>
            <a:pPr lvl="0"/>
            <a:r>
              <a:rPr lang="en-IN" sz="1700" dirty="0"/>
              <a:t>To develop an integrated Healthcare Analytics Solution that transforms operational data into meaningful KPIs, dashboards, and predictive insights, enabling management to improve patient experience, optimize resources, increase operational efficiency, and strengthen financial performance.</a:t>
            </a:r>
          </a:p>
        </p:txBody>
      </p:sp>
      <p:pic>
        <p:nvPicPr>
          <p:cNvPr id="6" name="Graphic 5" descr="Brain in head with solid fill">
            <a:extLst>
              <a:ext uri="{FF2B5EF4-FFF2-40B4-BE49-F238E27FC236}">
                <a16:creationId xmlns:a16="http://schemas.microsoft.com/office/drawing/2014/main" id="{56986603-41C7-58E7-90D0-6ACF0C07E80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7" name="TextBox 6">
            <a:extLst>
              <a:ext uri="{FF2B5EF4-FFF2-40B4-BE49-F238E27FC236}">
                <a16:creationId xmlns:a16="http://schemas.microsoft.com/office/drawing/2014/main" id="{35E4D30E-3215-DABD-74CF-52F31987DCC9}"/>
              </a:ext>
            </a:extLst>
          </p:cNvPr>
          <p:cNvSpPr txBox="1"/>
          <p:nvPr/>
        </p:nvSpPr>
        <p:spPr>
          <a:xfrm>
            <a:off x="1054100" y="553581"/>
            <a:ext cx="4927600" cy="553998"/>
          </a:xfrm>
          <a:prstGeom prst="rect">
            <a:avLst/>
          </a:prstGeom>
          <a:noFill/>
        </p:spPr>
        <p:txBody>
          <a:bodyPr wrap="square" rtlCol="0">
            <a:spAutoFit/>
          </a:bodyPr>
          <a:lstStyle/>
          <a:p>
            <a:r>
              <a:rPr lang="en-IN" sz="3000" b="1" dirty="0"/>
              <a:t>BUSINESS CONTEXT</a:t>
            </a:r>
          </a:p>
        </p:txBody>
      </p:sp>
    </p:spTree>
    <p:extLst>
      <p:ext uri="{BB962C8B-B14F-4D97-AF65-F5344CB8AC3E}">
        <p14:creationId xmlns:p14="http://schemas.microsoft.com/office/powerpoint/2010/main" val="2708497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74037F-87CD-D60D-3F93-DFD99A61C4B7}"/>
              </a:ext>
            </a:extLst>
          </p:cNvPr>
          <p:cNvSpPr txBox="1"/>
          <p:nvPr/>
        </p:nvSpPr>
        <p:spPr>
          <a:xfrm>
            <a:off x="521970" y="1420758"/>
            <a:ext cx="11148060" cy="4016484"/>
          </a:xfrm>
          <a:prstGeom prst="rect">
            <a:avLst/>
          </a:prstGeom>
          <a:noFill/>
        </p:spPr>
        <p:txBody>
          <a:bodyPr wrap="square">
            <a:spAutoFit/>
          </a:bodyPr>
          <a:lstStyle/>
          <a:p>
            <a:pPr>
              <a:buNone/>
            </a:pPr>
            <a:r>
              <a:rPr lang="en-IN" sz="1700" dirty="0"/>
              <a:t>The healthcare organization stores critical information across patients, doctors, appointments, treatments, and billing, but raw transactional data does not provide a clear picture of overall operational and financial performance.</a:t>
            </a:r>
          </a:p>
          <a:p>
            <a:pPr>
              <a:buNone/>
            </a:pPr>
            <a:endParaRPr lang="en-IN" sz="1700" b="1" dirty="0"/>
          </a:p>
          <a:p>
            <a:pPr marL="285750" lvl="0" indent="-285750">
              <a:buFont typeface="Arial" panose="020B0604020202020204" pitchFamily="34" charset="0"/>
              <a:buChar char="•"/>
            </a:pPr>
            <a:r>
              <a:rPr lang="en-IN" sz="1700" b="1" dirty="0"/>
              <a:t>Fragmented Data: </a:t>
            </a:r>
            <a:r>
              <a:rPr lang="en-IN" sz="1700" dirty="0"/>
              <a:t>Patient, doctor, appointment, treatment, and billing information needs to be integrated for end-to-end analysis. </a:t>
            </a:r>
          </a:p>
          <a:p>
            <a:pPr marL="285750" lvl="0" indent="-285750">
              <a:buFont typeface="Arial" panose="020B0604020202020204" pitchFamily="34" charset="0"/>
              <a:buChar char="•"/>
            </a:pPr>
            <a:r>
              <a:rPr lang="en-IN" sz="1700" b="1" dirty="0"/>
              <a:t>Appointment Inefficiency: </a:t>
            </a:r>
            <a:r>
              <a:rPr lang="en-IN" sz="1700" dirty="0"/>
              <a:t>Management needs to identify patterns in completed, cancelled, and no-show appointments and understand peak scheduling periods. </a:t>
            </a:r>
          </a:p>
          <a:p>
            <a:pPr marL="285750" lvl="0" indent="-285750">
              <a:buFont typeface="Arial" panose="020B0604020202020204" pitchFamily="34" charset="0"/>
              <a:buChar char="•"/>
            </a:pPr>
            <a:r>
              <a:rPr lang="en-IN" sz="1700" b="1" dirty="0"/>
              <a:t>Doctor Workload Imbalance: </a:t>
            </a:r>
            <a:r>
              <a:rPr lang="en-IN" sz="1700" dirty="0"/>
              <a:t>Different doctors, specializations, and branches may have different appointment volumes, making workload optimization difficult. </a:t>
            </a:r>
          </a:p>
          <a:p>
            <a:pPr marL="285750" lvl="0" indent="-285750">
              <a:buFont typeface="Arial" panose="020B0604020202020204" pitchFamily="34" charset="0"/>
              <a:buChar char="•"/>
            </a:pPr>
            <a:r>
              <a:rPr lang="en-IN" sz="1700" b="1" dirty="0"/>
              <a:t>Treatment Performance Visibility: </a:t>
            </a:r>
            <a:r>
              <a:rPr lang="en-IN" sz="1700" dirty="0"/>
              <a:t>The organization needs to understand which treatments are frequently performed and how treatment costs vary. </a:t>
            </a:r>
          </a:p>
          <a:p>
            <a:pPr marL="285750" lvl="0" indent="-285750">
              <a:buFont typeface="Arial" panose="020B0604020202020204" pitchFamily="34" charset="0"/>
              <a:buChar char="•"/>
            </a:pPr>
            <a:r>
              <a:rPr lang="en-IN" sz="1700" b="1" dirty="0"/>
              <a:t>Billing &amp; Collection Gaps: </a:t>
            </a:r>
            <a:r>
              <a:rPr lang="en-IN" sz="1700" dirty="0"/>
              <a:t>Unpaid or delayed bills can affect cash flow, requiring monitoring of payment status, methods, and billing trends. </a:t>
            </a:r>
          </a:p>
          <a:p>
            <a:pPr marL="285750" lvl="0" indent="-285750">
              <a:buFont typeface="Arial" panose="020B0604020202020204" pitchFamily="34" charset="0"/>
              <a:buChar char="•"/>
            </a:pPr>
            <a:r>
              <a:rPr lang="en-IN" sz="1700" b="1" dirty="0"/>
              <a:t>Limited Predictive Capability: </a:t>
            </a:r>
            <a:r>
              <a:rPr lang="en-IN" sz="1700" dirty="0"/>
              <a:t>Historical data can potentially be used to forecast appointment demand and identify operational risks before they become problems.</a:t>
            </a:r>
          </a:p>
        </p:txBody>
      </p:sp>
      <p:sp>
        <p:nvSpPr>
          <p:cNvPr id="5" name="TextBox 4">
            <a:extLst>
              <a:ext uri="{FF2B5EF4-FFF2-40B4-BE49-F238E27FC236}">
                <a16:creationId xmlns:a16="http://schemas.microsoft.com/office/drawing/2014/main" id="{4836B2CF-E43C-C519-B1CB-5D6C6FEBFE43}"/>
              </a:ext>
            </a:extLst>
          </p:cNvPr>
          <p:cNvSpPr txBox="1"/>
          <p:nvPr/>
        </p:nvSpPr>
        <p:spPr>
          <a:xfrm>
            <a:off x="1054100" y="553581"/>
            <a:ext cx="4927600" cy="553998"/>
          </a:xfrm>
          <a:prstGeom prst="rect">
            <a:avLst/>
          </a:prstGeom>
          <a:noFill/>
        </p:spPr>
        <p:txBody>
          <a:bodyPr wrap="square" rtlCol="0">
            <a:spAutoFit/>
          </a:bodyPr>
          <a:lstStyle/>
          <a:p>
            <a:r>
              <a:rPr lang="en-IN" sz="3000" b="1" dirty="0"/>
              <a:t>PROBLEM STATEMENT</a:t>
            </a:r>
          </a:p>
        </p:txBody>
      </p:sp>
      <p:pic>
        <p:nvPicPr>
          <p:cNvPr id="7" name="Graphic 6" descr="Brain in head with solid fill">
            <a:extLst>
              <a:ext uri="{FF2B5EF4-FFF2-40B4-BE49-F238E27FC236}">
                <a16:creationId xmlns:a16="http://schemas.microsoft.com/office/drawing/2014/main" id="{04AEB3D0-BFF2-DF68-F9C5-597C82BFE6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53581"/>
            <a:ext cx="614680" cy="614680"/>
          </a:xfrm>
          <a:prstGeom prst="rect">
            <a:avLst/>
          </a:prstGeom>
        </p:spPr>
      </p:pic>
    </p:spTree>
    <p:extLst>
      <p:ext uri="{BB962C8B-B14F-4D97-AF65-F5344CB8AC3E}">
        <p14:creationId xmlns:p14="http://schemas.microsoft.com/office/powerpoint/2010/main" val="1232005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rain in head with solid fill">
            <a:extLst>
              <a:ext uri="{FF2B5EF4-FFF2-40B4-BE49-F238E27FC236}">
                <a16:creationId xmlns:a16="http://schemas.microsoft.com/office/drawing/2014/main" id="{6D28B7FC-8377-0F72-D788-37AFA08DCF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53581"/>
            <a:ext cx="614680" cy="614680"/>
          </a:xfrm>
          <a:prstGeom prst="rect">
            <a:avLst/>
          </a:prstGeom>
        </p:spPr>
      </p:pic>
      <p:sp>
        <p:nvSpPr>
          <p:cNvPr id="7" name="TextBox 6">
            <a:extLst>
              <a:ext uri="{FF2B5EF4-FFF2-40B4-BE49-F238E27FC236}">
                <a16:creationId xmlns:a16="http://schemas.microsoft.com/office/drawing/2014/main" id="{AEE21E37-5FC6-4C78-BF6E-3D31CEAB44A5}"/>
              </a:ext>
            </a:extLst>
          </p:cNvPr>
          <p:cNvSpPr txBox="1"/>
          <p:nvPr/>
        </p:nvSpPr>
        <p:spPr>
          <a:xfrm>
            <a:off x="1054100" y="553581"/>
            <a:ext cx="4927600" cy="553998"/>
          </a:xfrm>
          <a:prstGeom prst="rect">
            <a:avLst/>
          </a:prstGeom>
          <a:noFill/>
        </p:spPr>
        <p:txBody>
          <a:bodyPr wrap="square" rtlCol="0">
            <a:spAutoFit/>
          </a:bodyPr>
          <a:lstStyle/>
          <a:p>
            <a:r>
              <a:rPr lang="en-IN" sz="3000" b="1" dirty="0"/>
              <a:t>TECHNOLOGY STACK - I</a:t>
            </a:r>
          </a:p>
        </p:txBody>
      </p:sp>
      <p:graphicFrame>
        <p:nvGraphicFramePr>
          <p:cNvPr id="11" name="Table 10">
            <a:extLst>
              <a:ext uri="{FF2B5EF4-FFF2-40B4-BE49-F238E27FC236}">
                <a16:creationId xmlns:a16="http://schemas.microsoft.com/office/drawing/2014/main" id="{9634404A-E104-49D9-62D0-EBB00C8B4F93}"/>
              </a:ext>
            </a:extLst>
          </p:cNvPr>
          <p:cNvGraphicFramePr>
            <a:graphicFrameLocks noGrp="1"/>
          </p:cNvGraphicFramePr>
          <p:nvPr>
            <p:extLst>
              <p:ext uri="{D42A27DB-BD31-4B8C-83A1-F6EECF244321}">
                <p14:modId xmlns:p14="http://schemas.microsoft.com/office/powerpoint/2010/main" val="2720129295"/>
              </p:ext>
            </p:extLst>
          </p:nvPr>
        </p:nvGraphicFramePr>
        <p:xfrm>
          <a:off x="645160" y="1414237"/>
          <a:ext cx="11104878" cy="4830884"/>
        </p:xfrm>
        <a:graphic>
          <a:graphicData uri="http://schemas.openxmlformats.org/drawingml/2006/table">
            <a:tbl>
              <a:tblPr>
                <a:tableStyleId>{5C22544A-7EE6-4342-B048-85BDC9FD1C3A}</a:tableStyleId>
              </a:tblPr>
              <a:tblGrid>
                <a:gridCol w="3701626">
                  <a:extLst>
                    <a:ext uri="{9D8B030D-6E8A-4147-A177-3AD203B41FA5}">
                      <a16:colId xmlns:a16="http://schemas.microsoft.com/office/drawing/2014/main" val="1537170589"/>
                    </a:ext>
                  </a:extLst>
                </a:gridCol>
                <a:gridCol w="3701626">
                  <a:extLst>
                    <a:ext uri="{9D8B030D-6E8A-4147-A177-3AD203B41FA5}">
                      <a16:colId xmlns:a16="http://schemas.microsoft.com/office/drawing/2014/main" val="3403242174"/>
                    </a:ext>
                  </a:extLst>
                </a:gridCol>
                <a:gridCol w="3701626">
                  <a:extLst>
                    <a:ext uri="{9D8B030D-6E8A-4147-A177-3AD203B41FA5}">
                      <a16:colId xmlns:a16="http://schemas.microsoft.com/office/drawing/2014/main" val="1311243727"/>
                    </a:ext>
                  </a:extLst>
                </a:gridCol>
              </a:tblGrid>
              <a:tr h="334950">
                <a:tc>
                  <a:txBody>
                    <a:bodyPr/>
                    <a:lstStyle/>
                    <a:p>
                      <a:pPr>
                        <a:buNone/>
                      </a:pPr>
                      <a:r>
                        <a:rPr lang="en-IN" sz="1700" dirty="0"/>
                        <a:t>Category</a:t>
                      </a:r>
                    </a:p>
                  </a:txBody>
                  <a:tcPr marL="30096" marR="30096" marT="15048" marB="15048" anchor="ctr"/>
                </a:tc>
                <a:tc>
                  <a:txBody>
                    <a:bodyPr/>
                    <a:lstStyle/>
                    <a:p>
                      <a:pPr>
                        <a:buNone/>
                      </a:pPr>
                      <a:r>
                        <a:rPr lang="en-IN" sz="1700" dirty="0"/>
                        <a:t>Technology</a:t>
                      </a:r>
                    </a:p>
                  </a:txBody>
                  <a:tcPr marL="30096" marR="30096" marT="15048" marB="15048" anchor="ctr"/>
                </a:tc>
                <a:tc>
                  <a:txBody>
                    <a:bodyPr/>
                    <a:lstStyle/>
                    <a:p>
                      <a:pPr>
                        <a:buNone/>
                      </a:pPr>
                      <a:r>
                        <a:rPr lang="en-IN" sz="1700" dirty="0"/>
                        <a:t>Purpose</a:t>
                      </a:r>
                    </a:p>
                  </a:txBody>
                  <a:tcPr marL="30096" marR="30096" marT="15048" marB="15048" anchor="ctr"/>
                </a:tc>
                <a:extLst>
                  <a:ext uri="{0D108BD9-81ED-4DB2-BD59-A6C34878D82A}">
                    <a16:rowId xmlns:a16="http://schemas.microsoft.com/office/drawing/2014/main" val="4169363581"/>
                  </a:ext>
                </a:extLst>
              </a:tr>
              <a:tr h="935131">
                <a:tc>
                  <a:txBody>
                    <a:bodyPr/>
                    <a:lstStyle/>
                    <a:p>
                      <a:pPr>
                        <a:buNone/>
                      </a:pPr>
                      <a:r>
                        <a:rPr lang="en-IN" sz="1700"/>
                        <a:t>Data Source</a:t>
                      </a:r>
                    </a:p>
                  </a:txBody>
                  <a:tcPr marL="30096" marR="30096" marT="15048" marB="15048" anchor="ctr"/>
                </a:tc>
                <a:tc>
                  <a:txBody>
                    <a:bodyPr/>
                    <a:lstStyle/>
                    <a:p>
                      <a:pPr>
                        <a:buNone/>
                      </a:pPr>
                      <a:r>
                        <a:rPr lang="en-IN" sz="1700"/>
                        <a:t>CSV / Healthcare Transactional Data</a:t>
                      </a:r>
                    </a:p>
                  </a:txBody>
                  <a:tcPr marL="30096" marR="30096" marT="15048" marB="15048" anchor="ctr"/>
                </a:tc>
                <a:tc>
                  <a:txBody>
                    <a:bodyPr/>
                    <a:lstStyle/>
                    <a:p>
                      <a:pPr>
                        <a:buNone/>
                      </a:pPr>
                      <a:r>
                        <a:rPr lang="en-IN" sz="1700"/>
                        <a:t>Source data for patients, appointments, doctors, treatments, and billing</a:t>
                      </a:r>
                    </a:p>
                  </a:txBody>
                  <a:tcPr marL="30096" marR="30096" marT="15048" marB="15048" anchor="ctr"/>
                </a:tc>
                <a:extLst>
                  <a:ext uri="{0D108BD9-81ED-4DB2-BD59-A6C34878D82A}">
                    <a16:rowId xmlns:a16="http://schemas.microsoft.com/office/drawing/2014/main" val="1103781557"/>
                  </a:ext>
                </a:extLst>
              </a:tr>
              <a:tr h="635040">
                <a:tc>
                  <a:txBody>
                    <a:bodyPr/>
                    <a:lstStyle/>
                    <a:p>
                      <a:pPr>
                        <a:buNone/>
                      </a:pPr>
                      <a:r>
                        <a:rPr lang="en-IN" sz="1700" dirty="0"/>
                        <a:t>Data Engineering</a:t>
                      </a:r>
                    </a:p>
                  </a:txBody>
                  <a:tcPr marL="30096" marR="30096" marT="15048" marB="15048" anchor="ctr"/>
                </a:tc>
                <a:tc>
                  <a:txBody>
                    <a:bodyPr/>
                    <a:lstStyle/>
                    <a:p>
                      <a:pPr>
                        <a:buNone/>
                      </a:pPr>
                      <a:r>
                        <a:rPr lang="en-IN" sz="1700" dirty="0"/>
                        <a:t>Databricks</a:t>
                      </a:r>
                    </a:p>
                  </a:txBody>
                  <a:tcPr marL="30096" marR="30096" marT="15048" marB="15048" anchor="ctr"/>
                </a:tc>
                <a:tc>
                  <a:txBody>
                    <a:bodyPr/>
                    <a:lstStyle/>
                    <a:p>
                      <a:pPr>
                        <a:buNone/>
                      </a:pPr>
                      <a:r>
                        <a:rPr lang="en-IN" sz="1700" dirty="0"/>
                        <a:t>Data processing and analytics environment</a:t>
                      </a:r>
                    </a:p>
                  </a:txBody>
                  <a:tcPr marL="30096" marR="30096" marT="15048" marB="15048" anchor="ctr"/>
                </a:tc>
                <a:extLst>
                  <a:ext uri="{0D108BD9-81ED-4DB2-BD59-A6C34878D82A}">
                    <a16:rowId xmlns:a16="http://schemas.microsoft.com/office/drawing/2014/main" val="845258239"/>
                  </a:ext>
                </a:extLst>
              </a:tr>
              <a:tr h="935131">
                <a:tc>
                  <a:txBody>
                    <a:bodyPr/>
                    <a:lstStyle/>
                    <a:p>
                      <a:pPr>
                        <a:buNone/>
                      </a:pPr>
                      <a:r>
                        <a:rPr lang="en-IN" sz="1700" dirty="0"/>
                        <a:t>Programming</a:t>
                      </a:r>
                    </a:p>
                  </a:txBody>
                  <a:tcPr marL="30096" marR="30096" marT="15048" marB="15048" anchor="ctr"/>
                </a:tc>
                <a:tc>
                  <a:txBody>
                    <a:bodyPr/>
                    <a:lstStyle/>
                    <a:p>
                      <a:pPr>
                        <a:buNone/>
                      </a:pPr>
                      <a:r>
                        <a:rPr lang="en-IN" sz="1700"/>
                        <a:t>Python</a:t>
                      </a:r>
                    </a:p>
                  </a:txBody>
                  <a:tcPr marL="30096" marR="30096" marT="15048" marB="15048" anchor="ctr"/>
                </a:tc>
                <a:tc>
                  <a:txBody>
                    <a:bodyPr/>
                    <a:lstStyle/>
                    <a:p>
                      <a:pPr>
                        <a:buNone/>
                      </a:pPr>
                      <a:r>
                        <a:rPr lang="en-IN" sz="1700" dirty="0"/>
                        <a:t>Data analysis, preprocessing, machine learning, and application development</a:t>
                      </a:r>
                    </a:p>
                  </a:txBody>
                  <a:tcPr marL="30096" marR="30096" marT="15048" marB="15048" anchor="ctr"/>
                </a:tc>
                <a:extLst>
                  <a:ext uri="{0D108BD9-81ED-4DB2-BD59-A6C34878D82A}">
                    <a16:rowId xmlns:a16="http://schemas.microsoft.com/office/drawing/2014/main" val="3022297756"/>
                  </a:ext>
                </a:extLst>
              </a:tr>
              <a:tr h="635040">
                <a:tc>
                  <a:txBody>
                    <a:bodyPr/>
                    <a:lstStyle/>
                    <a:p>
                      <a:pPr>
                        <a:buNone/>
                      </a:pPr>
                      <a:r>
                        <a:rPr lang="en-IN" sz="1700"/>
                        <a:t>Data Analysis</a:t>
                      </a:r>
                    </a:p>
                  </a:txBody>
                  <a:tcPr marL="30096" marR="30096" marT="15048" marB="15048" anchor="ctr"/>
                </a:tc>
                <a:tc>
                  <a:txBody>
                    <a:bodyPr/>
                    <a:lstStyle/>
                    <a:p>
                      <a:pPr>
                        <a:buNone/>
                      </a:pPr>
                      <a:r>
                        <a:rPr lang="en-IN" sz="1700"/>
                        <a:t>Pandas, NumPy</a:t>
                      </a:r>
                    </a:p>
                  </a:txBody>
                  <a:tcPr marL="30096" marR="30096" marT="15048" marB="15048" anchor="ctr"/>
                </a:tc>
                <a:tc>
                  <a:txBody>
                    <a:bodyPr/>
                    <a:lstStyle/>
                    <a:p>
                      <a:pPr>
                        <a:buNone/>
                      </a:pPr>
                      <a:r>
                        <a:rPr lang="en-IN" sz="1700"/>
                        <a:t>Data manipulation, exploratory analysis, and calculations</a:t>
                      </a:r>
                    </a:p>
                  </a:txBody>
                  <a:tcPr marL="30096" marR="30096" marT="15048" marB="15048" anchor="ctr"/>
                </a:tc>
                <a:extLst>
                  <a:ext uri="{0D108BD9-81ED-4DB2-BD59-A6C34878D82A}">
                    <a16:rowId xmlns:a16="http://schemas.microsoft.com/office/drawing/2014/main" val="3028283691"/>
                  </a:ext>
                </a:extLst>
              </a:tr>
              <a:tr h="635040">
                <a:tc>
                  <a:txBody>
                    <a:bodyPr/>
                    <a:lstStyle/>
                    <a:p>
                      <a:pPr>
                        <a:buNone/>
                      </a:pPr>
                      <a:r>
                        <a:rPr lang="en-IN" sz="1700"/>
                        <a:t>SQL</a:t>
                      </a:r>
                    </a:p>
                  </a:txBody>
                  <a:tcPr marL="30096" marR="30096" marT="15048" marB="15048" anchor="ctr"/>
                </a:tc>
                <a:tc>
                  <a:txBody>
                    <a:bodyPr/>
                    <a:lstStyle/>
                    <a:p>
                      <a:pPr>
                        <a:buNone/>
                      </a:pPr>
                      <a:r>
                        <a:rPr lang="en-IN" sz="1700"/>
                        <a:t>SQL / Snowflake SQL</a:t>
                      </a:r>
                    </a:p>
                  </a:txBody>
                  <a:tcPr marL="30096" marR="30096" marT="15048" marB="15048" anchor="ctr"/>
                </a:tc>
                <a:tc>
                  <a:txBody>
                    <a:bodyPr/>
                    <a:lstStyle/>
                    <a:p>
                      <a:pPr>
                        <a:buNone/>
                      </a:pPr>
                      <a:r>
                        <a:rPr lang="en-IN" sz="1700"/>
                        <a:t>Data extraction, joins, aggregations, validation, and KPI calculations</a:t>
                      </a:r>
                    </a:p>
                  </a:txBody>
                  <a:tcPr marL="30096" marR="30096" marT="15048" marB="15048" anchor="ctr"/>
                </a:tc>
                <a:extLst>
                  <a:ext uri="{0D108BD9-81ED-4DB2-BD59-A6C34878D82A}">
                    <a16:rowId xmlns:a16="http://schemas.microsoft.com/office/drawing/2014/main" val="3457920518"/>
                  </a:ext>
                </a:extLst>
              </a:tr>
              <a:tr h="439350">
                <a:tc>
                  <a:txBody>
                    <a:bodyPr/>
                    <a:lstStyle/>
                    <a:p>
                      <a:pPr>
                        <a:buNone/>
                      </a:pPr>
                      <a:r>
                        <a:rPr lang="en-IN" sz="1700" dirty="0"/>
                        <a:t>ML Models</a:t>
                      </a:r>
                    </a:p>
                  </a:txBody>
                  <a:tcPr marL="30096" marR="30096" marT="15048" marB="15048" anchor="ctr"/>
                </a:tc>
                <a:tc>
                  <a:txBody>
                    <a:bodyPr/>
                    <a:lstStyle/>
                    <a:p>
                      <a:pPr>
                        <a:buNone/>
                      </a:pPr>
                      <a:r>
                        <a:rPr lang="en-IN" sz="1700"/>
                        <a:t>Logistic Regression, Random Forest</a:t>
                      </a:r>
                    </a:p>
                  </a:txBody>
                  <a:tcPr marL="30096" marR="30096" marT="15048" marB="15048" anchor="ctr"/>
                </a:tc>
                <a:tc>
                  <a:txBody>
                    <a:bodyPr/>
                    <a:lstStyle/>
                    <a:p>
                      <a:pPr>
                        <a:buNone/>
                      </a:pPr>
                      <a:r>
                        <a:rPr lang="en-IN" sz="1700" dirty="0"/>
                        <a:t>Classification and predictive modelling</a:t>
                      </a:r>
                    </a:p>
                  </a:txBody>
                  <a:tcPr marL="30096" marR="30096" marT="15048" marB="15048" anchor="ctr"/>
                </a:tc>
                <a:extLst>
                  <a:ext uri="{0D108BD9-81ED-4DB2-BD59-A6C34878D82A}">
                    <a16:rowId xmlns:a16="http://schemas.microsoft.com/office/drawing/2014/main" val="740061060"/>
                  </a:ext>
                </a:extLst>
              </a:tr>
            </a:tbl>
          </a:graphicData>
        </a:graphic>
      </p:graphicFrame>
      <p:cxnSp>
        <p:nvCxnSpPr>
          <p:cNvPr id="13" name="Straight Connector 12">
            <a:extLst>
              <a:ext uri="{FF2B5EF4-FFF2-40B4-BE49-F238E27FC236}">
                <a16:creationId xmlns:a16="http://schemas.microsoft.com/office/drawing/2014/main" id="{52219429-40EF-F219-F569-809E32EAD9A2}"/>
              </a:ext>
            </a:extLst>
          </p:cNvPr>
          <p:cNvCxnSpPr>
            <a:cxnSpLocks/>
          </p:cNvCxnSpPr>
          <p:nvPr/>
        </p:nvCxnSpPr>
        <p:spPr>
          <a:xfrm>
            <a:off x="645160" y="1414237"/>
            <a:ext cx="0" cy="4830884"/>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6BD60BA-4DAE-52D8-7287-1B42CD76EE3E}"/>
              </a:ext>
            </a:extLst>
          </p:cNvPr>
          <p:cNvCxnSpPr/>
          <p:nvPr/>
        </p:nvCxnSpPr>
        <p:spPr>
          <a:xfrm>
            <a:off x="4323080" y="1414237"/>
            <a:ext cx="0" cy="4658588"/>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249B5C5-49BA-CAB2-FCDA-5A8971F14938}"/>
              </a:ext>
            </a:extLst>
          </p:cNvPr>
          <p:cNvCxnSpPr/>
          <p:nvPr/>
        </p:nvCxnSpPr>
        <p:spPr>
          <a:xfrm>
            <a:off x="8051800" y="1414237"/>
            <a:ext cx="0" cy="465858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F5E6AB2-48F1-1D76-8B20-E2E48965A8A8}"/>
              </a:ext>
            </a:extLst>
          </p:cNvPr>
          <p:cNvCxnSpPr>
            <a:cxnSpLocks/>
          </p:cNvCxnSpPr>
          <p:nvPr/>
        </p:nvCxnSpPr>
        <p:spPr>
          <a:xfrm>
            <a:off x="11724638" y="1414237"/>
            <a:ext cx="25400" cy="4830884"/>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7ED8A82-1DFC-3B40-A4E3-89212D2915AB}"/>
              </a:ext>
            </a:extLst>
          </p:cNvPr>
          <p:cNvCxnSpPr/>
          <p:nvPr/>
        </p:nvCxnSpPr>
        <p:spPr>
          <a:xfrm>
            <a:off x="645160" y="141423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3C0E477C-C7E9-4D2C-A79E-F3BCCC956DD0}"/>
              </a:ext>
            </a:extLst>
          </p:cNvPr>
          <p:cNvCxnSpPr/>
          <p:nvPr/>
        </p:nvCxnSpPr>
        <p:spPr>
          <a:xfrm>
            <a:off x="645160" y="172919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BB305B-84F6-8EEF-DD03-71990A5DD120}"/>
              </a:ext>
            </a:extLst>
          </p:cNvPr>
          <p:cNvCxnSpPr/>
          <p:nvPr/>
        </p:nvCxnSpPr>
        <p:spPr>
          <a:xfrm>
            <a:off x="645160" y="268423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AB1525D-EDFB-7D61-42D6-92451E89C0E4}"/>
              </a:ext>
            </a:extLst>
          </p:cNvPr>
          <p:cNvCxnSpPr/>
          <p:nvPr/>
        </p:nvCxnSpPr>
        <p:spPr>
          <a:xfrm>
            <a:off x="645160" y="335479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B0FA277-CD04-3CC9-FA02-612D871257E8}"/>
              </a:ext>
            </a:extLst>
          </p:cNvPr>
          <p:cNvCxnSpPr/>
          <p:nvPr/>
        </p:nvCxnSpPr>
        <p:spPr>
          <a:xfrm>
            <a:off x="645160" y="423871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65DC181D-A5E3-49CB-69C1-D31EF9303A8A}"/>
              </a:ext>
            </a:extLst>
          </p:cNvPr>
          <p:cNvCxnSpPr/>
          <p:nvPr/>
        </p:nvCxnSpPr>
        <p:spPr>
          <a:xfrm>
            <a:off x="645160" y="487879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2FFF3F00-44B5-8B31-EA5F-944F6707A20C}"/>
              </a:ext>
            </a:extLst>
          </p:cNvPr>
          <p:cNvCxnSpPr/>
          <p:nvPr/>
        </p:nvCxnSpPr>
        <p:spPr>
          <a:xfrm>
            <a:off x="670560" y="569159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2CB1F0DA-8DDD-19BE-1833-70E2523D9B82}"/>
              </a:ext>
            </a:extLst>
          </p:cNvPr>
          <p:cNvCxnSpPr/>
          <p:nvPr/>
        </p:nvCxnSpPr>
        <p:spPr>
          <a:xfrm>
            <a:off x="645160" y="6245121"/>
            <a:ext cx="11079478"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8811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8B2B351-5E8F-E0FB-735D-CE7F8F446F83}"/>
              </a:ext>
            </a:extLst>
          </p:cNvPr>
          <p:cNvGraphicFramePr>
            <a:graphicFrameLocks noGrp="1"/>
          </p:cNvGraphicFramePr>
          <p:nvPr>
            <p:extLst>
              <p:ext uri="{D42A27DB-BD31-4B8C-83A1-F6EECF244321}">
                <p14:modId xmlns:p14="http://schemas.microsoft.com/office/powerpoint/2010/main" val="3466338862"/>
              </p:ext>
            </p:extLst>
          </p:nvPr>
        </p:nvGraphicFramePr>
        <p:xfrm>
          <a:off x="655321" y="1692798"/>
          <a:ext cx="11104878" cy="3752216"/>
        </p:xfrm>
        <a:graphic>
          <a:graphicData uri="http://schemas.openxmlformats.org/drawingml/2006/table">
            <a:tbl>
              <a:tblPr>
                <a:tableStyleId>{5C22544A-7EE6-4342-B048-85BDC9FD1C3A}</a:tableStyleId>
              </a:tblPr>
              <a:tblGrid>
                <a:gridCol w="3701626">
                  <a:extLst>
                    <a:ext uri="{9D8B030D-6E8A-4147-A177-3AD203B41FA5}">
                      <a16:colId xmlns:a16="http://schemas.microsoft.com/office/drawing/2014/main" val="4278588588"/>
                    </a:ext>
                  </a:extLst>
                </a:gridCol>
                <a:gridCol w="3701626">
                  <a:extLst>
                    <a:ext uri="{9D8B030D-6E8A-4147-A177-3AD203B41FA5}">
                      <a16:colId xmlns:a16="http://schemas.microsoft.com/office/drawing/2014/main" val="2533523685"/>
                    </a:ext>
                  </a:extLst>
                </a:gridCol>
                <a:gridCol w="3701626">
                  <a:extLst>
                    <a:ext uri="{9D8B030D-6E8A-4147-A177-3AD203B41FA5}">
                      <a16:colId xmlns:a16="http://schemas.microsoft.com/office/drawing/2014/main" val="1847043830"/>
                    </a:ext>
                  </a:extLst>
                </a:gridCol>
              </a:tblGrid>
              <a:tr h="938054">
                <a:tc>
                  <a:txBody>
                    <a:bodyPr/>
                    <a:lstStyle/>
                    <a:p>
                      <a:pPr>
                        <a:buNone/>
                      </a:pPr>
                      <a:r>
                        <a:rPr lang="en-IN" sz="1700" dirty="0"/>
                        <a:t>Visualization</a:t>
                      </a:r>
                    </a:p>
                  </a:txBody>
                  <a:tcPr marL="30096" marR="30096" marT="15048" marB="15048" anchor="ctr"/>
                </a:tc>
                <a:tc>
                  <a:txBody>
                    <a:bodyPr/>
                    <a:lstStyle/>
                    <a:p>
                      <a:pPr>
                        <a:buNone/>
                      </a:pPr>
                      <a:r>
                        <a:rPr lang="en-IN" sz="1700" dirty="0"/>
                        <a:t>Power BI</a:t>
                      </a:r>
                    </a:p>
                  </a:txBody>
                  <a:tcPr marL="30096" marR="30096" marT="15048" marB="15048" anchor="ctr"/>
                </a:tc>
                <a:tc>
                  <a:txBody>
                    <a:bodyPr/>
                    <a:lstStyle/>
                    <a:p>
                      <a:pPr>
                        <a:buNone/>
                      </a:pPr>
                      <a:r>
                        <a:rPr lang="en-IN" sz="1700" dirty="0"/>
                        <a:t>Interactive dashboards, KPIs, drill-downs, and business reporting</a:t>
                      </a:r>
                    </a:p>
                  </a:txBody>
                  <a:tcPr marL="30096" marR="30096" marT="15048" marB="15048" anchor="ctr"/>
                </a:tc>
                <a:extLst>
                  <a:ext uri="{0D108BD9-81ED-4DB2-BD59-A6C34878D82A}">
                    <a16:rowId xmlns:a16="http://schemas.microsoft.com/office/drawing/2014/main" val="2440552147"/>
                  </a:ext>
                </a:extLst>
              </a:tr>
              <a:tr h="938054">
                <a:tc>
                  <a:txBody>
                    <a:bodyPr/>
                    <a:lstStyle/>
                    <a:p>
                      <a:pPr>
                        <a:buNone/>
                      </a:pPr>
                      <a:r>
                        <a:rPr lang="en-IN" sz="1700"/>
                        <a:t>BI Calculations</a:t>
                      </a:r>
                    </a:p>
                  </a:txBody>
                  <a:tcPr marL="30096" marR="30096" marT="15048" marB="15048" anchor="ctr"/>
                </a:tc>
                <a:tc>
                  <a:txBody>
                    <a:bodyPr/>
                    <a:lstStyle/>
                    <a:p>
                      <a:pPr>
                        <a:buNone/>
                      </a:pPr>
                      <a:r>
                        <a:rPr lang="en-IN" sz="1700"/>
                        <a:t>DAX</a:t>
                      </a:r>
                    </a:p>
                  </a:txBody>
                  <a:tcPr marL="30096" marR="30096" marT="15048" marB="15048" anchor="ctr"/>
                </a:tc>
                <a:tc>
                  <a:txBody>
                    <a:bodyPr/>
                    <a:lstStyle/>
                    <a:p>
                      <a:pPr>
                        <a:buNone/>
                      </a:pPr>
                      <a:r>
                        <a:rPr lang="en-IN" sz="1700" dirty="0"/>
                        <a:t>Measures, calculated columns, KPIs, and time/business calculations</a:t>
                      </a:r>
                    </a:p>
                  </a:txBody>
                  <a:tcPr marL="30096" marR="30096" marT="15048" marB="15048" anchor="ctr"/>
                </a:tc>
                <a:extLst>
                  <a:ext uri="{0D108BD9-81ED-4DB2-BD59-A6C34878D82A}">
                    <a16:rowId xmlns:a16="http://schemas.microsoft.com/office/drawing/2014/main" val="2342408013"/>
                  </a:ext>
                </a:extLst>
              </a:tr>
              <a:tr h="938054">
                <a:tc>
                  <a:txBody>
                    <a:bodyPr/>
                    <a:lstStyle/>
                    <a:p>
                      <a:pPr>
                        <a:buNone/>
                      </a:pPr>
                      <a:r>
                        <a:rPr lang="en-IN" sz="1700" dirty="0"/>
                        <a:t>Web Application</a:t>
                      </a:r>
                    </a:p>
                  </a:txBody>
                  <a:tcPr marL="30096" marR="30096" marT="15048" marB="15048" anchor="ctr"/>
                </a:tc>
                <a:tc>
                  <a:txBody>
                    <a:bodyPr/>
                    <a:lstStyle/>
                    <a:p>
                      <a:pPr>
                        <a:buNone/>
                      </a:pPr>
                      <a:r>
                        <a:rPr lang="en-IN" sz="1700"/>
                        <a:t>Streamlit</a:t>
                      </a:r>
                    </a:p>
                  </a:txBody>
                  <a:tcPr marL="30096" marR="30096" marT="15048" marB="15048" anchor="ctr"/>
                </a:tc>
                <a:tc>
                  <a:txBody>
                    <a:bodyPr/>
                    <a:lstStyle/>
                    <a:p>
                      <a:pPr>
                        <a:buNone/>
                      </a:pPr>
                      <a:r>
                        <a:rPr lang="en-IN" sz="1700" dirty="0"/>
                        <a:t>Interactive healthcare analytics and prediction application</a:t>
                      </a:r>
                    </a:p>
                  </a:txBody>
                  <a:tcPr marL="30096" marR="30096" marT="15048" marB="15048" anchor="ctr"/>
                </a:tc>
                <a:extLst>
                  <a:ext uri="{0D108BD9-81ED-4DB2-BD59-A6C34878D82A}">
                    <a16:rowId xmlns:a16="http://schemas.microsoft.com/office/drawing/2014/main" val="3890400216"/>
                  </a:ext>
                </a:extLst>
              </a:tr>
              <a:tr h="938054">
                <a:tc>
                  <a:txBody>
                    <a:bodyPr/>
                    <a:lstStyle/>
                    <a:p>
                      <a:pPr>
                        <a:buNone/>
                      </a:pPr>
                      <a:r>
                        <a:rPr lang="en-IN" sz="1700" dirty="0"/>
                        <a:t>Version Control</a:t>
                      </a:r>
                    </a:p>
                  </a:txBody>
                  <a:tcPr marL="30096" marR="30096" marT="15048" marB="15048" anchor="ctr"/>
                </a:tc>
                <a:tc>
                  <a:txBody>
                    <a:bodyPr/>
                    <a:lstStyle/>
                    <a:p>
                      <a:pPr>
                        <a:buNone/>
                      </a:pPr>
                      <a:r>
                        <a:rPr lang="en-IN" sz="1700"/>
                        <a:t>Git &amp; GitHub</a:t>
                      </a:r>
                    </a:p>
                  </a:txBody>
                  <a:tcPr marL="30096" marR="30096" marT="15048" marB="15048" anchor="ctr"/>
                </a:tc>
                <a:tc>
                  <a:txBody>
                    <a:bodyPr/>
                    <a:lstStyle/>
                    <a:p>
                      <a:pPr>
                        <a:buNone/>
                      </a:pPr>
                      <a:r>
                        <a:rPr lang="en-IN" sz="1700" dirty="0"/>
                        <a:t>Source-code management and project collaboration</a:t>
                      </a:r>
                    </a:p>
                  </a:txBody>
                  <a:tcPr marL="30096" marR="30096" marT="15048" marB="15048" anchor="ctr"/>
                </a:tc>
                <a:extLst>
                  <a:ext uri="{0D108BD9-81ED-4DB2-BD59-A6C34878D82A}">
                    <a16:rowId xmlns:a16="http://schemas.microsoft.com/office/drawing/2014/main" val="3089574896"/>
                  </a:ext>
                </a:extLst>
              </a:tr>
            </a:tbl>
          </a:graphicData>
        </a:graphic>
      </p:graphicFrame>
      <p:graphicFrame>
        <p:nvGraphicFramePr>
          <p:cNvPr id="3" name="Table 2">
            <a:extLst>
              <a:ext uri="{FF2B5EF4-FFF2-40B4-BE49-F238E27FC236}">
                <a16:creationId xmlns:a16="http://schemas.microsoft.com/office/drawing/2014/main" id="{DCB40F52-9BB2-4B2D-8B8F-43B483E2484B}"/>
              </a:ext>
            </a:extLst>
          </p:cNvPr>
          <p:cNvGraphicFramePr>
            <a:graphicFrameLocks noGrp="1"/>
          </p:cNvGraphicFramePr>
          <p:nvPr>
            <p:extLst>
              <p:ext uri="{D42A27DB-BD31-4B8C-83A1-F6EECF244321}">
                <p14:modId xmlns:p14="http://schemas.microsoft.com/office/powerpoint/2010/main" val="1518838968"/>
              </p:ext>
            </p:extLst>
          </p:nvPr>
        </p:nvGraphicFramePr>
        <p:xfrm>
          <a:off x="655321" y="1412986"/>
          <a:ext cx="11104878" cy="289176"/>
        </p:xfrm>
        <a:graphic>
          <a:graphicData uri="http://schemas.openxmlformats.org/drawingml/2006/table">
            <a:tbl>
              <a:tblPr>
                <a:tableStyleId>{5C22544A-7EE6-4342-B048-85BDC9FD1C3A}</a:tableStyleId>
              </a:tblPr>
              <a:tblGrid>
                <a:gridCol w="3701626">
                  <a:extLst>
                    <a:ext uri="{9D8B030D-6E8A-4147-A177-3AD203B41FA5}">
                      <a16:colId xmlns:a16="http://schemas.microsoft.com/office/drawing/2014/main" val="1215354585"/>
                    </a:ext>
                  </a:extLst>
                </a:gridCol>
                <a:gridCol w="3701626">
                  <a:extLst>
                    <a:ext uri="{9D8B030D-6E8A-4147-A177-3AD203B41FA5}">
                      <a16:colId xmlns:a16="http://schemas.microsoft.com/office/drawing/2014/main" val="3294287535"/>
                    </a:ext>
                  </a:extLst>
                </a:gridCol>
                <a:gridCol w="3701626">
                  <a:extLst>
                    <a:ext uri="{9D8B030D-6E8A-4147-A177-3AD203B41FA5}">
                      <a16:colId xmlns:a16="http://schemas.microsoft.com/office/drawing/2014/main" val="1743723676"/>
                    </a:ext>
                  </a:extLst>
                </a:gridCol>
              </a:tblGrid>
              <a:tr h="215909">
                <a:tc>
                  <a:txBody>
                    <a:bodyPr/>
                    <a:lstStyle/>
                    <a:p>
                      <a:pPr>
                        <a:buNone/>
                      </a:pPr>
                      <a:r>
                        <a:rPr lang="en-IN" sz="1700" dirty="0"/>
                        <a:t>Category</a:t>
                      </a:r>
                    </a:p>
                  </a:txBody>
                  <a:tcPr marL="30096" marR="30096" marT="15048" marB="15048" anchor="ctr"/>
                </a:tc>
                <a:tc>
                  <a:txBody>
                    <a:bodyPr/>
                    <a:lstStyle/>
                    <a:p>
                      <a:pPr>
                        <a:buNone/>
                      </a:pPr>
                      <a:r>
                        <a:rPr lang="en-IN" sz="1700" dirty="0"/>
                        <a:t>Technology</a:t>
                      </a:r>
                    </a:p>
                  </a:txBody>
                  <a:tcPr marL="30096" marR="30096" marT="15048" marB="15048" anchor="ctr"/>
                </a:tc>
                <a:tc>
                  <a:txBody>
                    <a:bodyPr/>
                    <a:lstStyle/>
                    <a:p>
                      <a:pPr>
                        <a:buNone/>
                      </a:pPr>
                      <a:r>
                        <a:rPr lang="en-IN" sz="1700" dirty="0"/>
                        <a:t>Purpose</a:t>
                      </a:r>
                    </a:p>
                  </a:txBody>
                  <a:tcPr marL="30096" marR="30096" marT="15048" marB="15048" anchor="ctr"/>
                </a:tc>
                <a:extLst>
                  <a:ext uri="{0D108BD9-81ED-4DB2-BD59-A6C34878D82A}">
                    <a16:rowId xmlns:a16="http://schemas.microsoft.com/office/drawing/2014/main" val="3410355049"/>
                  </a:ext>
                </a:extLst>
              </a:tr>
            </a:tbl>
          </a:graphicData>
        </a:graphic>
      </p:graphicFrame>
      <p:sp>
        <p:nvSpPr>
          <p:cNvPr id="5" name="TextBox 4">
            <a:extLst>
              <a:ext uri="{FF2B5EF4-FFF2-40B4-BE49-F238E27FC236}">
                <a16:creationId xmlns:a16="http://schemas.microsoft.com/office/drawing/2014/main" id="{5085D482-A4C3-7B03-68D8-D0ADEFFCC67D}"/>
              </a:ext>
            </a:extLst>
          </p:cNvPr>
          <p:cNvSpPr txBox="1"/>
          <p:nvPr/>
        </p:nvSpPr>
        <p:spPr>
          <a:xfrm>
            <a:off x="1054100" y="553581"/>
            <a:ext cx="4927600" cy="553998"/>
          </a:xfrm>
          <a:prstGeom prst="rect">
            <a:avLst/>
          </a:prstGeom>
          <a:noFill/>
        </p:spPr>
        <p:txBody>
          <a:bodyPr wrap="square" rtlCol="0">
            <a:spAutoFit/>
          </a:bodyPr>
          <a:lstStyle/>
          <a:p>
            <a:r>
              <a:rPr lang="en-IN" sz="3000" b="1" dirty="0"/>
              <a:t>TECHNOLOGY STACK - II</a:t>
            </a:r>
          </a:p>
        </p:txBody>
      </p:sp>
      <p:pic>
        <p:nvPicPr>
          <p:cNvPr id="7" name="Graphic 6" descr="Brain in head with solid fill">
            <a:extLst>
              <a:ext uri="{FF2B5EF4-FFF2-40B4-BE49-F238E27FC236}">
                <a16:creationId xmlns:a16="http://schemas.microsoft.com/office/drawing/2014/main" id="{8BCA5C88-A79B-9144-A154-6BE59E7320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53581"/>
            <a:ext cx="614680" cy="614680"/>
          </a:xfrm>
          <a:prstGeom prst="rect">
            <a:avLst/>
          </a:prstGeom>
        </p:spPr>
      </p:pic>
      <p:cxnSp>
        <p:nvCxnSpPr>
          <p:cNvPr id="8" name="Straight Connector 7">
            <a:extLst>
              <a:ext uri="{FF2B5EF4-FFF2-40B4-BE49-F238E27FC236}">
                <a16:creationId xmlns:a16="http://schemas.microsoft.com/office/drawing/2014/main" id="{2C2BA747-0871-72D2-037D-9862940DA7F0}"/>
              </a:ext>
            </a:extLst>
          </p:cNvPr>
          <p:cNvCxnSpPr>
            <a:cxnSpLocks/>
          </p:cNvCxnSpPr>
          <p:nvPr/>
        </p:nvCxnSpPr>
        <p:spPr>
          <a:xfrm>
            <a:off x="645160" y="1414237"/>
            <a:ext cx="10161" cy="403077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DA8E322-BA16-B949-1FC9-546EBF183356}"/>
              </a:ext>
            </a:extLst>
          </p:cNvPr>
          <p:cNvCxnSpPr>
            <a:cxnSpLocks/>
          </p:cNvCxnSpPr>
          <p:nvPr/>
        </p:nvCxnSpPr>
        <p:spPr>
          <a:xfrm>
            <a:off x="4353560" y="1414237"/>
            <a:ext cx="10161" cy="403077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1AD5D32-5141-6E5A-1695-DA64E6851470}"/>
              </a:ext>
            </a:extLst>
          </p:cNvPr>
          <p:cNvCxnSpPr>
            <a:cxnSpLocks/>
          </p:cNvCxnSpPr>
          <p:nvPr/>
        </p:nvCxnSpPr>
        <p:spPr>
          <a:xfrm>
            <a:off x="8046718" y="1414237"/>
            <a:ext cx="10161" cy="403077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E16C59D-EA15-D493-E5EC-2F3C72627819}"/>
              </a:ext>
            </a:extLst>
          </p:cNvPr>
          <p:cNvCxnSpPr>
            <a:cxnSpLocks/>
          </p:cNvCxnSpPr>
          <p:nvPr/>
        </p:nvCxnSpPr>
        <p:spPr>
          <a:xfrm>
            <a:off x="11729715" y="1414237"/>
            <a:ext cx="10161" cy="403077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27BFD62-9BD2-D76C-672C-DB20E308DBD6}"/>
              </a:ext>
            </a:extLst>
          </p:cNvPr>
          <p:cNvCxnSpPr/>
          <p:nvPr/>
        </p:nvCxnSpPr>
        <p:spPr>
          <a:xfrm>
            <a:off x="645160" y="141423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A8532F6-CAEF-5F76-AA14-6BFE11BA818F}"/>
              </a:ext>
            </a:extLst>
          </p:cNvPr>
          <p:cNvCxnSpPr/>
          <p:nvPr/>
        </p:nvCxnSpPr>
        <p:spPr>
          <a:xfrm>
            <a:off x="645160" y="1702162"/>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BCA6C38-42FA-DBDC-7EE3-224289317B34}"/>
              </a:ext>
            </a:extLst>
          </p:cNvPr>
          <p:cNvCxnSpPr/>
          <p:nvPr/>
        </p:nvCxnSpPr>
        <p:spPr>
          <a:xfrm>
            <a:off x="655321" y="263343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D25433B2-5456-A742-5136-5B205A65FD83}"/>
              </a:ext>
            </a:extLst>
          </p:cNvPr>
          <p:cNvCxnSpPr/>
          <p:nvPr/>
        </p:nvCxnSpPr>
        <p:spPr>
          <a:xfrm>
            <a:off x="645160" y="358847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B504368C-1942-CCDF-C02E-77B249201F98}"/>
              </a:ext>
            </a:extLst>
          </p:cNvPr>
          <p:cNvCxnSpPr/>
          <p:nvPr/>
        </p:nvCxnSpPr>
        <p:spPr>
          <a:xfrm>
            <a:off x="655321" y="4533357"/>
            <a:ext cx="11079478"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7D7F823-506D-3DFB-4064-2766E0C4A6CC}"/>
              </a:ext>
            </a:extLst>
          </p:cNvPr>
          <p:cNvCxnSpPr/>
          <p:nvPr/>
        </p:nvCxnSpPr>
        <p:spPr>
          <a:xfrm>
            <a:off x="655321" y="5426691"/>
            <a:ext cx="11079478"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14825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815942-8716-BFD7-37C4-8673C8769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0" y="1107578"/>
            <a:ext cx="10698480" cy="5465941"/>
          </a:xfrm>
          <a:prstGeom prst="rect">
            <a:avLst/>
          </a:prstGeom>
        </p:spPr>
      </p:pic>
      <p:pic>
        <p:nvPicPr>
          <p:cNvPr id="5" name="Graphic 4" descr="Brain in head with solid fill">
            <a:extLst>
              <a:ext uri="{FF2B5EF4-FFF2-40B4-BE49-F238E27FC236}">
                <a16:creationId xmlns:a16="http://schemas.microsoft.com/office/drawing/2014/main" id="{00F76366-0FF9-396E-6A39-E2B5E51B92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9420" y="492897"/>
            <a:ext cx="614680" cy="614680"/>
          </a:xfrm>
          <a:prstGeom prst="rect">
            <a:avLst/>
          </a:prstGeom>
        </p:spPr>
      </p:pic>
      <p:sp>
        <p:nvSpPr>
          <p:cNvPr id="7" name="TextBox 6">
            <a:extLst>
              <a:ext uri="{FF2B5EF4-FFF2-40B4-BE49-F238E27FC236}">
                <a16:creationId xmlns:a16="http://schemas.microsoft.com/office/drawing/2014/main" id="{174B888C-8F6B-2D1D-B995-94F06ED9771F}"/>
              </a:ext>
            </a:extLst>
          </p:cNvPr>
          <p:cNvSpPr txBox="1"/>
          <p:nvPr/>
        </p:nvSpPr>
        <p:spPr>
          <a:xfrm>
            <a:off x="1054100" y="553581"/>
            <a:ext cx="4927600" cy="553998"/>
          </a:xfrm>
          <a:prstGeom prst="rect">
            <a:avLst/>
          </a:prstGeom>
          <a:noFill/>
        </p:spPr>
        <p:txBody>
          <a:bodyPr wrap="square" rtlCol="0">
            <a:spAutoFit/>
          </a:bodyPr>
          <a:lstStyle/>
          <a:p>
            <a:r>
              <a:rPr lang="en-IN" sz="3000" b="1" dirty="0"/>
              <a:t>ER DIAGRAM</a:t>
            </a:r>
          </a:p>
        </p:txBody>
      </p:sp>
    </p:spTree>
    <p:extLst>
      <p:ext uri="{BB962C8B-B14F-4D97-AF65-F5344CB8AC3E}">
        <p14:creationId xmlns:p14="http://schemas.microsoft.com/office/powerpoint/2010/main" val="831057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F5D448D-596B-4CC0-E6E6-F9238FE1AE5E}"/>
              </a:ext>
            </a:extLst>
          </p:cNvPr>
          <p:cNvGraphicFramePr>
            <a:graphicFrameLocks noGrp="1"/>
          </p:cNvGraphicFramePr>
          <p:nvPr>
            <p:extLst>
              <p:ext uri="{D42A27DB-BD31-4B8C-83A1-F6EECF244321}">
                <p14:modId xmlns:p14="http://schemas.microsoft.com/office/powerpoint/2010/main" val="4282675650"/>
              </p:ext>
            </p:extLst>
          </p:nvPr>
        </p:nvGraphicFramePr>
        <p:xfrm>
          <a:off x="924560" y="1367260"/>
          <a:ext cx="10495281" cy="5273148"/>
        </p:xfrm>
        <a:graphic>
          <a:graphicData uri="http://schemas.openxmlformats.org/drawingml/2006/table">
            <a:tbl>
              <a:tblPr>
                <a:tableStyleId>{5C22544A-7EE6-4342-B048-85BDC9FD1C3A}</a:tableStyleId>
              </a:tblPr>
              <a:tblGrid>
                <a:gridCol w="3498427">
                  <a:extLst>
                    <a:ext uri="{9D8B030D-6E8A-4147-A177-3AD203B41FA5}">
                      <a16:colId xmlns:a16="http://schemas.microsoft.com/office/drawing/2014/main" val="437901655"/>
                    </a:ext>
                  </a:extLst>
                </a:gridCol>
                <a:gridCol w="3498427">
                  <a:extLst>
                    <a:ext uri="{9D8B030D-6E8A-4147-A177-3AD203B41FA5}">
                      <a16:colId xmlns:a16="http://schemas.microsoft.com/office/drawing/2014/main" val="2516621197"/>
                    </a:ext>
                  </a:extLst>
                </a:gridCol>
                <a:gridCol w="3498427">
                  <a:extLst>
                    <a:ext uri="{9D8B030D-6E8A-4147-A177-3AD203B41FA5}">
                      <a16:colId xmlns:a16="http://schemas.microsoft.com/office/drawing/2014/main" val="2833027891"/>
                    </a:ext>
                  </a:extLst>
                </a:gridCol>
              </a:tblGrid>
              <a:tr h="240289">
                <a:tc>
                  <a:txBody>
                    <a:bodyPr/>
                    <a:lstStyle/>
                    <a:p>
                      <a:pPr>
                        <a:buNone/>
                      </a:pPr>
                      <a:r>
                        <a:rPr lang="en-IN" sz="1700"/>
                        <a:t>Table</a:t>
                      </a:r>
                    </a:p>
                  </a:txBody>
                  <a:tcPr marL="58439" marR="58439" marT="29219" marB="29219" anchor="ctr"/>
                </a:tc>
                <a:tc>
                  <a:txBody>
                    <a:bodyPr/>
                    <a:lstStyle/>
                    <a:p>
                      <a:pPr>
                        <a:buNone/>
                      </a:pPr>
                      <a:r>
                        <a:rPr lang="en-IN" sz="1700"/>
                        <a:t>Key Columns</a:t>
                      </a:r>
                    </a:p>
                  </a:txBody>
                  <a:tcPr marL="58439" marR="58439" marT="29219" marB="29219" anchor="ctr"/>
                </a:tc>
                <a:tc>
                  <a:txBody>
                    <a:bodyPr/>
                    <a:lstStyle/>
                    <a:p>
                      <a:pPr>
                        <a:buNone/>
                      </a:pPr>
                      <a:r>
                        <a:rPr lang="en-IN" sz="1700"/>
                        <a:t>Purpose</a:t>
                      </a:r>
                    </a:p>
                  </a:txBody>
                  <a:tcPr marL="58439" marR="58439" marT="29219" marB="29219" anchor="ctr"/>
                </a:tc>
                <a:extLst>
                  <a:ext uri="{0D108BD9-81ED-4DB2-BD59-A6C34878D82A}">
                    <a16:rowId xmlns:a16="http://schemas.microsoft.com/office/drawing/2014/main" val="927159849"/>
                  </a:ext>
                </a:extLst>
              </a:tr>
              <a:tr h="785840">
                <a:tc>
                  <a:txBody>
                    <a:bodyPr/>
                    <a:lstStyle/>
                    <a:p>
                      <a:pPr>
                        <a:buNone/>
                      </a:pPr>
                      <a:r>
                        <a:rPr lang="en-IN" sz="1700" dirty="0"/>
                        <a:t>Patients</a:t>
                      </a:r>
                    </a:p>
                  </a:txBody>
                  <a:tcPr marL="58439" marR="58439" marT="29219" marB="29219" anchor="ctr"/>
                </a:tc>
                <a:tc>
                  <a:txBody>
                    <a:bodyPr/>
                    <a:lstStyle/>
                    <a:p>
                      <a:pPr>
                        <a:buNone/>
                      </a:pPr>
                      <a:r>
                        <a:rPr lang="en-IN" sz="1700"/>
                        <a:t>patient_id (PK), gender, date_of_birth, registration_date, insurance_provider</a:t>
                      </a:r>
                    </a:p>
                  </a:txBody>
                  <a:tcPr marL="58439" marR="58439" marT="29219" marB="29219" anchor="ctr"/>
                </a:tc>
                <a:tc>
                  <a:txBody>
                    <a:bodyPr/>
                    <a:lstStyle/>
                    <a:p>
                      <a:pPr>
                        <a:buNone/>
                      </a:pPr>
                      <a:r>
                        <a:rPr lang="en-IN" sz="1700"/>
                        <a:t>Stores patient demographic, registration and insurance information</a:t>
                      </a:r>
                    </a:p>
                  </a:txBody>
                  <a:tcPr marL="58439" marR="58439" marT="29219" marB="29219" anchor="ctr"/>
                </a:tc>
                <a:extLst>
                  <a:ext uri="{0D108BD9-81ED-4DB2-BD59-A6C34878D82A}">
                    <a16:rowId xmlns:a16="http://schemas.microsoft.com/office/drawing/2014/main" val="2560870091"/>
                  </a:ext>
                </a:extLst>
              </a:tr>
              <a:tr h="785840">
                <a:tc>
                  <a:txBody>
                    <a:bodyPr/>
                    <a:lstStyle/>
                    <a:p>
                      <a:pPr>
                        <a:buNone/>
                      </a:pPr>
                      <a:r>
                        <a:rPr lang="en-IN" sz="1700"/>
                        <a:t>Doctors</a:t>
                      </a:r>
                    </a:p>
                  </a:txBody>
                  <a:tcPr marL="58439" marR="58439" marT="29219" marB="29219" anchor="ctr"/>
                </a:tc>
                <a:tc>
                  <a:txBody>
                    <a:bodyPr/>
                    <a:lstStyle/>
                    <a:p>
                      <a:pPr>
                        <a:buNone/>
                      </a:pPr>
                      <a:r>
                        <a:rPr lang="en-IN" sz="1700"/>
                        <a:t>doctor_id (PK), specialization, years_experience, hospital_branch</a:t>
                      </a:r>
                    </a:p>
                  </a:txBody>
                  <a:tcPr marL="58439" marR="58439" marT="29219" marB="29219" anchor="ctr"/>
                </a:tc>
                <a:tc>
                  <a:txBody>
                    <a:bodyPr/>
                    <a:lstStyle/>
                    <a:p>
                      <a:pPr>
                        <a:buNone/>
                      </a:pPr>
                      <a:r>
                        <a:rPr lang="en-IN" sz="1700"/>
                        <a:t>Stores doctor profile, specialization and experience details</a:t>
                      </a:r>
                    </a:p>
                  </a:txBody>
                  <a:tcPr marL="58439" marR="58439" marT="29219" marB="29219" anchor="ctr"/>
                </a:tc>
                <a:extLst>
                  <a:ext uri="{0D108BD9-81ED-4DB2-BD59-A6C34878D82A}">
                    <a16:rowId xmlns:a16="http://schemas.microsoft.com/office/drawing/2014/main" val="3329759803"/>
                  </a:ext>
                </a:extLst>
              </a:tr>
              <a:tr h="967690">
                <a:tc>
                  <a:txBody>
                    <a:bodyPr/>
                    <a:lstStyle/>
                    <a:p>
                      <a:pPr>
                        <a:buNone/>
                      </a:pPr>
                      <a:r>
                        <a:rPr lang="en-IN" sz="1700"/>
                        <a:t>Appointments</a:t>
                      </a:r>
                    </a:p>
                  </a:txBody>
                  <a:tcPr marL="58439" marR="58439" marT="29219" marB="29219" anchor="ctr"/>
                </a:tc>
                <a:tc>
                  <a:txBody>
                    <a:bodyPr/>
                    <a:lstStyle/>
                    <a:p>
                      <a:pPr>
                        <a:buNone/>
                      </a:pPr>
                      <a:r>
                        <a:rPr lang="en-IN" sz="1700"/>
                        <a:t>appointment_id (PK), patient_id (FK), doctor_id (FK), appointment_date, appointment_time, status</a:t>
                      </a:r>
                    </a:p>
                  </a:txBody>
                  <a:tcPr marL="58439" marR="58439" marT="29219" marB="29219" anchor="ctr"/>
                </a:tc>
                <a:tc>
                  <a:txBody>
                    <a:bodyPr/>
                    <a:lstStyle/>
                    <a:p>
                      <a:pPr>
                        <a:buNone/>
                      </a:pPr>
                      <a:r>
                        <a:rPr lang="en-IN" sz="1700"/>
                        <a:t>Records patient appointments and their outcomes</a:t>
                      </a:r>
                    </a:p>
                  </a:txBody>
                  <a:tcPr marL="58439" marR="58439" marT="29219" marB="29219" anchor="ctr"/>
                </a:tc>
                <a:extLst>
                  <a:ext uri="{0D108BD9-81ED-4DB2-BD59-A6C34878D82A}">
                    <a16:rowId xmlns:a16="http://schemas.microsoft.com/office/drawing/2014/main" val="1155433597"/>
                  </a:ext>
                </a:extLst>
              </a:tr>
              <a:tr h="785840">
                <a:tc>
                  <a:txBody>
                    <a:bodyPr/>
                    <a:lstStyle/>
                    <a:p>
                      <a:pPr>
                        <a:buNone/>
                      </a:pPr>
                      <a:r>
                        <a:rPr lang="en-IN" sz="1700"/>
                        <a:t>Treatments</a:t>
                      </a:r>
                    </a:p>
                  </a:txBody>
                  <a:tcPr marL="58439" marR="58439" marT="29219" marB="29219" anchor="ctr"/>
                </a:tc>
                <a:tc>
                  <a:txBody>
                    <a:bodyPr/>
                    <a:lstStyle/>
                    <a:p>
                      <a:pPr>
                        <a:buNone/>
                      </a:pPr>
                      <a:r>
                        <a:rPr lang="en-IN" sz="1700"/>
                        <a:t>treatment_id (PK), appointment_id (FK), treatment_type, cost, treatment_date</a:t>
                      </a:r>
                    </a:p>
                  </a:txBody>
                  <a:tcPr marL="58439" marR="58439" marT="29219" marB="29219" anchor="ctr"/>
                </a:tc>
                <a:tc>
                  <a:txBody>
                    <a:bodyPr/>
                    <a:lstStyle/>
                    <a:p>
                      <a:pPr>
                        <a:buNone/>
                      </a:pPr>
                      <a:r>
                        <a:rPr lang="en-IN" sz="1700"/>
                        <a:t>Records treatments provided during appointments</a:t>
                      </a:r>
                    </a:p>
                  </a:txBody>
                  <a:tcPr marL="58439" marR="58439" marT="29219" marB="29219" anchor="ctr"/>
                </a:tc>
                <a:extLst>
                  <a:ext uri="{0D108BD9-81ED-4DB2-BD59-A6C34878D82A}">
                    <a16:rowId xmlns:a16="http://schemas.microsoft.com/office/drawing/2014/main" val="2239924464"/>
                  </a:ext>
                </a:extLst>
              </a:tr>
              <a:tr h="785840">
                <a:tc>
                  <a:txBody>
                    <a:bodyPr/>
                    <a:lstStyle/>
                    <a:p>
                      <a:pPr>
                        <a:buNone/>
                      </a:pPr>
                      <a:r>
                        <a:rPr lang="en-IN" sz="1700"/>
                        <a:t>Billing</a:t>
                      </a:r>
                    </a:p>
                  </a:txBody>
                  <a:tcPr marL="58439" marR="58439" marT="29219" marB="29219" anchor="ctr"/>
                </a:tc>
                <a:tc>
                  <a:txBody>
                    <a:bodyPr/>
                    <a:lstStyle/>
                    <a:p>
                      <a:pPr>
                        <a:buNone/>
                      </a:pPr>
                      <a:r>
                        <a:rPr lang="en-IN" sz="1700"/>
                        <a:t>bill_id (PK), patient_id (FK), treatment_id (FK), amount, payment_method, payment_status</a:t>
                      </a:r>
                    </a:p>
                  </a:txBody>
                  <a:tcPr marL="58439" marR="58439" marT="29219" marB="29219" anchor="ctr"/>
                </a:tc>
                <a:tc>
                  <a:txBody>
                    <a:bodyPr/>
                    <a:lstStyle/>
                    <a:p>
                      <a:pPr>
                        <a:buNone/>
                      </a:pPr>
                      <a:r>
                        <a:rPr lang="en-IN" sz="1700" dirty="0"/>
                        <a:t>Tracks treatment-related billing and payment information</a:t>
                      </a:r>
                    </a:p>
                  </a:txBody>
                  <a:tcPr marL="58439" marR="58439" marT="29219" marB="29219" anchor="ctr"/>
                </a:tc>
                <a:extLst>
                  <a:ext uri="{0D108BD9-81ED-4DB2-BD59-A6C34878D82A}">
                    <a16:rowId xmlns:a16="http://schemas.microsoft.com/office/drawing/2014/main" val="1027296827"/>
                  </a:ext>
                </a:extLst>
              </a:tr>
            </a:tbl>
          </a:graphicData>
        </a:graphic>
      </p:graphicFrame>
      <p:cxnSp>
        <p:nvCxnSpPr>
          <p:cNvPr id="4" name="Straight Connector 3">
            <a:extLst>
              <a:ext uri="{FF2B5EF4-FFF2-40B4-BE49-F238E27FC236}">
                <a16:creationId xmlns:a16="http://schemas.microsoft.com/office/drawing/2014/main" id="{FC2313C2-3A64-15A9-DC3D-47D2458405AF}"/>
              </a:ext>
            </a:extLst>
          </p:cNvPr>
          <p:cNvCxnSpPr>
            <a:cxnSpLocks/>
          </p:cNvCxnSpPr>
          <p:nvPr/>
        </p:nvCxnSpPr>
        <p:spPr>
          <a:xfrm>
            <a:off x="944880" y="1676400"/>
            <a:ext cx="10485121"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13403548-7A2C-9F4F-B993-166B964B4818}"/>
              </a:ext>
            </a:extLst>
          </p:cNvPr>
          <p:cNvCxnSpPr/>
          <p:nvPr/>
        </p:nvCxnSpPr>
        <p:spPr>
          <a:xfrm>
            <a:off x="924560" y="2529840"/>
            <a:ext cx="10495281"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3FDB8D28-E608-5803-BBFA-24F4CDF0B6E5}"/>
              </a:ext>
            </a:extLst>
          </p:cNvPr>
          <p:cNvCxnSpPr/>
          <p:nvPr/>
        </p:nvCxnSpPr>
        <p:spPr>
          <a:xfrm>
            <a:off x="924560" y="3302000"/>
            <a:ext cx="10495281"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AC81AC5-A821-2D08-F95A-A98C0AA4C22C}"/>
              </a:ext>
            </a:extLst>
          </p:cNvPr>
          <p:cNvCxnSpPr/>
          <p:nvPr/>
        </p:nvCxnSpPr>
        <p:spPr>
          <a:xfrm>
            <a:off x="924560" y="4419600"/>
            <a:ext cx="10495281"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EFB09D0E-C026-F4E1-6B7B-1193984AFB0E}"/>
              </a:ext>
            </a:extLst>
          </p:cNvPr>
          <p:cNvCxnSpPr/>
          <p:nvPr/>
        </p:nvCxnSpPr>
        <p:spPr>
          <a:xfrm>
            <a:off x="934720" y="5557520"/>
            <a:ext cx="10495281"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CC9D503-627B-2789-2777-BA1B3EE2355C}"/>
              </a:ext>
            </a:extLst>
          </p:cNvPr>
          <p:cNvCxnSpPr>
            <a:cxnSpLocks/>
          </p:cNvCxnSpPr>
          <p:nvPr/>
        </p:nvCxnSpPr>
        <p:spPr>
          <a:xfrm>
            <a:off x="914400" y="1367260"/>
            <a:ext cx="0" cy="5279586"/>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920D243-0293-33B0-889B-49688357F877}"/>
              </a:ext>
            </a:extLst>
          </p:cNvPr>
          <p:cNvCxnSpPr/>
          <p:nvPr/>
        </p:nvCxnSpPr>
        <p:spPr>
          <a:xfrm>
            <a:off x="944880" y="6646846"/>
            <a:ext cx="10495281"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9D9891F-551D-0760-AB31-CBADBF20A496}"/>
              </a:ext>
            </a:extLst>
          </p:cNvPr>
          <p:cNvCxnSpPr/>
          <p:nvPr/>
        </p:nvCxnSpPr>
        <p:spPr>
          <a:xfrm>
            <a:off x="924560" y="1367260"/>
            <a:ext cx="10495281"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42D919A-7EC5-AEF5-8A3A-4994D4A4076E}"/>
              </a:ext>
            </a:extLst>
          </p:cNvPr>
          <p:cNvCxnSpPr>
            <a:cxnSpLocks/>
          </p:cNvCxnSpPr>
          <p:nvPr/>
        </p:nvCxnSpPr>
        <p:spPr>
          <a:xfrm>
            <a:off x="4439920" y="1367260"/>
            <a:ext cx="0" cy="470469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308820B-B5DF-1134-B3B9-7689D1A2B70A}"/>
              </a:ext>
            </a:extLst>
          </p:cNvPr>
          <p:cNvCxnSpPr>
            <a:cxnSpLocks/>
          </p:cNvCxnSpPr>
          <p:nvPr/>
        </p:nvCxnSpPr>
        <p:spPr>
          <a:xfrm>
            <a:off x="7934960" y="1367260"/>
            <a:ext cx="0" cy="470469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DBEA6623-B28C-A624-C5DD-9F8060232D46}"/>
              </a:ext>
            </a:extLst>
          </p:cNvPr>
          <p:cNvCxnSpPr>
            <a:cxnSpLocks/>
          </p:cNvCxnSpPr>
          <p:nvPr/>
        </p:nvCxnSpPr>
        <p:spPr>
          <a:xfrm>
            <a:off x="11430001" y="1367260"/>
            <a:ext cx="10160" cy="5279586"/>
          </a:xfrm>
          <a:prstGeom prst="line">
            <a:avLst/>
          </a:prstGeom>
        </p:spPr>
        <p:style>
          <a:lnRef idx="1">
            <a:schemeClr val="dk1"/>
          </a:lnRef>
          <a:fillRef idx="0">
            <a:schemeClr val="dk1"/>
          </a:fillRef>
          <a:effectRef idx="0">
            <a:schemeClr val="dk1"/>
          </a:effectRef>
          <a:fontRef idx="minor">
            <a:schemeClr val="tx1"/>
          </a:fontRef>
        </p:style>
      </p:cxnSp>
      <p:pic>
        <p:nvPicPr>
          <p:cNvPr id="19" name="Graphic 18" descr="Brain in head with solid fill">
            <a:extLst>
              <a:ext uri="{FF2B5EF4-FFF2-40B4-BE49-F238E27FC236}">
                <a16:creationId xmlns:a16="http://schemas.microsoft.com/office/drawing/2014/main" id="{F78AFCD0-06AF-224C-0588-2390EE9D7BF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21" name="TextBox 20">
            <a:extLst>
              <a:ext uri="{FF2B5EF4-FFF2-40B4-BE49-F238E27FC236}">
                <a16:creationId xmlns:a16="http://schemas.microsoft.com/office/drawing/2014/main" id="{75CA290C-BD32-206E-896E-78F1F4AF2DF0}"/>
              </a:ext>
            </a:extLst>
          </p:cNvPr>
          <p:cNvSpPr txBox="1"/>
          <p:nvPr/>
        </p:nvSpPr>
        <p:spPr>
          <a:xfrm>
            <a:off x="1054100" y="553581"/>
            <a:ext cx="4927600" cy="553998"/>
          </a:xfrm>
          <a:prstGeom prst="rect">
            <a:avLst/>
          </a:prstGeom>
          <a:noFill/>
        </p:spPr>
        <p:txBody>
          <a:bodyPr wrap="square" rtlCol="0">
            <a:spAutoFit/>
          </a:bodyPr>
          <a:lstStyle/>
          <a:p>
            <a:r>
              <a:rPr lang="en-IN" sz="3000" b="1" dirty="0"/>
              <a:t>DATA DICTIONARY</a:t>
            </a:r>
          </a:p>
        </p:txBody>
      </p:sp>
    </p:spTree>
    <p:extLst>
      <p:ext uri="{BB962C8B-B14F-4D97-AF65-F5344CB8AC3E}">
        <p14:creationId xmlns:p14="http://schemas.microsoft.com/office/powerpoint/2010/main" val="3752104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46D22F-2FEC-2761-0432-F3A9EC157ADD}"/>
              </a:ext>
            </a:extLst>
          </p:cNvPr>
          <p:cNvSpPr txBox="1"/>
          <p:nvPr/>
        </p:nvSpPr>
        <p:spPr>
          <a:xfrm>
            <a:off x="1054100" y="553581"/>
            <a:ext cx="4927600" cy="553998"/>
          </a:xfrm>
          <a:prstGeom prst="rect">
            <a:avLst/>
          </a:prstGeom>
          <a:noFill/>
        </p:spPr>
        <p:txBody>
          <a:bodyPr wrap="square" rtlCol="0">
            <a:spAutoFit/>
          </a:bodyPr>
          <a:lstStyle/>
          <a:p>
            <a:r>
              <a:rPr lang="en-IN" sz="3000" b="1" dirty="0"/>
              <a:t>DATA AUDITING</a:t>
            </a:r>
          </a:p>
        </p:txBody>
      </p:sp>
      <p:pic>
        <p:nvPicPr>
          <p:cNvPr id="5" name="Graphic 4" descr="Brain in head with solid fill">
            <a:extLst>
              <a:ext uri="{FF2B5EF4-FFF2-40B4-BE49-F238E27FC236}">
                <a16:creationId xmlns:a16="http://schemas.microsoft.com/office/drawing/2014/main" id="{E5839C94-8A22-0755-4F72-F081AC24F1B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7" name="TextBox 6">
            <a:extLst>
              <a:ext uri="{FF2B5EF4-FFF2-40B4-BE49-F238E27FC236}">
                <a16:creationId xmlns:a16="http://schemas.microsoft.com/office/drawing/2014/main" id="{D0FEC7C4-2F3B-C25F-1745-0CE7D279736C}"/>
              </a:ext>
            </a:extLst>
          </p:cNvPr>
          <p:cNvSpPr txBox="1"/>
          <p:nvPr/>
        </p:nvSpPr>
        <p:spPr>
          <a:xfrm>
            <a:off x="621030" y="1256447"/>
            <a:ext cx="11132820" cy="4801314"/>
          </a:xfrm>
          <a:prstGeom prst="rect">
            <a:avLst/>
          </a:prstGeom>
          <a:noFill/>
        </p:spPr>
        <p:txBody>
          <a:bodyPr wrap="square">
            <a:spAutoFit/>
          </a:bodyPr>
          <a:lstStyle/>
          <a:p>
            <a:pPr>
              <a:buNone/>
            </a:pPr>
            <a:r>
              <a:rPr lang="en-IN" sz="1700" b="1" dirty="0"/>
              <a:t>Completeness</a:t>
            </a:r>
            <a:endParaRPr lang="en-IN" sz="1700" dirty="0"/>
          </a:p>
          <a:p>
            <a:pPr marL="342900" lvl="0" indent="-342900">
              <a:buFont typeface="Arial" panose="020B0604020202020204" pitchFamily="34" charset="0"/>
              <a:buChar char="•"/>
            </a:pPr>
            <a:r>
              <a:rPr lang="en-IN" sz="1700" dirty="0"/>
              <a:t>Identify missing/null values. </a:t>
            </a:r>
          </a:p>
          <a:p>
            <a:pPr marL="342900" lvl="0" indent="-342900">
              <a:buFont typeface="Arial" panose="020B0604020202020204" pitchFamily="34" charset="0"/>
              <a:buChar char="•"/>
            </a:pPr>
            <a:r>
              <a:rPr lang="en-IN" sz="1700" dirty="0"/>
              <a:t>Check mandatory fields such as IDs, dates and amounts. </a:t>
            </a:r>
          </a:p>
          <a:p>
            <a:pPr>
              <a:buNone/>
            </a:pPr>
            <a:r>
              <a:rPr lang="en-IN" sz="1700" b="1" dirty="0"/>
              <a:t>Uniqueness</a:t>
            </a:r>
            <a:endParaRPr lang="en-IN" sz="1700" dirty="0"/>
          </a:p>
          <a:p>
            <a:pPr marL="342900" lvl="0" indent="-342900">
              <a:buFont typeface="Arial" panose="020B0604020202020204" pitchFamily="34" charset="0"/>
              <a:buChar char="•"/>
            </a:pPr>
            <a:r>
              <a:rPr lang="en-IN" sz="1700" dirty="0"/>
              <a:t>Check duplicate </a:t>
            </a:r>
            <a:r>
              <a:rPr lang="en-IN" sz="1700" dirty="0" err="1">
                <a:latin typeface="+mn-lt"/>
              </a:rPr>
              <a:t>patient_id</a:t>
            </a:r>
            <a:r>
              <a:rPr lang="en-IN" sz="1700" dirty="0"/>
              <a:t>, </a:t>
            </a:r>
            <a:r>
              <a:rPr lang="en-IN" sz="1700" dirty="0" err="1">
                <a:latin typeface="+mn-lt"/>
              </a:rPr>
              <a:t>doctor_id</a:t>
            </a:r>
            <a:r>
              <a:rPr lang="en-IN" sz="1700" dirty="0"/>
              <a:t>, </a:t>
            </a:r>
            <a:r>
              <a:rPr lang="en-IN" sz="1700" dirty="0" err="1">
                <a:latin typeface="+mn-lt"/>
              </a:rPr>
              <a:t>appointment_id</a:t>
            </a:r>
            <a:r>
              <a:rPr lang="en-IN" sz="1700" dirty="0"/>
              <a:t>, </a:t>
            </a:r>
            <a:r>
              <a:rPr lang="en-IN" sz="1700" dirty="0" err="1">
                <a:latin typeface="+mn-lt"/>
              </a:rPr>
              <a:t>treatment_id</a:t>
            </a:r>
            <a:r>
              <a:rPr lang="en-IN" sz="1700" dirty="0"/>
              <a:t> and </a:t>
            </a:r>
            <a:r>
              <a:rPr lang="en-IN" sz="1700" dirty="0" err="1">
                <a:latin typeface="+mn-lt"/>
              </a:rPr>
              <a:t>bill_id</a:t>
            </a:r>
            <a:r>
              <a:rPr lang="en-IN" sz="1700" dirty="0"/>
              <a:t>. </a:t>
            </a:r>
          </a:p>
          <a:p>
            <a:pPr lvl="0"/>
            <a:r>
              <a:rPr lang="en-IN" sz="1700" b="1" dirty="0"/>
              <a:t>Referential Integrity</a:t>
            </a:r>
            <a:endParaRPr lang="en-IN" sz="1700" dirty="0"/>
          </a:p>
          <a:p>
            <a:pPr marL="342900" lvl="0" indent="-342900">
              <a:buFont typeface="Arial" panose="020B0604020202020204" pitchFamily="34" charset="0"/>
              <a:buChar char="•"/>
            </a:pPr>
            <a:r>
              <a:rPr lang="en-IN" sz="1700" dirty="0"/>
              <a:t>Every </a:t>
            </a:r>
            <a:r>
              <a:rPr lang="en-IN" sz="1700" dirty="0" err="1">
                <a:latin typeface="+mn-lt"/>
              </a:rPr>
              <a:t>patient_id</a:t>
            </a:r>
            <a:r>
              <a:rPr lang="en-IN" sz="1700" dirty="0"/>
              <a:t> in Appointments should exist in Patients. </a:t>
            </a:r>
          </a:p>
          <a:p>
            <a:pPr marL="342900" lvl="0" indent="-342900">
              <a:buFont typeface="Arial" panose="020B0604020202020204" pitchFamily="34" charset="0"/>
              <a:buChar char="•"/>
            </a:pPr>
            <a:r>
              <a:rPr lang="en-IN" sz="1700" dirty="0"/>
              <a:t>Every </a:t>
            </a:r>
            <a:r>
              <a:rPr lang="en-IN" sz="1700" dirty="0" err="1">
                <a:latin typeface="+mn-lt"/>
              </a:rPr>
              <a:t>doctor_id</a:t>
            </a:r>
            <a:r>
              <a:rPr lang="en-IN" sz="1700" dirty="0"/>
              <a:t> in Appointments should exist in Doctors. </a:t>
            </a:r>
          </a:p>
          <a:p>
            <a:pPr marL="342900" lvl="0" indent="-342900">
              <a:buFont typeface="Arial" panose="020B0604020202020204" pitchFamily="34" charset="0"/>
              <a:buChar char="•"/>
            </a:pPr>
            <a:r>
              <a:rPr lang="en-IN" sz="1700" dirty="0"/>
              <a:t>Every </a:t>
            </a:r>
            <a:r>
              <a:rPr lang="en-IN" sz="1700" dirty="0" err="1">
                <a:latin typeface="+mn-lt"/>
              </a:rPr>
              <a:t>appointment_id</a:t>
            </a:r>
            <a:r>
              <a:rPr lang="en-IN" sz="1700" dirty="0"/>
              <a:t> in Treatments should exist in Appointments. </a:t>
            </a:r>
          </a:p>
          <a:p>
            <a:pPr marL="342900" lvl="0" indent="-342900">
              <a:buFont typeface="Arial" panose="020B0604020202020204" pitchFamily="34" charset="0"/>
              <a:buChar char="•"/>
            </a:pPr>
            <a:r>
              <a:rPr lang="en-IN" sz="1700" dirty="0"/>
              <a:t>Every </a:t>
            </a:r>
            <a:r>
              <a:rPr lang="en-IN" sz="1700" dirty="0" err="1">
                <a:latin typeface="+mn-lt"/>
              </a:rPr>
              <a:t>treatment_id</a:t>
            </a:r>
            <a:r>
              <a:rPr lang="en-IN" sz="1700" dirty="0"/>
              <a:t> in Billing should exist in Treatments. </a:t>
            </a:r>
          </a:p>
          <a:p>
            <a:pPr>
              <a:buNone/>
            </a:pPr>
            <a:r>
              <a:rPr lang="en-IN" sz="1700" b="1" dirty="0"/>
              <a:t>Validity</a:t>
            </a:r>
            <a:endParaRPr lang="en-IN" sz="1700" dirty="0"/>
          </a:p>
          <a:p>
            <a:pPr marL="342900" lvl="0" indent="-342900">
              <a:buFont typeface="Arial" panose="020B0604020202020204" pitchFamily="34" charset="0"/>
              <a:buChar char="•"/>
            </a:pPr>
            <a:r>
              <a:rPr lang="en-IN" sz="1700" dirty="0"/>
              <a:t>Validate date and time formats. </a:t>
            </a:r>
          </a:p>
          <a:p>
            <a:pPr marL="342900" lvl="0" indent="-342900">
              <a:buFont typeface="Arial" panose="020B0604020202020204" pitchFamily="34" charset="0"/>
              <a:buChar char="•"/>
            </a:pPr>
            <a:r>
              <a:rPr lang="en-IN" sz="1700" dirty="0"/>
              <a:t>Check that </a:t>
            </a:r>
            <a:r>
              <a:rPr lang="en-IN" sz="1700" dirty="0">
                <a:latin typeface="+mn-lt"/>
              </a:rPr>
              <a:t>cost</a:t>
            </a:r>
            <a:r>
              <a:rPr lang="en-IN" sz="1700" dirty="0"/>
              <a:t> and </a:t>
            </a:r>
            <a:r>
              <a:rPr lang="en-IN" sz="1700" dirty="0">
                <a:latin typeface="+mn-lt"/>
              </a:rPr>
              <a:t>amount</a:t>
            </a:r>
            <a:r>
              <a:rPr lang="en-IN" sz="1700" dirty="0"/>
              <a:t> are non-negative. </a:t>
            </a:r>
          </a:p>
          <a:p>
            <a:pPr marL="342900" lvl="0" indent="-342900">
              <a:buFont typeface="Arial" panose="020B0604020202020204" pitchFamily="34" charset="0"/>
              <a:buChar char="•"/>
            </a:pPr>
            <a:r>
              <a:rPr lang="en-IN" sz="1700" dirty="0"/>
              <a:t>Check realistic ranges for </a:t>
            </a:r>
            <a:r>
              <a:rPr lang="en-IN" sz="1700" dirty="0" err="1">
                <a:latin typeface="+mn-lt"/>
              </a:rPr>
              <a:t>years_experience</a:t>
            </a:r>
            <a:r>
              <a:rPr lang="en-IN" sz="1700" dirty="0"/>
              <a:t>. </a:t>
            </a:r>
          </a:p>
          <a:p>
            <a:pPr>
              <a:buNone/>
            </a:pPr>
            <a:r>
              <a:rPr lang="en-IN" sz="1700" b="1" dirty="0"/>
              <a:t>Consistency</a:t>
            </a:r>
            <a:endParaRPr lang="en-IN" sz="1700" dirty="0"/>
          </a:p>
          <a:p>
            <a:pPr marL="342900" lvl="0" indent="-342900">
              <a:buFont typeface="Arial" panose="020B0604020202020204" pitchFamily="34" charset="0"/>
              <a:buChar char="•"/>
            </a:pPr>
            <a:r>
              <a:rPr lang="en-IN" sz="1700" dirty="0"/>
              <a:t>Ensure dates follow logical sequences: </a:t>
            </a:r>
            <a:r>
              <a:rPr lang="en-IN" sz="1700" b="1" dirty="0"/>
              <a:t>Registration → Appointment → Treatment → Billing</a:t>
            </a:r>
            <a:r>
              <a:rPr lang="en-IN" sz="1700" dirty="0"/>
              <a:t> </a:t>
            </a:r>
          </a:p>
          <a:p>
            <a:pPr marL="342900" lvl="0" indent="-342900">
              <a:buFont typeface="Arial" panose="020B0604020202020204" pitchFamily="34" charset="0"/>
              <a:buChar char="•"/>
            </a:pPr>
            <a:r>
              <a:rPr lang="en-IN" sz="1700" dirty="0"/>
              <a:t>Check for inconsistent patient/treatment relationships. </a:t>
            </a:r>
          </a:p>
          <a:p>
            <a:pPr marL="342900" lvl="0" indent="-342900">
              <a:buFont typeface="Arial" panose="020B0604020202020204" pitchFamily="34" charset="0"/>
              <a:buChar char="•"/>
            </a:pPr>
            <a:r>
              <a:rPr lang="en-IN" sz="1700" dirty="0"/>
              <a:t>Standardize categorical values and text formats.</a:t>
            </a:r>
          </a:p>
        </p:txBody>
      </p:sp>
    </p:spTree>
    <p:extLst>
      <p:ext uri="{BB962C8B-B14F-4D97-AF65-F5344CB8AC3E}">
        <p14:creationId xmlns:p14="http://schemas.microsoft.com/office/powerpoint/2010/main" val="2712879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52A066B-76E2-3AF8-F194-35381653EB51}"/>
              </a:ext>
            </a:extLst>
          </p:cNvPr>
          <p:cNvGraphicFramePr>
            <a:graphicFrameLocks noGrp="1"/>
          </p:cNvGraphicFramePr>
          <p:nvPr>
            <p:extLst>
              <p:ext uri="{D42A27DB-BD31-4B8C-83A1-F6EECF244321}">
                <p14:modId xmlns:p14="http://schemas.microsoft.com/office/powerpoint/2010/main" val="926743396"/>
              </p:ext>
            </p:extLst>
          </p:nvPr>
        </p:nvGraphicFramePr>
        <p:xfrm>
          <a:off x="439420" y="1137920"/>
          <a:ext cx="11437620" cy="5062518"/>
        </p:xfrm>
        <a:graphic>
          <a:graphicData uri="http://schemas.openxmlformats.org/drawingml/2006/table">
            <a:tbl>
              <a:tblPr>
                <a:tableStyleId>{5C22544A-7EE6-4342-B048-85BDC9FD1C3A}</a:tableStyleId>
              </a:tblPr>
              <a:tblGrid>
                <a:gridCol w="2893054">
                  <a:extLst>
                    <a:ext uri="{9D8B030D-6E8A-4147-A177-3AD203B41FA5}">
                      <a16:colId xmlns:a16="http://schemas.microsoft.com/office/drawing/2014/main" val="3245199610"/>
                    </a:ext>
                  </a:extLst>
                </a:gridCol>
                <a:gridCol w="2825756">
                  <a:extLst>
                    <a:ext uri="{9D8B030D-6E8A-4147-A177-3AD203B41FA5}">
                      <a16:colId xmlns:a16="http://schemas.microsoft.com/office/drawing/2014/main" val="190421915"/>
                    </a:ext>
                  </a:extLst>
                </a:gridCol>
                <a:gridCol w="2859405">
                  <a:extLst>
                    <a:ext uri="{9D8B030D-6E8A-4147-A177-3AD203B41FA5}">
                      <a16:colId xmlns:a16="http://schemas.microsoft.com/office/drawing/2014/main" val="2337590421"/>
                    </a:ext>
                  </a:extLst>
                </a:gridCol>
                <a:gridCol w="2859405">
                  <a:extLst>
                    <a:ext uri="{9D8B030D-6E8A-4147-A177-3AD203B41FA5}">
                      <a16:colId xmlns:a16="http://schemas.microsoft.com/office/drawing/2014/main" val="920031395"/>
                    </a:ext>
                  </a:extLst>
                </a:gridCol>
              </a:tblGrid>
              <a:tr h="292144">
                <a:tc>
                  <a:txBody>
                    <a:bodyPr/>
                    <a:lstStyle/>
                    <a:p>
                      <a:pPr>
                        <a:buNone/>
                      </a:pPr>
                      <a:r>
                        <a:rPr lang="en-IN" sz="1700"/>
                        <a:t>Stage</a:t>
                      </a:r>
                    </a:p>
                  </a:txBody>
                  <a:tcPr marL="44342" marR="44342" marT="22171" marB="22171" anchor="ctr"/>
                </a:tc>
                <a:tc>
                  <a:txBody>
                    <a:bodyPr/>
                    <a:lstStyle/>
                    <a:p>
                      <a:pPr>
                        <a:buNone/>
                      </a:pPr>
                      <a:r>
                        <a:rPr lang="en-IN" sz="1700"/>
                        <a:t>What We Do</a:t>
                      </a:r>
                    </a:p>
                  </a:txBody>
                  <a:tcPr marL="44342" marR="44342" marT="22171" marB="22171" anchor="ctr"/>
                </a:tc>
                <a:tc>
                  <a:txBody>
                    <a:bodyPr/>
                    <a:lstStyle/>
                    <a:p>
                      <a:pPr>
                        <a:buNone/>
                      </a:pPr>
                      <a:r>
                        <a:rPr lang="en-IN" sz="1700"/>
                        <a:t>Tools</a:t>
                      </a:r>
                    </a:p>
                  </a:txBody>
                  <a:tcPr marL="44342" marR="44342" marT="22171" marB="22171" anchor="ctr"/>
                </a:tc>
                <a:tc>
                  <a:txBody>
                    <a:bodyPr/>
                    <a:lstStyle/>
                    <a:p>
                      <a:pPr>
                        <a:buNone/>
                      </a:pPr>
                      <a:r>
                        <a:rPr lang="en-IN" sz="1700"/>
                        <a:t>Output</a:t>
                      </a:r>
                    </a:p>
                  </a:txBody>
                  <a:tcPr marL="44342" marR="44342" marT="22171" marB="22171" anchor="ctr"/>
                </a:tc>
                <a:extLst>
                  <a:ext uri="{0D108BD9-81ED-4DB2-BD59-A6C34878D82A}">
                    <a16:rowId xmlns:a16="http://schemas.microsoft.com/office/drawing/2014/main" val="1029202339"/>
                  </a:ext>
                </a:extLst>
              </a:tr>
              <a:tr h="791045">
                <a:tc>
                  <a:txBody>
                    <a:bodyPr/>
                    <a:lstStyle/>
                    <a:p>
                      <a:pPr>
                        <a:buNone/>
                      </a:pPr>
                      <a:r>
                        <a:rPr lang="en-IN" sz="1700" dirty="0"/>
                        <a:t>1. Data Cleaning</a:t>
                      </a:r>
                    </a:p>
                  </a:txBody>
                  <a:tcPr marL="44342" marR="44342" marT="22171" marB="22171" anchor="ctr"/>
                </a:tc>
                <a:tc>
                  <a:txBody>
                    <a:bodyPr/>
                    <a:lstStyle/>
                    <a:p>
                      <a:pPr>
                        <a:buNone/>
                      </a:pPr>
                      <a:r>
                        <a:rPr lang="en-IN" sz="1700"/>
                        <a:t>Handle nulls, duplicates, incorrect formats and inconsistent values</a:t>
                      </a:r>
                    </a:p>
                  </a:txBody>
                  <a:tcPr marL="44342" marR="44342" marT="22171" marB="22171" anchor="ctr"/>
                </a:tc>
                <a:tc>
                  <a:txBody>
                    <a:bodyPr/>
                    <a:lstStyle/>
                    <a:p>
                      <a:pPr>
                        <a:buNone/>
                      </a:pPr>
                      <a:r>
                        <a:rPr lang="en-IN" sz="1700" dirty="0"/>
                        <a:t>SQL + Python</a:t>
                      </a:r>
                    </a:p>
                  </a:txBody>
                  <a:tcPr marL="44342" marR="44342" marT="22171" marB="22171" anchor="ctr"/>
                </a:tc>
                <a:tc>
                  <a:txBody>
                    <a:bodyPr/>
                    <a:lstStyle/>
                    <a:p>
                      <a:pPr>
                        <a:buNone/>
                      </a:pPr>
                      <a:r>
                        <a:rPr lang="en-IN" sz="1700" dirty="0"/>
                        <a:t>Clean dataset</a:t>
                      </a:r>
                    </a:p>
                  </a:txBody>
                  <a:tcPr marL="44342" marR="44342" marT="22171" marB="22171" anchor="ctr"/>
                </a:tc>
                <a:extLst>
                  <a:ext uri="{0D108BD9-81ED-4DB2-BD59-A6C34878D82A}">
                    <a16:rowId xmlns:a16="http://schemas.microsoft.com/office/drawing/2014/main" val="3271448172"/>
                  </a:ext>
                </a:extLst>
              </a:tr>
              <a:tr h="541595">
                <a:tc>
                  <a:txBody>
                    <a:bodyPr/>
                    <a:lstStyle/>
                    <a:p>
                      <a:pPr>
                        <a:buNone/>
                      </a:pPr>
                      <a:r>
                        <a:rPr lang="en-IN" sz="1700" dirty="0"/>
                        <a:t>2. Data Integration</a:t>
                      </a:r>
                    </a:p>
                  </a:txBody>
                  <a:tcPr marL="44342" marR="44342" marT="22171" marB="22171" anchor="ctr"/>
                </a:tc>
                <a:tc>
                  <a:txBody>
                    <a:bodyPr/>
                    <a:lstStyle/>
                    <a:p>
                      <a:pPr>
                        <a:buNone/>
                      </a:pPr>
                      <a:r>
                        <a:rPr lang="en-IN" sz="1700"/>
                        <a:t>Join the five tables using PK–FK relationships</a:t>
                      </a:r>
                    </a:p>
                  </a:txBody>
                  <a:tcPr marL="44342" marR="44342" marT="22171" marB="22171" anchor="ctr"/>
                </a:tc>
                <a:tc>
                  <a:txBody>
                    <a:bodyPr/>
                    <a:lstStyle/>
                    <a:p>
                      <a:pPr>
                        <a:buNone/>
                      </a:pPr>
                      <a:r>
                        <a:rPr lang="en-IN" sz="1700"/>
                        <a:t>SQL</a:t>
                      </a:r>
                    </a:p>
                  </a:txBody>
                  <a:tcPr marL="44342" marR="44342" marT="22171" marB="22171" anchor="ctr"/>
                </a:tc>
                <a:tc>
                  <a:txBody>
                    <a:bodyPr/>
                    <a:lstStyle/>
                    <a:p>
                      <a:pPr>
                        <a:buNone/>
                      </a:pPr>
                      <a:r>
                        <a:rPr lang="en-IN" sz="1700"/>
                        <a:t>Analytical dataset</a:t>
                      </a:r>
                    </a:p>
                  </a:txBody>
                  <a:tcPr marL="44342" marR="44342" marT="22171" marB="22171" anchor="ctr"/>
                </a:tc>
                <a:extLst>
                  <a:ext uri="{0D108BD9-81ED-4DB2-BD59-A6C34878D82A}">
                    <a16:rowId xmlns:a16="http://schemas.microsoft.com/office/drawing/2014/main" val="2935417482"/>
                  </a:ext>
                </a:extLst>
              </a:tr>
              <a:tr h="791045">
                <a:tc>
                  <a:txBody>
                    <a:bodyPr/>
                    <a:lstStyle/>
                    <a:p>
                      <a:pPr>
                        <a:buNone/>
                      </a:pPr>
                      <a:r>
                        <a:rPr lang="en-IN" sz="1700" dirty="0"/>
                        <a:t>3. Exploratory Analysis</a:t>
                      </a:r>
                    </a:p>
                  </a:txBody>
                  <a:tcPr marL="44342" marR="44342" marT="22171" marB="22171" anchor="ctr"/>
                </a:tc>
                <a:tc>
                  <a:txBody>
                    <a:bodyPr/>
                    <a:lstStyle/>
                    <a:p>
                      <a:pPr>
                        <a:buNone/>
                      </a:pPr>
                      <a:r>
                        <a:rPr lang="en-IN" sz="1700"/>
                        <a:t>Analyze distributions, trends, correlations and outliers</a:t>
                      </a:r>
                    </a:p>
                  </a:txBody>
                  <a:tcPr marL="44342" marR="44342" marT="22171" marB="22171" anchor="ctr"/>
                </a:tc>
                <a:tc>
                  <a:txBody>
                    <a:bodyPr/>
                    <a:lstStyle/>
                    <a:p>
                      <a:pPr>
                        <a:buNone/>
                      </a:pPr>
                      <a:r>
                        <a:rPr lang="en-IN" sz="1700"/>
                        <a:t>Python, Pandas, Matplotlib</a:t>
                      </a:r>
                    </a:p>
                  </a:txBody>
                  <a:tcPr marL="44342" marR="44342" marT="22171" marB="22171" anchor="ctr"/>
                </a:tc>
                <a:tc>
                  <a:txBody>
                    <a:bodyPr/>
                    <a:lstStyle/>
                    <a:p>
                      <a:pPr>
                        <a:buNone/>
                      </a:pPr>
                      <a:r>
                        <a:rPr lang="en-IN" sz="1700"/>
                        <a:t>EDA insights</a:t>
                      </a:r>
                    </a:p>
                  </a:txBody>
                  <a:tcPr marL="44342" marR="44342" marT="22171" marB="22171" anchor="ctr"/>
                </a:tc>
                <a:extLst>
                  <a:ext uri="{0D108BD9-81ED-4DB2-BD59-A6C34878D82A}">
                    <a16:rowId xmlns:a16="http://schemas.microsoft.com/office/drawing/2014/main" val="1965379396"/>
                  </a:ext>
                </a:extLst>
              </a:tr>
              <a:tr h="292144">
                <a:tc>
                  <a:txBody>
                    <a:bodyPr/>
                    <a:lstStyle/>
                    <a:p>
                      <a:pPr>
                        <a:buNone/>
                      </a:pPr>
                      <a:r>
                        <a:rPr lang="en-IN" sz="1700" dirty="0"/>
                        <a:t>4. Descriptive Analytics</a:t>
                      </a:r>
                    </a:p>
                  </a:txBody>
                  <a:tcPr marL="44342" marR="44342" marT="22171" marB="22171" anchor="ctr"/>
                </a:tc>
                <a:tc>
                  <a:txBody>
                    <a:bodyPr/>
                    <a:lstStyle/>
                    <a:p>
                      <a:pPr>
                        <a:buNone/>
                      </a:pPr>
                      <a:r>
                        <a:rPr lang="en-IN" sz="1700"/>
                        <a:t>Understand what happened</a:t>
                      </a:r>
                    </a:p>
                  </a:txBody>
                  <a:tcPr marL="44342" marR="44342" marT="22171" marB="22171" anchor="ctr"/>
                </a:tc>
                <a:tc>
                  <a:txBody>
                    <a:bodyPr/>
                    <a:lstStyle/>
                    <a:p>
                      <a:pPr>
                        <a:buNone/>
                      </a:pPr>
                      <a:r>
                        <a:rPr lang="en-IN" sz="1700"/>
                        <a:t>SQL + Power BI</a:t>
                      </a:r>
                    </a:p>
                  </a:txBody>
                  <a:tcPr marL="44342" marR="44342" marT="22171" marB="22171" anchor="ctr"/>
                </a:tc>
                <a:tc>
                  <a:txBody>
                    <a:bodyPr/>
                    <a:lstStyle/>
                    <a:p>
                      <a:pPr>
                        <a:buNone/>
                      </a:pPr>
                      <a:r>
                        <a:rPr lang="en-IN" sz="1700"/>
                        <a:t>KPIs &amp; trends</a:t>
                      </a:r>
                    </a:p>
                  </a:txBody>
                  <a:tcPr marL="44342" marR="44342" marT="22171" marB="22171" anchor="ctr"/>
                </a:tc>
                <a:extLst>
                  <a:ext uri="{0D108BD9-81ED-4DB2-BD59-A6C34878D82A}">
                    <a16:rowId xmlns:a16="http://schemas.microsoft.com/office/drawing/2014/main" val="462969863"/>
                  </a:ext>
                </a:extLst>
              </a:tr>
              <a:tr h="292144">
                <a:tc>
                  <a:txBody>
                    <a:bodyPr/>
                    <a:lstStyle/>
                    <a:p>
                      <a:pPr>
                        <a:buNone/>
                      </a:pPr>
                      <a:r>
                        <a:rPr lang="en-IN" sz="1700" dirty="0"/>
                        <a:t>5. Diagnostic Analytics</a:t>
                      </a:r>
                    </a:p>
                  </a:txBody>
                  <a:tcPr marL="44342" marR="44342" marT="22171" marB="22171" anchor="ctr"/>
                </a:tc>
                <a:tc>
                  <a:txBody>
                    <a:bodyPr/>
                    <a:lstStyle/>
                    <a:p>
                      <a:pPr>
                        <a:buNone/>
                      </a:pPr>
                      <a:r>
                        <a:rPr lang="en-IN" sz="1700"/>
                        <a:t>Identify why it happened</a:t>
                      </a:r>
                    </a:p>
                  </a:txBody>
                  <a:tcPr marL="44342" marR="44342" marT="22171" marB="22171" anchor="ctr"/>
                </a:tc>
                <a:tc>
                  <a:txBody>
                    <a:bodyPr/>
                    <a:lstStyle/>
                    <a:p>
                      <a:pPr>
                        <a:buNone/>
                      </a:pPr>
                      <a:r>
                        <a:rPr lang="en-IN" sz="1700"/>
                        <a:t>SQL + Python + Power BI</a:t>
                      </a:r>
                    </a:p>
                  </a:txBody>
                  <a:tcPr marL="44342" marR="44342" marT="22171" marB="22171" anchor="ctr"/>
                </a:tc>
                <a:tc>
                  <a:txBody>
                    <a:bodyPr/>
                    <a:lstStyle/>
                    <a:p>
                      <a:pPr>
                        <a:buNone/>
                      </a:pPr>
                      <a:r>
                        <a:rPr lang="en-IN" sz="1700"/>
                        <a:t>Root-cause insights</a:t>
                      </a:r>
                    </a:p>
                  </a:txBody>
                  <a:tcPr marL="44342" marR="44342" marT="22171" marB="22171" anchor="ctr"/>
                </a:tc>
                <a:extLst>
                  <a:ext uri="{0D108BD9-81ED-4DB2-BD59-A6C34878D82A}">
                    <a16:rowId xmlns:a16="http://schemas.microsoft.com/office/drawing/2014/main" val="4250817858"/>
                  </a:ext>
                </a:extLst>
              </a:tr>
              <a:tr h="541595">
                <a:tc>
                  <a:txBody>
                    <a:bodyPr/>
                    <a:lstStyle/>
                    <a:p>
                      <a:pPr>
                        <a:buNone/>
                      </a:pPr>
                      <a:r>
                        <a:rPr lang="en-IN" sz="1700" dirty="0"/>
                        <a:t>6. Predictive Analytics</a:t>
                      </a:r>
                    </a:p>
                  </a:txBody>
                  <a:tcPr marL="44342" marR="44342" marT="22171" marB="22171" anchor="ctr"/>
                </a:tc>
                <a:tc>
                  <a:txBody>
                    <a:bodyPr/>
                    <a:lstStyle/>
                    <a:p>
                      <a:pPr>
                        <a:buNone/>
                      </a:pPr>
                      <a:r>
                        <a:rPr lang="en-IN" sz="1700"/>
                        <a:t>Estimate what may happen next</a:t>
                      </a:r>
                    </a:p>
                  </a:txBody>
                  <a:tcPr marL="44342" marR="44342" marT="22171" marB="22171" anchor="ctr"/>
                </a:tc>
                <a:tc>
                  <a:txBody>
                    <a:bodyPr/>
                    <a:lstStyle/>
                    <a:p>
                      <a:pPr>
                        <a:buNone/>
                      </a:pPr>
                      <a:r>
                        <a:rPr lang="en-IN" sz="1700"/>
                        <a:t>Python + ML</a:t>
                      </a:r>
                    </a:p>
                  </a:txBody>
                  <a:tcPr marL="44342" marR="44342" marT="22171" marB="22171" anchor="ctr"/>
                </a:tc>
                <a:tc>
                  <a:txBody>
                    <a:bodyPr/>
                    <a:lstStyle/>
                    <a:p>
                      <a:pPr>
                        <a:buNone/>
                      </a:pPr>
                      <a:r>
                        <a:rPr lang="en-IN" sz="1700"/>
                        <a:t>Forecasts / risk scores</a:t>
                      </a:r>
                    </a:p>
                  </a:txBody>
                  <a:tcPr marL="44342" marR="44342" marT="22171" marB="22171" anchor="ctr"/>
                </a:tc>
                <a:extLst>
                  <a:ext uri="{0D108BD9-81ED-4DB2-BD59-A6C34878D82A}">
                    <a16:rowId xmlns:a16="http://schemas.microsoft.com/office/drawing/2014/main" val="2373842015"/>
                  </a:ext>
                </a:extLst>
              </a:tr>
              <a:tr h="541595">
                <a:tc>
                  <a:txBody>
                    <a:bodyPr/>
                    <a:lstStyle/>
                    <a:p>
                      <a:pPr>
                        <a:buNone/>
                      </a:pPr>
                      <a:r>
                        <a:rPr lang="en-IN" sz="1700" dirty="0"/>
                        <a:t>7. Visualization</a:t>
                      </a:r>
                    </a:p>
                  </a:txBody>
                  <a:tcPr marL="44342" marR="44342" marT="22171" marB="22171" anchor="ctr"/>
                </a:tc>
                <a:tc>
                  <a:txBody>
                    <a:bodyPr/>
                    <a:lstStyle/>
                    <a:p>
                      <a:pPr>
                        <a:buNone/>
                      </a:pPr>
                      <a:r>
                        <a:rPr lang="en-IN" sz="1700"/>
                        <a:t>Present insights to stakeholders</a:t>
                      </a:r>
                    </a:p>
                  </a:txBody>
                  <a:tcPr marL="44342" marR="44342" marT="22171" marB="22171" anchor="ctr"/>
                </a:tc>
                <a:tc>
                  <a:txBody>
                    <a:bodyPr/>
                    <a:lstStyle/>
                    <a:p>
                      <a:pPr>
                        <a:buNone/>
                      </a:pPr>
                      <a:r>
                        <a:rPr lang="en-IN" sz="1700"/>
                        <a:t>Power BI</a:t>
                      </a:r>
                    </a:p>
                  </a:txBody>
                  <a:tcPr marL="44342" marR="44342" marT="22171" marB="22171" anchor="ctr"/>
                </a:tc>
                <a:tc>
                  <a:txBody>
                    <a:bodyPr/>
                    <a:lstStyle/>
                    <a:p>
                      <a:pPr>
                        <a:buNone/>
                      </a:pPr>
                      <a:r>
                        <a:rPr lang="en-IN" sz="1700" dirty="0"/>
                        <a:t>Interactive dashboards</a:t>
                      </a:r>
                    </a:p>
                  </a:txBody>
                  <a:tcPr marL="44342" marR="44342" marT="22171" marB="22171" anchor="ctr"/>
                </a:tc>
                <a:extLst>
                  <a:ext uri="{0D108BD9-81ED-4DB2-BD59-A6C34878D82A}">
                    <a16:rowId xmlns:a16="http://schemas.microsoft.com/office/drawing/2014/main" val="3527336504"/>
                  </a:ext>
                </a:extLst>
              </a:tr>
              <a:tr h="541595">
                <a:tc>
                  <a:txBody>
                    <a:bodyPr/>
                    <a:lstStyle/>
                    <a:p>
                      <a:pPr>
                        <a:buNone/>
                      </a:pPr>
                      <a:r>
                        <a:rPr lang="en-IN" sz="1700" dirty="0"/>
                        <a:t>8. Business Impact</a:t>
                      </a:r>
                    </a:p>
                  </a:txBody>
                  <a:tcPr marL="44342" marR="44342" marT="22171" marB="22171" anchor="ctr"/>
                </a:tc>
                <a:tc>
                  <a:txBody>
                    <a:bodyPr/>
                    <a:lstStyle/>
                    <a:p>
                      <a:pPr>
                        <a:buNone/>
                      </a:pPr>
                      <a:r>
                        <a:rPr lang="en-IN" sz="1700"/>
                        <a:t>Convert insights into decisions</a:t>
                      </a:r>
                    </a:p>
                  </a:txBody>
                  <a:tcPr marL="44342" marR="44342" marT="22171" marB="22171" anchor="ctr"/>
                </a:tc>
                <a:tc>
                  <a:txBody>
                    <a:bodyPr/>
                    <a:lstStyle/>
                    <a:p>
                      <a:pPr>
                        <a:buNone/>
                      </a:pPr>
                      <a:r>
                        <a:rPr lang="en-IN" sz="1700" dirty="0"/>
                        <a:t>Analytics + Business Strategy</a:t>
                      </a:r>
                    </a:p>
                  </a:txBody>
                  <a:tcPr marL="44342" marR="44342" marT="22171" marB="22171" anchor="ctr"/>
                </a:tc>
                <a:tc>
                  <a:txBody>
                    <a:bodyPr/>
                    <a:lstStyle/>
                    <a:p>
                      <a:pPr>
                        <a:buNone/>
                      </a:pPr>
                      <a:r>
                        <a:rPr lang="en-IN" sz="1700" dirty="0"/>
                        <a:t>Better operations &amp; financial control</a:t>
                      </a:r>
                    </a:p>
                  </a:txBody>
                  <a:tcPr marL="44342" marR="44342" marT="22171" marB="22171" anchor="ctr"/>
                </a:tc>
                <a:extLst>
                  <a:ext uri="{0D108BD9-81ED-4DB2-BD59-A6C34878D82A}">
                    <a16:rowId xmlns:a16="http://schemas.microsoft.com/office/drawing/2014/main" val="1294196095"/>
                  </a:ext>
                </a:extLst>
              </a:tr>
            </a:tbl>
          </a:graphicData>
        </a:graphic>
      </p:graphicFrame>
      <p:sp>
        <p:nvSpPr>
          <p:cNvPr id="6" name="TextBox 5">
            <a:extLst>
              <a:ext uri="{FF2B5EF4-FFF2-40B4-BE49-F238E27FC236}">
                <a16:creationId xmlns:a16="http://schemas.microsoft.com/office/drawing/2014/main" id="{447B1A7D-FECC-CAD0-D61C-DA0020AF1EC0}"/>
              </a:ext>
            </a:extLst>
          </p:cNvPr>
          <p:cNvSpPr txBox="1"/>
          <p:nvPr/>
        </p:nvSpPr>
        <p:spPr>
          <a:xfrm>
            <a:off x="1054100" y="553581"/>
            <a:ext cx="6433820" cy="553998"/>
          </a:xfrm>
          <a:prstGeom prst="rect">
            <a:avLst/>
          </a:prstGeom>
          <a:noFill/>
        </p:spPr>
        <p:txBody>
          <a:bodyPr wrap="square" rtlCol="0">
            <a:spAutoFit/>
          </a:bodyPr>
          <a:lstStyle/>
          <a:p>
            <a:r>
              <a:rPr lang="en-IN" sz="3000" b="1" dirty="0"/>
              <a:t>ANALYTICAL METHODOLOGY</a:t>
            </a:r>
          </a:p>
        </p:txBody>
      </p:sp>
      <p:pic>
        <p:nvPicPr>
          <p:cNvPr id="8" name="Graphic 7" descr="Brain in head with solid fill">
            <a:extLst>
              <a:ext uri="{FF2B5EF4-FFF2-40B4-BE49-F238E27FC236}">
                <a16:creationId xmlns:a16="http://schemas.microsoft.com/office/drawing/2014/main" id="{6D00D267-7D77-424A-FDD1-4FEF8AF8A2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cxnSp>
        <p:nvCxnSpPr>
          <p:cNvPr id="29" name="Straight Connector 28">
            <a:extLst>
              <a:ext uri="{FF2B5EF4-FFF2-40B4-BE49-F238E27FC236}">
                <a16:creationId xmlns:a16="http://schemas.microsoft.com/office/drawing/2014/main" id="{C935BBC6-46F3-23FE-9404-06DF936DAAF8}"/>
              </a:ext>
            </a:extLst>
          </p:cNvPr>
          <p:cNvCxnSpPr>
            <a:cxnSpLocks/>
          </p:cNvCxnSpPr>
          <p:nvPr/>
        </p:nvCxnSpPr>
        <p:spPr>
          <a:xfrm>
            <a:off x="439420" y="1137920"/>
            <a:ext cx="0" cy="5062518"/>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8AFCCF41-B5DC-587C-FB2E-6C9398C84016}"/>
              </a:ext>
            </a:extLst>
          </p:cNvPr>
          <p:cNvCxnSpPr>
            <a:cxnSpLocks/>
          </p:cNvCxnSpPr>
          <p:nvPr/>
        </p:nvCxnSpPr>
        <p:spPr>
          <a:xfrm>
            <a:off x="3324860" y="1137920"/>
            <a:ext cx="0" cy="4795520"/>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57B8EA5-040E-46FE-19F9-7D84A62FACF6}"/>
              </a:ext>
            </a:extLst>
          </p:cNvPr>
          <p:cNvCxnSpPr>
            <a:cxnSpLocks/>
            <a:endCxn id="4" idx="2"/>
          </p:cNvCxnSpPr>
          <p:nvPr/>
        </p:nvCxnSpPr>
        <p:spPr>
          <a:xfrm>
            <a:off x="6096000" y="1137920"/>
            <a:ext cx="62230" cy="5062518"/>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E69C92D6-ACE4-981D-7710-78EC94506044}"/>
              </a:ext>
            </a:extLst>
          </p:cNvPr>
          <p:cNvCxnSpPr>
            <a:cxnSpLocks/>
          </p:cNvCxnSpPr>
          <p:nvPr/>
        </p:nvCxnSpPr>
        <p:spPr>
          <a:xfrm>
            <a:off x="9014460" y="1137920"/>
            <a:ext cx="0" cy="479552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F6479785-345D-E4A5-CC71-53FE2F7DAA8D}"/>
              </a:ext>
            </a:extLst>
          </p:cNvPr>
          <p:cNvCxnSpPr>
            <a:cxnSpLocks/>
          </p:cNvCxnSpPr>
          <p:nvPr/>
        </p:nvCxnSpPr>
        <p:spPr>
          <a:xfrm>
            <a:off x="11877040" y="1137920"/>
            <a:ext cx="0" cy="5062518"/>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C6DCA7EC-137A-1F9B-FF84-E69ED7A0510D}"/>
              </a:ext>
            </a:extLst>
          </p:cNvPr>
          <p:cNvCxnSpPr/>
          <p:nvPr/>
        </p:nvCxnSpPr>
        <p:spPr>
          <a:xfrm>
            <a:off x="439420" y="113792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FBCA8648-7068-C217-6F2A-755BEDE3110F}"/>
              </a:ext>
            </a:extLst>
          </p:cNvPr>
          <p:cNvCxnSpPr/>
          <p:nvPr/>
        </p:nvCxnSpPr>
        <p:spPr>
          <a:xfrm>
            <a:off x="439420" y="147320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07ABE497-318B-C714-D151-DE987378F333}"/>
              </a:ext>
            </a:extLst>
          </p:cNvPr>
          <p:cNvCxnSpPr/>
          <p:nvPr/>
        </p:nvCxnSpPr>
        <p:spPr>
          <a:xfrm>
            <a:off x="439420" y="226568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35D7D112-15E6-9718-F0D0-099F64056565}"/>
              </a:ext>
            </a:extLst>
          </p:cNvPr>
          <p:cNvCxnSpPr/>
          <p:nvPr/>
        </p:nvCxnSpPr>
        <p:spPr>
          <a:xfrm>
            <a:off x="439420" y="283464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BB608D55-C24A-909F-61D4-B9229975AB76}"/>
              </a:ext>
            </a:extLst>
          </p:cNvPr>
          <p:cNvCxnSpPr/>
          <p:nvPr/>
        </p:nvCxnSpPr>
        <p:spPr>
          <a:xfrm>
            <a:off x="439420" y="362712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331E584D-D45A-7426-9A9A-663B598794BE}"/>
              </a:ext>
            </a:extLst>
          </p:cNvPr>
          <p:cNvCxnSpPr/>
          <p:nvPr/>
        </p:nvCxnSpPr>
        <p:spPr>
          <a:xfrm>
            <a:off x="377190" y="421640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3630082F-01D8-9E6F-83C8-892B961CA392}"/>
              </a:ext>
            </a:extLst>
          </p:cNvPr>
          <p:cNvCxnSpPr/>
          <p:nvPr/>
        </p:nvCxnSpPr>
        <p:spPr>
          <a:xfrm>
            <a:off x="439420" y="452120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11C5BA47-9D28-8409-FE31-2FA8B10F2071}"/>
              </a:ext>
            </a:extLst>
          </p:cNvPr>
          <p:cNvCxnSpPr/>
          <p:nvPr/>
        </p:nvCxnSpPr>
        <p:spPr>
          <a:xfrm>
            <a:off x="439420" y="511048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A64D3B6D-0803-3856-AF8A-9F5501B811FB}"/>
              </a:ext>
            </a:extLst>
          </p:cNvPr>
          <p:cNvCxnSpPr/>
          <p:nvPr/>
        </p:nvCxnSpPr>
        <p:spPr>
          <a:xfrm>
            <a:off x="439420" y="5679440"/>
            <a:ext cx="11437620" cy="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22D142CC-850D-C8EF-15A7-99BF8C0E85CA}"/>
              </a:ext>
            </a:extLst>
          </p:cNvPr>
          <p:cNvCxnSpPr/>
          <p:nvPr/>
        </p:nvCxnSpPr>
        <p:spPr>
          <a:xfrm>
            <a:off x="377190" y="6200438"/>
            <a:ext cx="1143762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0989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rain in head with solid fill">
            <a:extLst>
              <a:ext uri="{FF2B5EF4-FFF2-40B4-BE49-F238E27FC236}">
                <a16:creationId xmlns:a16="http://schemas.microsoft.com/office/drawing/2014/main" id="{4D2F3114-A2B2-C0F2-6E9D-CD3A5F86D2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7" name="TextBox 6">
            <a:extLst>
              <a:ext uri="{FF2B5EF4-FFF2-40B4-BE49-F238E27FC236}">
                <a16:creationId xmlns:a16="http://schemas.microsoft.com/office/drawing/2014/main" id="{79473AF6-AC3C-0FF0-1C6F-82CF99402C96}"/>
              </a:ext>
            </a:extLst>
          </p:cNvPr>
          <p:cNvSpPr txBox="1"/>
          <p:nvPr/>
        </p:nvSpPr>
        <p:spPr>
          <a:xfrm>
            <a:off x="1054100" y="553581"/>
            <a:ext cx="4927600" cy="553998"/>
          </a:xfrm>
          <a:prstGeom prst="rect">
            <a:avLst/>
          </a:prstGeom>
          <a:noFill/>
        </p:spPr>
        <p:txBody>
          <a:bodyPr wrap="square" rtlCol="0">
            <a:spAutoFit/>
          </a:bodyPr>
          <a:lstStyle/>
          <a:p>
            <a:r>
              <a:rPr lang="en-IN" sz="3000" b="1" dirty="0"/>
              <a:t>DESCRIPTIVE ANALYSIS</a:t>
            </a:r>
          </a:p>
        </p:txBody>
      </p:sp>
      <p:graphicFrame>
        <p:nvGraphicFramePr>
          <p:cNvPr id="10" name="Table 9">
            <a:extLst>
              <a:ext uri="{FF2B5EF4-FFF2-40B4-BE49-F238E27FC236}">
                <a16:creationId xmlns:a16="http://schemas.microsoft.com/office/drawing/2014/main" id="{2705B918-6A6E-E3B0-0E93-E063AF365999}"/>
              </a:ext>
            </a:extLst>
          </p:cNvPr>
          <p:cNvGraphicFramePr>
            <a:graphicFrameLocks noGrp="1"/>
          </p:cNvGraphicFramePr>
          <p:nvPr>
            <p:extLst>
              <p:ext uri="{D42A27DB-BD31-4B8C-83A1-F6EECF244321}">
                <p14:modId xmlns:p14="http://schemas.microsoft.com/office/powerpoint/2010/main" val="4225855703"/>
              </p:ext>
            </p:extLst>
          </p:nvPr>
        </p:nvGraphicFramePr>
        <p:xfrm>
          <a:off x="746760" y="1168260"/>
          <a:ext cx="10642599" cy="4887097"/>
        </p:xfrm>
        <a:graphic>
          <a:graphicData uri="http://schemas.openxmlformats.org/drawingml/2006/table">
            <a:tbl>
              <a:tblPr>
                <a:tableStyleId>{5C22544A-7EE6-4342-B048-85BDC9FD1C3A}</a:tableStyleId>
              </a:tblPr>
              <a:tblGrid>
                <a:gridCol w="3547533">
                  <a:extLst>
                    <a:ext uri="{9D8B030D-6E8A-4147-A177-3AD203B41FA5}">
                      <a16:colId xmlns:a16="http://schemas.microsoft.com/office/drawing/2014/main" val="2301558833"/>
                    </a:ext>
                  </a:extLst>
                </a:gridCol>
                <a:gridCol w="3547533">
                  <a:extLst>
                    <a:ext uri="{9D8B030D-6E8A-4147-A177-3AD203B41FA5}">
                      <a16:colId xmlns:a16="http://schemas.microsoft.com/office/drawing/2014/main" val="4130603161"/>
                    </a:ext>
                  </a:extLst>
                </a:gridCol>
                <a:gridCol w="3547533">
                  <a:extLst>
                    <a:ext uri="{9D8B030D-6E8A-4147-A177-3AD203B41FA5}">
                      <a16:colId xmlns:a16="http://schemas.microsoft.com/office/drawing/2014/main" val="3300063676"/>
                    </a:ext>
                  </a:extLst>
                </a:gridCol>
              </a:tblGrid>
              <a:tr h="376711">
                <a:tc>
                  <a:txBody>
                    <a:bodyPr/>
                    <a:lstStyle/>
                    <a:p>
                      <a:pPr>
                        <a:buNone/>
                      </a:pPr>
                      <a:r>
                        <a:rPr lang="en-IN" sz="1700"/>
                        <a:t>Area</a:t>
                      </a:r>
                    </a:p>
                  </a:txBody>
                  <a:tcPr marL="81065" marR="81065" marT="40533" marB="40533" anchor="ctr"/>
                </a:tc>
                <a:tc>
                  <a:txBody>
                    <a:bodyPr/>
                    <a:lstStyle/>
                    <a:p>
                      <a:pPr>
                        <a:buNone/>
                      </a:pPr>
                      <a:r>
                        <a:rPr lang="en-IN" sz="1700"/>
                        <a:t>Analysis</a:t>
                      </a:r>
                    </a:p>
                  </a:txBody>
                  <a:tcPr marL="81065" marR="81065" marT="40533" marB="40533" anchor="ctr"/>
                </a:tc>
                <a:tc>
                  <a:txBody>
                    <a:bodyPr/>
                    <a:lstStyle/>
                    <a:p>
                      <a:pPr>
                        <a:buNone/>
                      </a:pPr>
                      <a:r>
                        <a:rPr lang="en-IN" sz="1700"/>
                        <a:t>Key Metrics</a:t>
                      </a:r>
                    </a:p>
                  </a:txBody>
                  <a:tcPr marL="81065" marR="81065" marT="40533" marB="40533" anchor="ctr"/>
                </a:tc>
                <a:extLst>
                  <a:ext uri="{0D108BD9-81ED-4DB2-BD59-A6C34878D82A}">
                    <a16:rowId xmlns:a16="http://schemas.microsoft.com/office/drawing/2014/main" val="3361500299"/>
                  </a:ext>
                </a:extLst>
              </a:tr>
              <a:tr h="927909">
                <a:tc>
                  <a:txBody>
                    <a:bodyPr/>
                    <a:lstStyle/>
                    <a:p>
                      <a:pPr>
                        <a:buNone/>
                      </a:pPr>
                      <a:r>
                        <a:rPr lang="en-IN" sz="1700" dirty="0"/>
                        <a:t>Patient Analysis</a:t>
                      </a:r>
                    </a:p>
                  </a:txBody>
                  <a:tcPr marL="81065" marR="81065" marT="40533" marB="40533" anchor="ctr"/>
                </a:tc>
                <a:tc>
                  <a:txBody>
                    <a:bodyPr/>
                    <a:lstStyle/>
                    <a:p>
                      <a:pPr>
                        <a:buNone/>
                      </a:pPr>
                      <a:r>
                        <a:rPr lang="en-IN" sz="1700"/>
                        <a:t>Registration and demographic trends</a:t>
                      </a:r>
                    </a:p>
                  </a:txBody>
                  <a:tcPr marL="81065" marR="81065" marT="40533" marB="40533" anchor="ctr"/>
                </a:tc>
                <a:tc>
                  <a:txBody>
                    <a:bodyPr/>
                    <a:lstStyle/>
                    <a:p>
                      <a:pPr>
                        <a:buNone/>
                      </a:pPr>
                      <a:r>
                        <a:rPr lang="en-IN" sz="1700"/>
                        <a:t>Total Patients, New Registrations, Gender Distribution, Age Groups</a:t>
                      </a:r>
                    </a:p>
                  </a:txBody>
                  <a:tcPr marL="81065" marR="81065" marT="40533" marB="40533" anchor="ctr"/>
                </a:tc>
                <a:extLst>
                  <a:ext uri="{0D108BD9-81ED-4DB2-BD59-A6C34878D82A}">
                    <a16:rowId xmlns:a16="http://schemas.microsoft.com/office/drawing/2014/main" val="2053057528"/>
                  </a:ext>
                </a:extLst>
              </a:tr>
              <a:tr h="663642">
                <a:tc>
                  <a:txBody>
                    <a:bodyPr/>
                    <a:lstStyle/>
                    <a:p>
                      <a:pPr>
                        <a:buNone/>
                      </a:pPr>
                      <a:r>
                        <a:rPr lang="en-IN" sz="1700"/>
                        <a:t>Appointment Analysis</a:t>
                      </a:r>
                    </a:p>
                  </a:txBody>
                  <a:tcPr marL="81065" marR="81065" marT="40533" marB="40533" anchor="ctr"/>
                </a:tc>
                <a:tc>
                  <a:txBody>
                    <a:bodyPr/>
                    <a:lstStyle/>
                    <a:p>
                      <a:pPr>
                        <a:buNone/>
                      </a:pPr>
                      <a:r>
                        <a:rPr lang="en-IN" sz="1700"/>
                        <a:t>Appointment volume and outcomes</a:t>
                      </a:r>
                    </a:p>
                  </a:txBody>
                  <a:tcPr marL="81065" marR="81065" marT="40533" marB="40533" anchor="ctr"/>
                </a:tc>
                <a:tc>
                  <a:txBody>
                    <a:bodyPr/>
                    <a:lstStyle/>
                    <a:p>
                      <a:pPr>
                        <a:buNone/>
                      </a:pPr>
                      <a:r>
                        <a:rPr lang="en-IN" sz="1700"/>
                        <a:t>Total Appointments, Completed %, Cancelled %, No-show %</a:t>
                      </a:r>
                    </a:p>
                  </a:txBody>
                  <a:tcPr marL="81065" marR="81065" marT="40533" marB="40533" anchor="ctr"/>
                </a:tc>
                <a:extLst>
                  <a:ext uri="{0D108BD9-81ED-4DB2-BD59-A6C34878D82A}">
                    <a16:rowId xmlns:a16="http://schemas.microsoft.com/office/drawing/2014/main" val="2924162827"/>
                  </a:ext>
                </a:extLst>
              </a:tr>
              <a:tr h="927909">
                <a:tc>
                  <a:txBody>
                    <a:bodyPr/>
                    <a:lstStyle/>
                    <a:p>
                      <a:pPr>
                        <a:buNone/>
                      </a:pPr>
                      <a:r>
                        <a:rPr lang="en-IN" sz="1700"/>
                        <a:t>Doctor Analysis</a:t>
                      </a:r>
                    </a:p>
                  </a:txBody>
                  <a:tcPr marL="81065" marR="81065" marT="40533" marB="40533" anchor="ctr"/>
                </a:tc>
                <a:tc>
                  <a:txBody>
                    <a:bodyPr/>
                    <a:lstStyle/>
                    <a:p>
                      <a:pPr>
                        <a:buNone/>
                      </a:pPr>
                      <a:r>
                        <a:rPr lang="en-IN" sz="1700"/>
                        <a:t>Workload and specialization</a:t>
                      </a:r>
                    </a:p>
                  </a:txBody>
                  <a:tcPr marL="81065" marR="81065" marT="40533" marB="40533" anchor="ctr"/>
                </a:tc>
                <a:tc>
                  <a:txBody>
                    <a:bodyPr/>
                    <a:lstStyle/>
                    <a:p>
                      <a:pPr>
                        <a:buNone/>
                      </a:pPr>
                      <a:r>
                        <a:rPr lang="en-IN" sz="1700"/>
                        <a:t>Appointments/Doctor, Experience, Specialty-wise Demand</a:t>
                      </a:r>
                    </a:p>
                  </a:txBody>
                  <a:tcPr marL="81065" marR="81065" marT="40533" marB="40533" anchor="ctr"/>
                </a:tc>
                <a:extLst>
                  <a:ext uri="{0D108BD9-81ED-4DB2-BD59-A6C34878D82A}">
                    <a16:rowId xmlns:a16="http://schemas.microsoft.com/office/drawing/2014/main" val="3382135761"/>
                  </a:ext>
                </a:extLst>
              </a:tr>
              <a:tr h="663642">
                <a:tc>
                  <a:txBody>
                    <a:bodyPr/>
                    <a:lstStyle/>
                    <a:p>
                      <a:pPr>
                        <a:buNone/>
                      </a:pPr>
                      <a:r>
                        <a:rPr lang="en-IN" sz="1700"/>
                        <a:t>Treatment Analysis</a:t>
                      </a:r>
                    </a:p>
                  </a:txBody>
                  <a:tcPr marL="81065" marR="81065" marT="40533" marB="40533" anchor="ctr"/>
                </a:tc>
                <a:tc>
                  <a:txBody>
                    <a:bodyPr/>
                    <a:lstStyle/>
                    <a:p>
                      <a:pPr>
                        <a:buNone/>
                      </a:pPr>
                      <a:r>
                        <a:rPr lang="en-IN" sz="1700"/>
                        <a:t>Treatment utilization and cost</a:t>
                      </a:r>
                    </a:p>
                  </a:txBody>
                  <a:tcPr marL="81065" marR="81065" marT="40533" marB="40533" anchor="ctr"/>
                </a:tc>
                <a:tc>
                  <a:txBody>
                    <a:bodyPr/>
                    <a:lstStyle/>
                    <a:p>
                      <a:pPr>
                        <a:buNone/>
                      </a:pPr>
                      <a:r>
                        <a:rPr lang="en-IN" sz="1700"/>
                        <a:t>Total Treatments, Treatment Count, Avg. Treatment Cost</a:t>
                      </a:r>
                    </a:p>
                  </a:txBody>
                  <a:tcPr marL="81065" marR="81065" marT="40533" marB="40533" anchor="ctr"/>
                </a:tc>
                <a:extLst>
                  <a:ext uri="{0D108BD9-81ED-4DB2-BD59-A6C34878D82A}">
                    <a16:rowId xmlns:a16="http://schemas.microsoft.com/office/drawing/2014/main" val="1796349308"/>
                  </a:ext>
                </a:extLst>
              </a:tr>
              <a:tr h="663642">
                <a:tc>
                  <a:txBody>
                    <a:bodyPr/>
                    <a:lstStyle/>
                    <a:p>
                      <a:pPr>
                        <a:buNone/>
                      </a:pPr>
                      <a:r>
                        <a:rPr lang="en-IN" sz="1700"/>
                        <a:t>Billing Analysis</a:t>
                      </a:r>
                    </a:p>
                  </a:txBody>
                  <a:tcPr marL="81065" marR="81065" marT="40533" marB="40533" anchor="ctr"/>
                </a:tc>
                <a:tc>
                  <a:txBody>
                    <a:bodyPr/>
                    <a:lstStyle/>
                    <a:p>
                      <a:pPr>
                        <a:buNone/>
                      </a:pPr>
                      <a:r>
                        <a:rPr lang="en-IN" sz="1700"/>
                        <a:t>Financial performance</a:t>
                      </a:r>
                    </a:p>
                  </a:txBody>
                  <a:tcPr marL="81065" marR="81065" marT="40533" marB="40533" anchor="ctr"/>
                </a:tc>
                <a:tc>
                  <a:txBody>
                    <a:bodyPr/>
                    <a:lstStyle/>
                    <a:p>
                      <a:pPr>
                        <a:buNone/>
                      </a:pPr>
                      <a:r>
                        <a:rPr lang="en-IN" sz="1700"/>
                        <a:t>Total Billing, Avg. Bill Amount, Paid %, Unpaid %</a:t>
                      </a:r>
                    </a:p>
                  </a:txBody>
                  <a:tcPr marL="81065" marR="81065" marT="40533" marB="40533" anchor="ctr"/>
                </a:tc>
                <a:extLst>
                  <a:ext uri="{0D108BD9-81ED-4DB2-BD59-A6C34878D82A}">
                    <a16:rowId xmlns:a16="http://schemas.microsoft.com/office/drawing/2014/main" val="22599913"/>
                  </a:ext>
                </a:extLst>
              </a:tr>
              <a:tr h="663642">
                <a:tc>
                  <a:txBody>
                    <a:bodyPr/>
                    <a:lstStyle/>
                    <a:p>
                      <a:pPr>
                        <a:buNone/>
                      </a:pPr>
                      <a:r>
                        <a:rPr lang="en-IN" sz="1700"/>
                        <a:t>Branch Analysis</a:t>
                      </a:r>
                    </a:p>
                  </a:txBody>
                  <a:tcPr marL="81065" marR="81065" marT="40533" marB="40533" anchor="ctr"/>
                </a:tc>
                <a:tc>
                  <a:txBody>
                    <a:bodyPr/>
                    <a:lstStyle/>
                    <a:p>
                      <a:pPr>
                        <a:buNone/>
                      </a:pPr>
                      <a:r>
                        <a:rPr lang="en-IN" sz="1700"/>
                        <a:t>Hospital branch performance</a:t>
                      </a:r>
                    </a:p>
                  </a:txBody>
                  <a:tcPr marL="81065" marR="81065" marT="40533" marB="40533" anchor="ctr"/>
                </a:tc>
                <a:tc>
                  <a:txBody>
                    <a:bodyPr/>
                    <a:lstStyle/>
                    <a:p>
                      <a:pPr>
                        <a:buNone/>
                      </a:pPr>
                      <a:r>
                        <a:rPr lang="en-IN" sz="1700" dirty="0"/>
                        <a:t>Patients, Appointments, Treatments, Billing by Branch</a:t>
                      </a:r>
                    </a:p>
                  </a:txBody>
                  <a:tcPr marL="81065" marR="81065" marT="40533" marB="40533" anchor="ctr"/>
                </a:tc>
                <a:extLst>
                  <a:ext uri="{0D108BD9-81ED-4DB2-BD59-A6C34878D82A}">
                    <a16:rowId xmlns:a16="http://schemas.microsoft.com/office/drawing/2014/main" val="862872807"/>
                  </a:ext>
                </a:extLst>
              </a:tr>
            </a:tbl>
          </a:graphicData>
        </a:graphic>
      </p:graphicFrame>
      <p:cxnSp>
        <p:nvCxnSpPr>
          <p:cNvPr id="12" name="Straight Connector 11">
            <a:extLst>
              <a:ext uri="{FF2B5EF4-FFF2-40B4-BE49-F238E27FC236}">
                <a16:creationId xmlns:a16="http://schemas.microsoft.com/office/drawing/2014/main" id="{8BDB564D-739F-186A-3A10-22CB36D249BB}"/>
              </a:ext>
            </a:extLst>
          </p:cNvPr>
          <p:cNvCxnSpPr/>
          <p:nvPr/>
        </p:nvCxnSpPr>
        <p:spPr>
          <a:xfrm>
            <a:off x="746760" y="1168260"/>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900BD907-BAD8-E551-ADC9-B9FA15B362F7}"/>
              </a:ext>
            </a:extLst>
          </p:cNvPr>
          <p:cNvCxnSpPr/>
          <p:nvPr/>
        </p:nvCxnSpPr>
        <p:spPr>
          <a:xfrm>
            <a:off x="746760" y="1554340"/>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A23E9F4-DA39-1BF4-5C91-1F83799B6588}"/>
              </a:ext>
            </a:extLst>
          </p:cNvPr>
          <p:cNvCxnSpPr/>
          <p:nvPr/>
        </p:nvCxnSpPr>
        <p:spPr>
          <a:xfrm>
            <a:off x="746760" y="2458580"/>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818A3174-F959-EADF-C41B-3AAED37414DF}"/>
              </a:ext>
            </a:extLst>
          </p:cNvPr>
          <p:cNvCxnSpPr/>
          <p:nvPr/>
        </p:nvCxnSpPr>
        <p:spPr>
          <a:xfrm>
            <a:off x="746760" y="3139300"/>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7F3A336-40E7-C402-A2FF-3BC859CD4D98}"/>
              </a:ext>
            </a:extLst>
          </p:cNvPr>
          <p:cNvCxnSpPr/>
          <p:nvPr/>
        </p:nvCxnSpPr>
        <p:spPr>
          <a:xfrm>
            <a:off x="746760" y="4043540"/>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210B831-9976-EF9A-BD54-ADAD4A2C1273}"/>
              </a:ext>
            </a:extLst>
          </p:cNvPr>
          <p:cNvCxnSpPr/>
          <p:nvPr/>
        </p:nvCxnSpPr>
        <p:spPr>
          <a:xfrm>
            <a:off x="746760" y="4724260"/>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EA24413-157C-7F59-E22B-CA40835C68F3}"/>
              </a:ext>
            </a:extLst>
          </p:cNvPr>
          <p:cNvCxnSpPr/>
          <p:nvPr/>
        </p:nvCxnSpPr>
        <p:spPr>
          <a:xfrm>
            <a:off x="746760" y="5394820"/>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CD0C471-C429-9253-610C-FB3D8567B622}"/>
              </a:ext>
            </a:extLst>
          </p:cNvPr>
          <p:cNvCxnSpPr/>
          <p:nvPr/>
        </p:nvCxnSpPr>
        <p:spPr>
          <a:xfrm>
            <a:off x="746760" y="6055217"/>
            <a:ext cx="10642599"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5B67AFD-1C63-EC66-86A1-979503F6D5EA}"/>
              </a:ext>
            </a:extLst>
          </p:cNvPr>
          <p:cNvCxnSpPr/>
          <p:nvPr/>
        </p:nvCxnSpPr>
        <p:spPr>
          <a:xfrm>
            <a:off x="746760" y="1168260"/>
            <a:ext cx="0" cy="4887097"/>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0C337D06-CA47-F648-06D5-359BC7F363F2}"/>
              </a:ext>
            </a:extLst>
          </p:cNvPr>
          <p:cNvCxnSpPr/>
          <p:nvPr/>
        </p:nvCxnSpPr>
        <p:spPr>
          <a:xfrm>
            <a:off x="4292600" y="1168260"/>
            <a:ext cx="0" cy="4887097"/>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C5440A3-520C-393D-419A-30FEA1FCB6F0}"/>
              </a:ext>
            </a:extLst>
          </p:cNvPr>
          <p:cNvCxnSpPr/>
          <p:nvPr/>
        </p:nvCxnSpPr>
        <p:spPr>
          <a:xfrm>
            <a:off x="7838440" y="1168260"/>
            <a:ext cx="0" cy="4887097"/>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89F4EE9-13DF-FAD2-46DA-337A2F65B167}"/>
              </a:ext>
            </a:extLst>
          </p:cNvPr>
          <p:cNvCxnSpPr/>
          <p:nvPr/>
        </p:nvCxnSpPr>
        <p:spPr>
          <a:xfrm>
            <a:off x="11389359" y="1168260"/>
            <a:ext cx="0" cy="4887097"/>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59445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D205EB-C03F-C358-39E0-A9249FE06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170" y="788035"/>
            <a:ext cx="6564630" cy="4499026"/>
          </a:xfrm>
          <a:prstGeom prst="rect">
            <a:avLst/>
          </a:prstGeom>
        </p:spPr>
      </p:pic>
      <p:sp>
        <p:nvSpPr>
          <p:cNvPr id="4" name="TextBox 3">
            <a:extLst>
              <a:ext uri="{FF2B5EF4-FFF2-40B4-BE49-F238E27FC236}">
                <a16:creationId xmlns:a16="http://schemas.microsoft.com/office/drawing/2014/main" id="{C4018ECE-D583-1562-A309-121DBB355C42}"/>
              </a:ext>
            </a:extLst>
          </p:cNvPr>
          <p:cNvSpPr txBox="1"/>
          <p:nvPr/>
        </p:nvSpPr>
        <p:spPr>
          <a:xfrm>
            <a:off x="7122160" y="1920240"/>
            <a:ext cx="4968240" cy="3970318"/>
          </a:xfrm>
          <a:prstGeom prst="rect">
            <a:avLst/>
          </a:prstGeom>
          <a:noFill/>
        </p:spPr>
        <p:txBody>
          <a:bodyPr wrap="square" rtlCol="0">
            <a:spAutoFit/>
          </a:bodyPr>
          <a:lstStyle/>
          <a:p>
            <a:pPr lvl="0"/>
            <a:r>
              <a:rPr lang="en-IN" b="1" dirty="0"/>
              <a:t>No-show:</a:t>
            </a:r>
            <a:r>
              <a:rPr lang="en-IN" dirty="0"/>
              <a:t> 52 appointments (</a:t>
            </a:r>
            <a:r>
              <a:rPr lang="en-IN" b="1" dirty="0"/>
              <a:t>26.0%</a:t>
            </a:r>
            <a:r>
              <a:rPr lang="en-IN" dirty="0"/>
              <a:t>) — the highest proportion of all appointment statuses. </a:t>
            </a:r>
          </a:p>
          <a:p>
            <a:pPr lvl="0"/>
            <a:r>
              <a:rPr lang="en-IN" b="1" dirty="0"/>
              <a:t>Scheduled:</a:t>
            </a:r>
            <a:r>
              <a:rPr lang="en-IN" dirty="0"/>
              <a:t> 51 appointments (</a:t>
            </a:r>
            <a:r>
              <a:rPr lang="en-IN" b="1" dirty="0"/>
              <a:t>25.5%</a:t>
            </a:r>
            <a:r>
              <a:rPr lang="en-IN" dirty="0"/>
              <a:t>) remain scheduled. </a:t>
            </a:r>
          </a:p>
          <a:p>
            <a:pPr lvl="0"/>
            <a:r>
              <a:rPr lang="en-IN" b="1" dirty="0"/>
              <a:t>Cancelled:</a:t>
            </a:r>
            <a:r>
              <a:rPr lang="en-IN" dirty="0"/>
              <a:t> 51 appointments (</a:t>
            </a:r>
            <a:r>
              <a:rPr lang="en-IN" b="1" dirty="0"/>
              <a:t>25.5%</a:t>
            </a:r>
            <a:r>
              <a:rPr lang="en-IN" dirty="0"/>
              <a:t>) were cancelled. </a:t>
            </a:r>
          </a:p>
          <a:p>
            <a:pPr lvl="0"/>
            <a:r>
              <a:rPr lang="en-IN" b="1" dirty="0"/>
              <a:t>Completed:</a:t>
            </a:r>
            <a:r>
              <a:rPr lang="en-IN" dirty="0"/>
              <a:t> 46 appointments (</a:t>
            </a:r>
            <a:r>
              <a:rPr lang="en-IN" b="1" dirty="0"/>
              <a:t>23.0%</a:t>
            </a:r>
            <a:r>
              <a:rPr lang="en-IN" dirty="0"/>
              <a:t>) were successfully completed. </a:t>
            </a:r>
          </a:p>
          <a:p>
            <a:pPr lvl="0"/>
            <a:r>
              <a:rPr lang="en-IN" dirty="0"/>
              <a:t>Out of 200 total appointments, only 46 (23%) are recorded as completed, while 103 appointments (51.5%) are either no-show or cancelled.</a:t>
            </a:r>
          </a:p>
          <a:p>
            <a:endParaRPr lang="en-IN" dirty="0"/>
          </a:p>
        </p:txBody>
      </p:sp>
    </p:spTree>
    <p:extLst>
      <p:ext uri="{BB962C8B-B14F-4D97-AF65-F5344CB8AC3E}">
        <p14:creationId xmlns:p14="http://schemas.microsoft.com/office/powerpoint/2010/main" val="1917457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20DCB1-84F2-98AA-5819-548B5642E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 y="124936"/>
            <a:ext cx="11338560" cy="3942081"/>
          </a:xfrm>
          <a:prstGeom prst="rect">
            <a:avLst/>
          </a:prstGeom>
        </p:spPr>
      </p:pic>
      <p:sp>
        <p:nvSpPr>
          <p:cNvPr id="11" name="TextBox 10">
            <a:extLst>
              <a:ext uri="{FF2B5EF4-FFF2-40B4-BE49-F238E27FC236}">
                <a16:creationId xmlns:a16="http://schemas.microsoft.com/office/drawing/2014/main" id="{78B50596-4BD1-AF5B-D91C-1508206CD1E6}"/>
              </a:ext>
            </a:extLst>
          </p:cNvPr>
          <p:cNvSpPr txBox="1"/>
          <p:nvPr/>
        </p:nvSpPr>
        <p:spPr>
          <a:xfrm>
            <a:off x="426720" y="4229577"/>
            <a:ext cx="11684000" cy="2031325"/>
          </a:xfrm>
          <a:prstGeom prst="rect">
            <a:avLst/>
          </a:prstGeom>
          <a:noFill/>
        </p:spPr>
        <p:txBody>
          <a:bodyPr wrap="square" rtlCol="0">
            <a:spAutoFit/>
          </a:bodyPr>
          <a:lstStyle/>
          <a:p>
            <a:pPr lvl="0">
              <a:buClr>
                <a:schemeClr val="tx1">
                  <a:lumMod val="95000"/>
                </a:schemeClr>
              </a:buClr>
              <a:buFont typeface="Arial" panose="020B0604020202020204" pitchFamily="34" charset="0"/>
              <a:buChar char="•"/>
            </a:pPr>
            <a:r>
              <a:rPr lang="en-IN" dirty="0"/>
              <a:t>    April 2023 recorded the highest appointment volume with 25 appointments. </a:t>
            </a:r>
          </a:p>
          <a:p>
            <a:pPr lvl="0">
              <a:buClr>
                <a:schemeClr val="tx1">
                  <a:lumMod val="95000"/>
                </a:schemeClr>
              </a:buClr>
              <a:buFont typeface="Arial" panose="020B0604020202020204" pitchFamily="34" charset="0"/>
              <a:buChar char="•"/>
            </a:pPr>
            <a:r>
              <a:rPr lang="en-IN" dirty="0"/>
              <a:t>    September 2023 recorded the lowest volume with 11 appointments. </a:t>
            </a:r>
          </a:p>
          <a:p>
            <a:pPr lvl="0">
              <a:buClr>
                <a:schemeClr val="tx1">
                  <a:lumMod val="95000"/>
                </a:schemeClr>
              </a:buClr>
              <a:buFont typeface="Arial" panose="020B0604020202020204" pitchFamily="34" charset="0"/>
              <a:buChar char="•"/>
            </a:pPr>
            <a:r>
              <a:rPr lang="en-IN" dirty="0"/>
              <a:t>   Appointment volume fluctuated throughout the year, with no consistent upward or downward trend. </a:t>
            </a:r>
          </a:p>
          <a:p>
            <a:pPr marL="285750" lvl="0" indent="-285750">
              <a:buFont typeface="Arial" panose="020B0604020202020204" pitchFamily="34" charset="0"/>
              <a:buChar char="•"/>
            </a:pPr>
            <a:r>
              <a:rPr lang="en-IN" dirty="0"/>
              <a:t>Stronger appointment activity was observed in January (20), March (19), April (25), and May (19). </a:t>
            </a:r>
          </a:p>
          <a:p>
            <a:pPr marL="285750" lvl="0" indent="-285750">
              <a:buFont typeface="Arial" panose="020B0604020202020204" pitchFamily="34" charset="0"/>
              <a:buChar char="•"/>
            </a:pPr>
            <a:r>
              <a:rPr lang="en-IN" dirty="0"/>
              <a:t>Appointment volume declined during July–October, reaching the yearly low in September. </a:t>
            </a:r>
          </a:p>
          <a:p>
            <a:pPr marL="285750" lvl="0" indent="-285750">
              <a:buFont typeface="Arial" panose="020B0604020202020204" pitchFamily="34" charset="0"/>
              <a:buChar char="•"/>
            </a:pPr>
            <a:r>
              <a:rPr lang="en-IN" dirty="0"/>
              <a:t>The dataset contains 200 appointments across 12 months, averaging approximately 16.7 appointments per month.</a:t>
            </a:r>
          </a:p>
        </p:txBody>
      </p:sp>
    </p:spTree>
    <p:extLst>
      <p:ext uri="{BB962C8B-B14F-4D97-AF65-F5344CB8AC3E}">
        <p14:creationId xmlns:p14="http://schemas.microsoft.com/office/powerpoint/2010/main" val="2813775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3E9D7A-234F-79D3-59A4-3B283228F971}"/>
              </a:ext>
            </a:extLst>
          </p:cNvPr>
          <p:cNvSpPr txBox="1"/>
          <p:nvPr/>
        </p:nvSpPr>
        <p:spPr>
          <a:xfrm>
            <a:off x="668020" y="1272739"/>
            <a:ext cx="11269980" cy="1138773"/>
          </a:xfrm>
          <a:prstGeom prst="rect">
            <a:avLst/>
          </a:prstGeom>
          <a:noFill/>
        </p:spPr>
        <p:txBody>
          <a:bodyPr wrap="square">
            <a:spAutoFit/>
          </a:bodyPr>
          <a:lstStyle/>
          <a:p>
            <a:r>
              <a:rPr lang="en-IN" sz="1700" dirty="0"/>
              <a:t>Diagnostic analysis identifies the root causes behind operational and patient-service issues in the Healthcare Management System. By </a:t>
            </a:r>
            <a:r>
              <a:rPr lang="en-IN" sz="1700" dirty="0" err="1"/>
              <a:t>analyzing</a:t>
            </a:r>
            <a:r>
              <a:rPr lang="en-IN" sz="1700" dirty="0"/>
              <a:t> appointment patterns, doctor workload, department performance, waiting times, cancellations, no-shows, and resource utilization, management can identify bottlenecks, improve staff allocation, optimize appointment scheduling, reduce waiting times, and improve overall healthcare service efficiency.</a:t>
            </a:r>
          </a:p>
        </p:txBody>
      </p:sp>
      <p:pic>
        <p:nvPicPr>
          <p:cNvPr id="5" name="Graphic 4" descr="Brain in head with solid fill">
            <a:extLst>
              <a:ext uri="{FF2B5EF4-FFF2-40B4-BE49-F238E27FC236}">
                <a16:creationId xmlns:a16="http://schemas.microsoft.com/office/drawing/2014/main" id="{86C2B533-0626-160E-6DFB-35CFA2CC17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7" name="TextBox 6">
            <a:extLst>
              <a:ext uri="{FF2B5EF4-FFF2-40B4-BE49-F238E27FC236}">
                <a16:creationId xmlns:a16="http://schemas.microsoft.com/office/drawing/2014/main" id="{C240F61F-C5D9-F41A-2CFA-9A2F8262FE64}"/>
              </a:ext>
            </a:extLst>
          </p:cNvPr>
          <p:cNvSpPr txBox="1"/>
          <p:nvPr/>
        </p:nvSpPr>
        <p:spPr>
          <a:xfrm>
            <a:off x="1054100" y="553581"/>
            <a:ext cx="4927600" cy="553998"/>
          </a:xfrm>
          <a:prstGeom prst="rect">
            <a:avLst/>
          </a:prstGeom>
          <a:noFill/>
        </p:spPr>
        <p:txBody>
          <a:bodyPr wrap="square" rtlCol="0">
            <a:spAutoFit/>
          </a:bodyPr>
          <a:lstStyle/>
          <a:p>
            <a:r>
              <a:rPr lang="en-IN" sz="3000" b="1" dirty="0"/>
              <a:t>DIAGNOSTIC ANALYSIS</a:t>
            </a:r>
          </a:p>
        </p:txBody>
      </p:sp>
      <p:sp>
        <p:nvSpPr>
          <p:cNvPr id="9" name="TextBox 8">
            <a:extLst>
              <a:ext uri="{FF2B5EF4-FFF2-40B4-BE49-F238E27FC236}">
                <a16:creationId xmlns:a16="http://schemas.microsoft.com/office/drawing/2014/main" id="{237855FA-CAC2-5C81-6B40-086E91520A87}"/>
              </a:ext>
            </a:extLst>
          </p:cNvPr>
          <p:cNvSpPr txBox="1"/>
          <p:nvPr/>
        </p:nvSpPr>
        <p:spPr>
          <a:xfrm>
            <a:off x="922020" y="2546331"/>
            <a:ext cx="6151880" cy="2708434"/>
          </a:xfrm>
          <a:prstGeom prst="rect">
            <a:avLst/>
          </a:prstGeom>
          <a:noFill/>
        </p:spPr>
        <p:txBody>
          <a:bodyPr wrap="square">
            <a:spAutoFit/>
          </a:bodyPr>
          <a:lstStyle/>
          <a:p>
            <a:pPr marL="342900" lvl="0" indent="-342900">
              <a:buFont typeface="Arial" panose="020B0604020202020204" pitchFamily="34" charset="0"/>
              <a:buChar char="•"/>
            </a:pPr>
            <a:r>
              <a:rPr lang="en-IN" sz="1700" dirty="0"/>
              <a:t>Appointment Completion Rate </a:t>
            </a:r>
          </a:p>
          <a:p>
            <a:pPr marL="342900" lvl="0" indent="-342900">
              <a:buFont typeface="Arial" panose="020B0604020202020204" pitchFamily="34" charset="0"/>
              <a:buChar char="•"/>
            </a:pPr>
            <a:r>
              <a:rPr lang="en-IN" sz="1700" dirty="0"/>
              <a:t>Appointment Cancellation Rate </a:t>
            </a:r>
          </a:p>
          <a:p>
            <a:pPr marL="342900" lvl="0" indent="-342900">
              <a:buFont typeface="Arial" panose="020B0604020202020204" pitchFamily="34" charset="0"/>
              <a:buChar char="•"/>
            </a:pPr>
            <a:r>
              <a:rPr lang="en-IN" sz="1700" dirty="0"/>
              <a:t>Patient No-Show Rate </a:t>
            </a:r>
          </a:p>
          <a:p>
            <a:pPr marL="342900" lvl="0" indent="-342900">
              <a:buFont typeface="Arial" panose="020B0604020202020204" pitchFamily="34" charset="0"/>
              <a:buChar char="•"/>
            </a:pPr>
            <a:r>
              <a:rPr lang="en-IN" sz="1700" dirty="0"/>
              <a:t>Average Waiting Time </a:t>
            </a:r>
          </a:p>
          <a:p>
            <a:pPr marL="342900" lvl="0" indent="-342900">
              <a:buFont typeface="Arial" panose="020B0604020202020204" pitchFamily="34" charset="0"/>
              <a:buChar char="•"/>
            </a:pPr>
            <a:r>
              <a:rPr lang="en-IN" sz="1700" dirty="0"/>
              <a:t>Doctor Utilization Rate </a:t>
            </a:r>
          </a:p>
          <a:p>
            <a:pPr marL="342900" lvl="0" indent="-342900">
              <a:buFont typeface="Arial" panose="020B0604020202020204" pitchFamily="34" charset="0"/>
              <a:buChar char="•"/>
            </a:pPr>
            <a:r>
              <a:rPr lang="en-IN" sz="1700" dirty="0"/>
              <a:t>Patients per Doctor </a:t>
            </a:r>
          </a:p>
          <a:p>
            <a:pPr marL="342900" lvl="0" indent="-342900">
              <a:buFont typeface="Arial" panose="020B0604020202020204" pitchFamily="34" charset="0"/>
              <a:buChar char="•"/>
            </a:pPr>
            <a:r>
              <a:rPr lang="en-IN" sz="1700" dirty="0"/>
              <a:t>Department Patient Load </a:t>
            </a:r>
          </a:p>
          <a:p>
            <a:pPr marL="342900" lvl="0" indent="-342900">
              <a:buFont typeface="Arial" panose="020B0604020202020204" pitchFamily="34" charset="0"/>
              <a:buChar char="•"/>
            </a:pPr>
            <a:r>
              <a:rPr lang="en-IN" sz="1700" dirty="0"/>
              <a:t>Average Consultation Time </a:t>
            </a:r>
          </a:p>
          <a:p>
            <a:pPr marL="342900" lvl="0" indent="-342900">
              <a:buFont typeface="Arial" panose="020B0604020202020204" pitchFamily="34" charset="0"/>
              <a:buChar char="•"/>
            </a:pPr>
            <a:r>
              <a:rPr lang="en-IN" sz="1700" dirty="0"/>
              <a:t>Repeat Visit Rate </a:t>
            </a:r>
          </a:p>
          <a:p>
            <a:pPr marL="342900" lvl="0" indent="-342900">
              <a:buFont typeface="Arial" panose="020B0604020202020204" pitchFamily="34" charset="0"/>
              <a:buChar char="•"/>
            </a:pPr>
            <a:r>
              <a:rPr lang="en-IN" sz="1700" dirty="0"/>
              <a:t>Patient Outcome Rate</a:t>
            </a:r>
          </a:p>
        </p:txBody>
      </p:sp>
    </p:spTree>
    <p:extLst>
      <p:ext uri="{BB962C8B-B14F-4D97-AF65-F5344CB8AC3E}">
        <p14:creationId xmlns:p14="http://schemas.microsoft.com/office/powerpoint/2010/main" val="4142425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5E72AE-6031-8032-7EB6-0D43DA1B6AEA}"/>
              </a:ext>
            </a:extLst>
          </p:cNvPr>
          <p:cNvSpPr>
            <a:spLocks noGrp="1"/>
          </p:cNvSpPr>
          <p:nvPr>
            <p:ph type="body" sz="half" idx="15"/>
          </p:nvPr>
        </p:nvSpPr>
        <p:spPr>
          <a:xfrm>
            <a:off x="539432" y="2194560"/>
            <a:ext cx="2927350" cy="3779520"/>
          </a:xfrm>
        </p:spPr>
        <p:txBody>
          <a:bodyPr>
            <a:normAutofit/>
          </a:bodyPr>
          <a:lstStyle/>
          <a:p>
            <a:r>
              <a:rPr lang="en-IN" sz="1700" dirty="0"/>
              <a:t>The Appointment Cancellation Rate is </a:t>
            </a:r>
            <a:r>
              <a:rPr lang="en-IN" sz="1700" b="1" dirty="0"/>
              <a:t>25.50%</a:t>
            </a:r>
            <a:r>
              <a:rPr lang="en-IN" sz="1700" dirty="0"/>
              <a:t>, indicating that approximately one-fourth of scheduled appointments were cancelled. This highlights a significant level of appointment disruption and suggests an opportunity to improve scheduling efficiency and patient commitment.</a:t>
            </a:r>
          </a:p>
        </p:txBody>
      </p:sp>
      <p:sp>
        <p:nvSpPr>
          <p:cNvPr id="6" name="Text Placeholder 5">
            <a:extLst>
              <a:ext uri="{FF2B5EF4-FFF2-40B4-BE49-F238E27FC236}">
                <a16:creationId xmlns:a16="http://schemas.microsoft.com/office/drawing/2014/main" id="{8AD15A07-3A6A-0B48-111A-CFDB5E8E968C}"/>
              </a:ext>
            </a:extLst>
          </p:cNvPr>
          <p:cNvSpPr>
            <a:spLocks noGrp="1"/>
          </p:cNvSpPr>
          <p:nvPr>
            <p:ph type="body" sz="half" idx="16"/>
          </p:nvPr>
        </p:nvSpPr>
        <p:spPr>
          <a:xfrm>
            <a:off x="3873106" y="2194560"/>
            <a:ext cx="2946794" cy="3589338"/>
          </a:xfrm>
        </p:spPr>
        <p:txBody>
          <a:bodyPr>
            <a:normAutofit/>
          </a:bodyPr>
          <a:lstStyle/>
          <a:p>
            <a:r>
              <a:rPr lang="en-IN" sz="1700" dirty="0"/>
              <a:t>The Patient No-Show Rate is </a:t>
            </a:r>
            <a:r>
              <a:rPr lang="en-IN" sz="1700" b="1" dirty="0"/>
              <a:t>26.00%</a:t>
            </a:r>
            <a:r>
              <a:rPr lang="en-IN" sz="1700" dirty="0"/>
              <a:t>, meaning more than one-fourth of appointments were missed without the patient attending. This represents a significant operational challenge for appointment capacity and healthcare resource utilization.</a:t>
            </a:r>
          </a:p>
        </p:txBody>
      </p:sp>
      <p:sp>
        <p:nvSpPr>
          <p:cNvPr id="8" name="Text Placeholder 7">
            <a:extLst>
              <a:ext uri="{FF2B5EF4-FFF2-40B4-BE49-F238E27FC236}">
                <a16:creationId xmlns:a16="http://schemas.microsoft.com/office/drawing/2014/main" id="{ED32212D-1007-21C6-A710-533617E14965}"/>
              </a:ext>
            </a:extLst>
          </p:cNvPr>
          <p:cNvSpPr>
            <a:spLocks noGrp="1"/>
          </p:cNvSpPr>
          <p:nvPr>
            <p:ph type="body" sz="half" idx="17"/>
          </p:nvPr>
        </p:nvSpPr>
        <p:spPr>
          <a:xfrm>
            <a:off x="7124700" y="2194560"/>
            <a:ext cx="2932113" cy="3589338"/>
          </a:xfrm>
        </p:spPr>
        <p:txBody>
          <a:bodyPr>
            <a:normAutofit/>
          </a:bodyPr>
          <a:lstStyle/>
          <a:p>
            <a:r>
              <a:rPr lang="en-IN" sz="1700" dirty="0"/>
              <a:t>The average number of patients per doctor is </a:t>
            </a:r>
            <a:r>
              <a:rPr lang="en-IN" sz="1700" b="1" dirty="0"/>
              <a:t>4.80</a:t>
            </a:r>
            <a:r>
              <a:rPr lang="en-IN" sz="1700" dirty="0"/>
              <a:t>, providing an overview of the average patient workload handled by each doctor during the </a:t>
            </a:r>
            <a:r>
              <a:rPr lang="en-IN" sz="1700" dirty="0" err="1"/>
              <a:t>analyzed</a:t>
            </a:r>
            <a:r>
              <a:rPr lang="en-IN" sz="1700" dirty="0"/>
              <a:t> period.</a:t>
            </a:r>
          </a:p>
        </p:txBody>
      </p:sp>
      <p:pic>
        <p:nvPicPr>
          <p:cNvPr id="10" name="Picture 9">
            <a:extLst>
              <a:ext uri="{FF2B5EF4-FFF2-40B4-BE49-F238E27FC236}">
                <a16:creationId xmlns:a16="http://schemas.microsoft.com/office/drawing/2014/main" id="{F3BD6C8A-5905-68F6-E3BF-91A600C64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917" y="1036169"/>
            <a:ext cx="2946865" cy="945031"/>
          </a:xfrm>
          <a:prstGeom prst="rect">
            <a:avLst/>
          </a:prstGeom>
        </p:spPr>
      </p:pic>
      <p:pic>
        <p:nvPicPr>
          <p:cNvPr id="12" name="Picture 11">
            <a:extLst>
              <a:ext uri="{FF2B5EF4-FFF2-40B4-BE49-F238E27FC236}">
                <a16:creationId xmlns:a16="http://schemas.microsoft.com/office/drawing/2014/main" id="{61FB58CB-14B3-DA91-C178-C55ABC5F14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3106" y="1036167"/>
            <a:ext cx="2946794" cy="945031"/>
          </a:xfrm>
          <a:prstGeom prst="rect">
            <a:avLst/>
          </a:prstGeom>
        </p:spPr>
      </p:pic>
      <p:pic>
        <p:nvPicPr>
          <p:cNvPr id="17" name="Picture 16">
            <a:extLst>
              <a:ext uri="{FF2B5EF4-FFF2-40B4-BE49-F238E27FC236}">
                <a16:creationId xmlns:a16="http://schemas.microsoft.com/office/drawing/2014/main" id="{B8197C58-1BBF-1963-E204-DC465BD2FF32}"/>
              </a:ext>
            </a:extLst>
          </p:cNvPr>
          <p:cNvPicPr>
            <a:picLocks noChangeAspect="1"/>
          </p:cNvPicPr>
          <p:nvPr/>
        </p:nvPicPr>
        <p:blipFill>
          <a:blip r:embed="rId4"/>
          <a:stretch>
            <a:fillRect/>
          </a:stretch>
        </p:blipFill>
        <p:spPr>
          <a:xfrm>
            <a:off x="7124700" y="1036167"/>
            <a:ext cx="2781300" cy="945031"/>
          </a:xfrm>
          <a:prstGeom prst="rect">
            <a:avLst/>
          </a:prstGeom>
        </p:spPr>
      </p:pic>
    </p:spTree>
    <p:extLst>
      <p:ext uri="{BB962C8B-B14F-4D97-AF65-F5344CB8AC3E}">
        <p14:creationId xmlns:p14="http://schemas.microsoft.com/office/powerpoint/2010/main" val="2432835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rain in head with solid fill">
            <a:extLst>
              <a:ext uri="{FF2B5EF4-FFF2-40B4-BE49-F238E27FC236}">
                <a16:creationId xmlns:a16="http://schemas.microsoft.com/office/drawing/2014/main" id="{FDCB5172-B2AE-1C6A-725E-25D91441E4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5" name="TextBox 4">
            <a:extLst>
              <a:ext uri="{FF2B5EF4-FFF2-40B4-BE49-F238E27FC236}">
                <a16:creationId xmlns:a16="http://schemas.microsoft.com/office/drawing/2014/main" id="{BAC38385-48A4-91A2-9034-93FEBA2B6F92}"/>
              </a:ext>
            </a:extLst>
          </p:cNvPr>
          <p:cNvSpPr txBox="1"/>
          <p:nvPr/>
        </p:nvSpPr>
        <p:spPr>
          <a:xfrm>
            <a:off x="1054100" y="553581"/>
            <a:ext cx="4927600" cy="553998"/>
          </a:xfrm>
          <a:prstGeom prst="rect">
            <a:avLst/>
          </a:prstGeom>
          <a:noFill/>
        </p:spPr>
        <p:txBody>
          <a:bodyPr wrap="square" rtlCol="0">
            <a:spAutoFit/>
          </a:bodyPr>
          <a:lstStyle/>
          <a:p>
            <a:r>
              <a:rPr lang="en-IN" sz="3000" b="1" dirty="0"/>
              <a:t>PREDICTIVE ANALYSIS</a:t>
            </a:r>
          </a:p>
        </p:txBody>
      </p:sp>
      <p:graphicFrame>
        <p:nvGraphicFramePr>
          <p:cNvPr id="6" name="Table 5">
            <a:extLst>
              <a:ext uri="{FF2B5EF4-FFF2-40B4-BE49-F238E27FC236}">
                <a16:creationId xmlns:a16="http://schemas.microsoft.com/office/drawing/2014/main" id="{36361C0E-A970-40BD-816A-ED0012B899F8}"/>
              </a:ext>
            </a:extLst>
          </p:cNvPr>
          <p:cNvGraphicFramePr>
            <a:graphicFrameLocks noGrp="1"/>
          </p:cNvGraphicFramePr>
          <p:nvPr>
            <p:extLst>
              <p:ext uri="{D42A27DB-BD31-4B8C-83A1-F6EECF244321}">
                <p14:modId xmlns:p14="http://schemas.microsoft.com/office/powerpoint/2010/main" val="4258570223"/>
              </p:ext>
            </p:extLst>
          </p:nvPr>
        </p:nvGraphicFramePr>
        <p:xfrm>
          <a:off x="594360" y="2776664"/>
          <a:ext cx="11069319" cy="3230880"/>
        </p:xfrm>
        <a:graphic>
          <a:graphicData uri="http://schemas.openxmlformats.org/drawingml/2006/table">
            <a:tbl>
              <a:tblPr>
                <a:tableStyleId>{5C22544A-7EE6-4342-B048-85BDC9FD1C3A}</a:tableStyleId>
              </a:tblPr>
              <a:tblGrid>
                <a:gridCol w="3689773">
                  <a:extLst>
                    <a:ext uri="{9D8B030D-6E8A-4147-A177-3AD203B41FA5}">
                      <a16:colId xmlns:a16="http://schemas.microsoft.com/office/drawing/2014/main" val="1583134802"/>
                    </a:ext>
                  </a:extLst>
                </a:gridCol>
                <a:gridCol w="3689773">
                  <a:extLst>
                    <a:ext uri="{9D8B030D-6E8A-4147-A177-3AD203B41FA5}">
                      <a16:colId xmlns:a16="http://schemas.microsoft.com/office/drawing/2014/main" val="2686572859"/>
                    </a:ext>
                  </a:extLst>
                </a:gridCol>
                <a:gridCol w="3689773">
                  <a:extLst>
                    <a:ext uri="{9D8B030D-6E8A-4147-A177-3AD203B41FA5}">
                      <a16:colId xmlns:a16="http://schemas.microsoft.com/office/drawing/2014/main" val="553569184"/>
                    </a:ext>
                  </a:extLst>
                </a:gridCol>
              </a:tblGrid>
              <a:tr h="0">
                <a:tc>
                  <a:txBody>
                    <a:bodyPr/>
                    <a:lstStyle/>
                    <a:p>
                      <a:pPr>
                        <a:buNone/>
                      </a:pPr>
                      <a:r>
                        <a:rPr lang="en-IN" sz="1700" dirty="0"/>
                        <a:t>Prediction Problem</a:t>
                      </a:r>
                    </a:p>
                  </a:txBody>
                  <a:tcPr anchor="ctr"/>
                </a:tc>
                <a:tc>
                  <a:txBody>
                    <a:bodyPr/>
                    <a:lstStyle/>
                    <a:p>
                      <a:pPr>
                        <a:buNone/>
                      </a:pPr>
                      <a:r>
                        <a:rPr lang="en-IN" sz="1700"/>
                        <a:t>ML Type</a:t>
                      </a:r>
                    </a:p>
                  </a:txBody>
                  <a:tcPr anchor="ctr"/>
                </a:tc>
                <a:tc>
                  <a:txBody>
                    <a:bodyPr/>
                    <a:lstStyle/>
                    <a:p>
                      <a:pPr>
                        <a:buNone/>
                      </a:pPr>
                      <a:r>
                        <a:rPr lang="en-IN" sz="1700"/>
                        <a:t>Suitable Models</a:t>
                      </a:r>
                    </a:p>
                  </a:txBody>
                  <a:tcPr anchor="ctr"/>
                </a:tc>
                <a:extLst>
                  <a:ext uri="{0D108BD9-81ED-4DB2-BD59-A6C34878D82A}">
                    <a16:rowId xmlns:a16="http://schemas.microsoft.com/office/drawing/2014/main" val="3642938047"/>
                  </a:ext>
                </a:extLst>
              </a:tr>
              <a:tr h="0">
                <a:tc>
                  <a:txBody>
                    <a:bodyPr/>
                    <a:lstStyle/>
                    <a:p>
                      <a:pPr>
                        <a:buNone/>
                      </a:pPr>
                      <a:r>
                        <a:rPr lang="en-IN" sz="1700"/>
                        <a:t>No-show prediction</a:t>
                      </a:r>
                    </a:p>
                  </a:txBody>
                  <a:tcPr anchor="ctr"/>
                </a:tc>
                <a:tc>
                  <a:txBody>
                    <a:bodyPr/>
                    <a:lstStyle/>
                    <a:p>
                      <a:pPr>
                        <a:buNone/>
                      </a:pPr>
                      <a:r>
                        <a:rPr lang="en-IN" sz="1700"/>
                        <a:t>Classification</a:t>
                      </a:r>
                    </a:p>
                  </a:txBody>
                  <a:tcPr anchor="ctr"/>
                </a:tc>
                <a:tc>
                  <a:txBody>
                    <a:bodyPr/>
                    <a:lstStyle/>
                    <a:p>
                      <a:pPr>
                        <a:buNone/>
                      </a:pPr>
                      <a:r>
                        <a:rPr lang="en-IN" sz="1700"/>
                        <a:t>Logistic Regression, Random Forest, XGBoost</a:t>
                      </a:r>
                    </a:p>
                  </a:txBody>
                  <a:tcPr anchor="ctr"/>
                </a:tc>
                <a:extLst>
                  <a:ext uri="{0D108BD9-81ED-4DB2-BD59-A6C34878D82A}">
                    <a16:rowId xmlns:a16="http://schemas.microsoft.com/office/drawing/2014/main" val="2146875373"/>
                  </a:ext>
                </a:extLst>
              </a:tr>
              <a:tr h="0">
                <a:tc>
                  <a:txBody>
                    <a:bodyPr/>
                    <a:lstStyle/>
                    <a:p>
                      <a:pPr>
                        <a:buNone/>
                      </a:pPr>
                      <a:r>
                        <a:rPr lang="en-IN" sz="1700"/>
                        <a:t>Readmission prediction</a:t>
                      </a:r>
                    </a:p>
                  </a:txBody>
                  <a:tcPr anchor="ctr"/>
                </a:tc>
                <a:tc>
                  <a:txBody>
                    <a:bodyPr/>
                    <a:lstStyle/>
                    <a:p>
                      <a:pPr>
                        <a:buNone/>
                      </a:pPr>
                      <a:r>
                        <a:rPr lang="en-IN" sz="1700"/>
                        <a:t>Classification</a:t>
                      </a:r>
                    </a:p>
                  </a:txBody>
                  <a:tcPr anchor="ctr"/>
                </a:tc>
                <a:tc>
                  <a:txBody>
                    <a:bodyPr/>
                    <a:lstStyle/>
                    <a:p>
                      <a:pPr>
                        <a:buNone/>
                      </a:pPr>
                      <a:r>
                        <a:rPr lang="en-IN" sz="1700"/>
                        <a:t>Logistic Regression, Random Forest, XGBoost</a:t>
                      </a:r>
                    </a:p>
                  </a:txBody>
                  <a:tcPr anchor="ctr"/>
                </a:tc>
                <a:extLst>
                  <a:ext uri="{0D108BD9-81ED-4DB2-BD59-A6C34878D82A}">
                    <a16:rowId xmlns:a16="http://schemas.microsoft.com/office/drawing/2014/main" val="4294517650"/>
                  </a:ext>
                </a:extLst>
              </a:tr>
              <a:tr h="0">
                <a:tc>
                  <a:txBody>
                    <a:bodyPr/>
                    <a:lstStyle/>
                    <a:p>
                      <a:pPr>
                        <a:buNone/>
                      </a:pPr>
                      <a:r>
                        <a:rPr lang="en-IN" sz="1700"/>
                        <a:t>Patient volume</a:t>
                      </a:r>
                    </a:p>
                  </a:txBody>
                  <a:tcPr anchor="ctr"/>
                </a:tc>
                <a:tc>
                  <a:txBody>
                    <a:bodyPr/>
                    <a:lstStyle/>
                    <a:p>
                      <a:pPr>
                        <a:buNone/>
                      </a:pPr>
                      <a:r>
                        <a:rPr lang="en-IN" sz="1700"/>
                        <a:t>Forecasting</a:t>
                      </a:r>
                    </a:p>
                  </a:txBody>
                  <a:tcPr anchor="ctr"/>
                </a:tc>
                <a:tc>
                  <a:txBody>
                    <a:bodyPr/>
                    <a:lstStyle/>
                    <a:p>
                      <a:pPr>
                        <a:buNone/>
                      </a:pPr>
                      <a:r>
                        <a:rPr lang="en-IN" sz="1700"/>
                        <a:t>ARIMA, Prophet, LSTM</a:t>
                      </a:r>
                    </a:p>
                  </a:txBody>
                  <a:tcPr anchor="ctr"/>
                </a:tc>
                <a:extLst>
                  <a:ext uri="{0D108BD9-81ED-4DB2-BD59-A6C34878D82A}">
                    <a16:rowId xmlns:a16="http://schemas.microsoft.com/office/drawing/2014/main" val="2059837633"/>
                  </a:ext>
                </a:extLst>
              </a:tr>
              <a:tr h="0">
                <a:tc>
                  <a:txBody>
                    <a:bodyPr/>
                    <a:lstStyle/>
                    <a:p>
                      <a:pPr>
                        <a:buNone/>
                      </a:pPr>
                      <a:r>
                        <a:rPr lang="en-IN" sz="1700"/>
                        <a:t>Appointment demand</a:t>
                      </a:r>
                    </a:p>
                  </a:txBody>
                  <a:tcPr anchor="ctr"/>
                </a:tc>
                <a:tc>
                  <a:txBody>
                    <a:bodyPr/>
                    <a:lstStyle/>
                    <a:p>
                      <a:pPr>
                        <a:buNone/>
                      </a:pPr>
                      <a:r>
                        <a:rPr lang="en-IN" sz="1700"/>
                        <a:t>Forecasting</a:t>
                      </a:r>
                    </a:p>
                  </a:txBody>
                  <a:tcPr anchor="ctr"/>
                </a:tc>
                <a:tc>
                  <a:txBody>
                    <a:bodyPr/>
                    <a:lstStyle/>
                    <a:p>
                      <a:pPr>
                        <a:buNone/>
                      </a:pPr>
                      <a:r>
                        <a:rPr lang="en-IN" sz="1700"/>
                        <a:t>ARIMA, Prophet, XGBoost</a:t>
                      </a:r>
                    </a:p>
                  </a:txBody>
                  <a:tcPr anchor="ctr"/>
                </a:tc>
                <a:extLst>
                  <a:ext uri="{0D108BD9-81ED-4DB2-BD59-A6C34878D82A}">
                    <a16:rowId xmlns:a16="http://schemas.microsoft.com/office/drawing/2014/main" val="4283996383"/>
                  </a:ext>
                </a:extLst>
              </a:tr>
              <a:tr h="0">
                <a:tc>
                  <a:txBody>
                    <a:bodyPr/>
                    <a:lstStyle/>
                    <a:p>
                      <a:pPr>
                        <a:buNone/>
                      </a:pPr>
                      <a:r>
                        <a:rPr lang="en-IN" sz="1700"/>
                        <a:t>Length of stay</a:t>
                      </a:r>
                    </a:p>
                  </a:txBody>
                  <a:tcPr anchor="ctr"/>
                </a:tc>
                <a:tc>
                  <a:txBody>
                    <a:bodyPr/>
                    <a:lstStyle/>
                    <a:p>
                      <a:pPr>
                        <a:buNone/>
                      </a:pPr>
                      <a:r>
                        <a:rPr lang="en-IN" sz="1700"/>
                        <a:t>Regression</a:t>
                      </a:r>
                    </a:p>
                  </a:txBody>
                  <a:tcPr anchor="ctr"/>
                </a:tc>
                <a:tc>
                  <a:txBody>
                    <a:bodyPr/>
                    <a:lstStyle/>
                    <a:p>
                      <a:pPr>
                        <a:buNone/>
                      </a:pPr>
                      <a:r>
                        <a:rPr lang="en-IN" sz="1700"/>
                        <a:t>Linear Regression, Random Forest, XGBoost</a:t>
                      </a:r>
                    </a:p>
                  </a:txBody>
                  <a:tcPr anchor="ctr"/>
                </a:tc>
                <a:extLst>
                  <a:ext uri="{0D108BD9-81ED-4DB2-BD59-A6C34878D82A}">
                    <a16:rowId xmlns:a16="http://schemas.microsoft.com/office/drawing/2014/main" val="420597177"/>
                  </a:ext>
                </a:extLst>
              </a:tr>
              <a:tr h="0">
                <a:tc>
                  <a:txBody>
                    <a:bodyPr/>
                    <a:lstStyle/>
                    <a:p>
                      <a:pPr>
                        <a:buNone/>
                      </a:pPr>
                      <a:r>
                        <a:rPr lang="en-IN" sz="1700"/>
                        <a:t>Resource demand</a:t>
                      </a:r>
                    </a:p>
                  </a:txBody>
                  <a:tcPr anchor="ctr"/>
                </a:tc>
                <a:tc>
                  <a:txBody>
                    <a:bodyPr/>
                    <a:lstStyle/>
                    <a:p>
                      <a:pPr>
                        <a:buNone/>
                      </a:pPr>
                      <a:r>
                        <a:rPr lang="en-IN" sz="1700"/>
                        <a:t>Forecasting/Regression</a:t>
                      </a:r>
                    </a:p>
                  </a:txBody>
                  <a:tcPr anchor="ctr"/>
                </a:tc>
                <a:tc>
                  <a:txBody>
                    <a:bodyPr/>
                    <a:lstStyle/>
                    <a:p>
                      <a:pPr>
                        <a:buNone/>
                      </a:pPr>
                      <a:r>
                        <a:rPr lang="en-IN" sz="1700" dirty="0"/>
                        <a:t>Random Forest, </a:t>
                      </a:r>
                      <a:r>
                        <a:rPr lang="en-IN" sz="1700" dirty="0" err="1"/>
                        <a:t>XGBoost</a:t>
                      </a:r>
                      <a:r>
                        <a:rPr lang="en-IN" sz="1700" dirty="0"/>
                        <a:t>, ARIMA</a:t>
                      </a:r>
                    </a:p>
                  </a:txBody>
                  <a:tcPr anchor="ctr"/>
                </a:tc>
                <a:extLst>
                  <a:ext uri="{0D108BD9-81ED-4DB2-BD59-A6C34878D82A}">
                    <a16:rowId xmlns:a16="http://schemas.microsoft.com/office/drawing/2014/main" val="1380032315"/>
                  </a:ext>
                </a:extLst>
              </a:tr>
            </a:tbl>
          </a:graphicData>
        </a:graphic>
      </p:graphicFrame>
      <p:sp>
        <p:nvSpPr>
          <p:cNvPr id="8" name="TextBox 7">
            <a:extLst>
              <a:ext uri="{FF2B5EF4-FFF2-40B4-BE49-F238E27FC236}">
                <a16:creationId xmlns:a16="http://schemas.microsoft.com/office/drawing/2014/main" id="{CF707868-9E47-9364-F269-8E85CF3FB1CD}"/>
              </a:ext>
            </a:extLst>
          </p:cNvPr>
          <p:cNvSpPr txBox="1"/>
          <p:nvPr/>
        </p:nvSpPr>
        <p:spPr>
          <a:xfrm>
            <a:off x="507999" y="1372735"/>
            <a:ext cx="11242040" cy="1138773"/>
          </a:xfrm>
          <a:prstGeom prst="rect">
            <a:avLst/>
          </a:prstGeom>
          <a:noFill/>
        </p:spPr>
        <p:txBody>
          <a:bodyPr wrap="square">
            <a:spAutoFit/>
          </a:bodyPr>
          <a:lstStyle/>
          <a:p>
            <a:r>
              <a:rPr lang="en-IN" sz="1700" dirty="0"/>
              <a:t>Predictive analysis enables the Healthcare Management System to anticipate future patient demand, appointment no-shows, readmission risks, length of stay, and resource requirements. By applying machine learning and forecasting techniques to historical healthcare data, hospital management can proactively allocate resources, optimize scheduling, reduce operational bottlenecks, and improve patient service delivery.</a:t>
            </a:r>
          </a:p>
        </p:txBody>
      </p:sp>
      <p:cxnSp>
        <p:nvCxnSpPr>
          <p:cNvPr id="10" name="Straight Connector 9">
            <a:extLst>
              <a:ext uri="{FF2B5EF4-FFF2-40B4-BE49-F238E27FC236}">
                <a16:creationId xmlns:a16="http://schemas.microsoft.com/office/drawing/2014/main" id="{497ADDD2-68FF-5686-F955-44FC71C2FC94}"/>
              </a:ext>
            </a:extLst>
          </p:cNvPr>
          <p:cNvCxnSpPr/>
          <p:nvPr/>
        </p:nvCxnSpPr>
        <p:spPr>
          <a:xfrm>
            <a:off x="594360" y="2776664"/>
            <a:ext cx="0" cy="323088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2392484-15E6-4EE4-E529-7D6062AF0DE4}"/>
              </a:ext>
            </a:extLst>
          </p:cNvPr>
          <p:cNvCxnSpPr/>
          <p:nvPr/>
        </p:nvCxnSpPr>
        <p:spPr>
          <a:xfrm>
            <a:off x="4292600" y="2776664"/>
            <a:ext cx="0" cy="323088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4BAF8556-247A-7150-978C-3E01B6551F2A}"/>
              </a:ext>
            </a:extLst>
          </p:cNvPr>
          <p:cNvCxnSpPr/>
          <p:nvPr/>
        </p:nvCxnSpPr>
        <p:spPr>
          <a:xfrm>
            <a:off x="7950200" y="2781744"/>
            <a:ext cx="0" cy="323088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8F49B2B-6D22-7F8E-1E1F-354EC7B2F874}"/>
              </a:ext>
            </a:extLst>
          </p:cNvPr>
          <p:cNvCxnSpPr/>
          <p:nvPr/>
        </p:nvCxnSpPr>
        <p:spPr>
          <a:xfrm>
            <a:off x="11663679" y="2776664"/>
            <a:ext cx="0" cy="323088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A21E2E9-52DF-3058-A125-5CCC1C4DFB97}"/>
              </a:ext>
            </a:extLst>
          </p:cNvPr>
          <p:cNvCxnSpPr/>
          <p:nvPr/>
        </p:nvCxnSpPr>
        <p:spPr>
          <a:xfrm>
            <a:off x="594360" y="2776664"/>
            <a:ext cx="11069319"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4B3A55BC-2D3B-F0E4-E991-440F21319BB0}"/>
              </a:ext>
            </a:extLst>
          </p:cNvPr>
          <p:cNvCxnSpPr/>
          <p:nvPr/>
        </p:nvCxnSpPr>
        <p:spPr>
          <a:xfrm>
            <a:off x="594360" y="3122104"/>
            <a:ext cx="11069319"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FF99E1F2-C13D-AEEE-26E8-E6DE52CB76C3}"/>
              </a:ext>
            </a:extLst>
          </p:cNvPr>
          <p:cNvCxnSpPr/>
          <p:nvPr/>
        </p:nvCxnSpPr>
        <p:spPr>
          <a:xfrm>
            <a:off x="594360" y="3752024"/>
            <a:ext cx="11069319"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6E8E0C41-DA46-087F-D379-76FFD5D0B410}"/>
              </a:ext>
            </a:extLst>
          </p:cNvPr>
          <p:cNvCxnSpPr/>
          <p:nvPr/>
        </p:nvCxnSpPr>
        <p:spPr>
          <a:xfrm>
            <a:off x="594360" y="4392104"/>
            <a:ext cx="11069319"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904557B6-9CD3-57B6-8183-766A9BFD2342}"/>
              </a:ext>
            </a:extLst>
          </p:cNvPr>
          <p:cNvCxnSpPr/>
          <p:nvPr/>
        </p:nvCxnSpPr>
        <p:spPr>
          <a:xfrm>
            <a:off x="594360" y="4727384"/>
            <a:ext cx="11069319"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FD8FE0E8-9FE5-3352-0B11-745D395216E3}"/>
              </a:ext>
            </a:extLst>
          </p:cNvPr>
          <p:cNvCxnSpPr/>
          <p:nvPr/>
        </p:nvCxnSpPr>
        <p:spPr>
          <a:xfrm>
            <a:off x="594360" y="5052504"/>
            <a:ext cx="11069319"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B3C2E13C-AE7A-4BBA-8A20-6043324EA330}"/>
              </a:ext>
            </a:extLst>
          </p:cNvPr>
          <p:cNvCxnSpPr/>
          <p:nvPr/>
        </p:nvCxnSpPr>
        <p:spPr>
          <a:xfrm>
            <a:off x="594360" y="5662104"/>
            <a:ext cx="11069319"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B8299C53-0F0C-D2EC-AAC6-B332B6885A31}"/>
              </a:ext>
            </a:extLst>
          </p:cNvPr>
          <p:cNvCxnSpPr/>
          <p:nvPr/>
        </p:nvCxnSpPr>
        <p:spPr>
          <a:xfrm>
            <a:off x="594359" y="6007544"/>
            <a:ext cx="11069319"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7618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2AD734-0564-7A04-0350-85DC4B7127D2}"/>
              </a:ext>
            </a:extLst>
          </p:cNvPr>
          <p:cNvSpPr/>
          <p:nvPr/>
        </p:nvSpPr>
        <p:spPr>
          <a:xfrm>
            <a:off x="132080" y="132080"/>
            <a:ext cx="11938000" cy="61874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4" name="Straight Connector 3">
            <a:extLst>
              <a:ext uri="{FF2B5EF4-FFF2-40B4-BE49-F238E27FC236}">
                <a16:creationId xmlns:a16="http://schemas.microsoft.com/office/drawing/2014/main" id="{072C68A3-FE42-9D70-168F-A7E91214E20F}"/>
              </a:ext>
            </a:extLst>
          </p:cNvPr>
          <p:cNvCxnSpPr/>
          <p:nvPr/>
        </p:nvCxnSpPr>
        <p:spPr>
          <a:xfrm>
            <a:off x="127000" y="640080"/>
            <a:ext cx="11938000" cy="0"/>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9A1D18B2-EE1C-ECFD-EC28-80CC1DC9A0A7}"/>
              </a:ext>
            </a:extLst>
          </p:cNvPr>
          <p:cNvCxnSpPr/>
          <p:nvPr/>
        </p:nvCxnSpPr>
        <p:spPr>
          <a:xfrm>
            <a:off x="1879600" y="640080"/>
            <a:ext cx="0" cy="567944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5C063FA-C657-AC5D-F64B-3709A2AFB837}"/>
              </a:ext>
            </a:extLst>
          </p:cNvPr>
          <p:cNvCxnSpPr>
            <a:cxnSpLocks/>
          </p:cNvCxnSpPr>
          <p:nvPr/>
        </p:nvCxnSpPr>
        <p:spPr>
          <a:xfrm>
            <a:off x="1879600" y="15544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E90A5B-7E2C-A7F8-A407-65AAC0F10B52}"/>
              </a:ext>
            </a:extLst>
          </p:cNvPr>
          <p:cNvCxnSpPr/>
          <p:nvPr/>
        </p:nvCxnSpPr>
        <p:spPr>
          <a:xfrm>
            <a:off x="127000" y="187960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CB2F2817-C50D-9932-5A7B-A1C184EBB4DB}"/>
              </a:ext>
            </a:extLst>
          </p:cNvPr>
          <p:cNvCxnSpPr/>
          <p:nvPr/>
        </p:nvCxnSpPr>
        <p:spPr>
          <a:xfrm>
            <a:off x="127000" y="33172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D8395724-5A95-68F3-9E69-83AFD41FE4A4}"/>
              </a:ext>
            </a:extLst>
          </p:cNvPr>
          <p:cNvCxnSpPr/>
          <p:nvPr/>
        </p:nvCxnSpPr>
        <p:spPr>
          <a:xfrm>
            <a:off x="127000" y="48666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1B9C50D-7E60-E754-25E7-695C8C27145A}"/>
              </a:ext>
            </a:extLst>
          </p:cNvPr>
          <p:cNvCxnSpPr/>
          <p:nvPr/>
        </p:nvCxnSpPr>
        <p:spPr>
          <a:xfrm>
            <a:off x="3556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6F84854-7BD0-5484-2B18-433A59D0D37F}"/>
              </a:ext>
            </a:extLst>
          </p:cNvPr>
          <p:cNvCxnSpPr/>
          <p:nvPr/>
        </p:nvCxnSpPr>
        <p:spPr>
          <a:xfrm>
            <a:off x="510032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85BF818-C45A-FD56-703B-35EF2B902C35}"/>
              </a:ext>
            </a:extLst>
          </p:cNvPr>
          <p:cNvCxnSpPr/>
          <p:nvPr/>
        </p:nvCxnSpPr>
        <p:spPr>
          <a:xfrm>
            <a:off x="6858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FB2571C-D77C-EFEE-1635-257E00303B32}"/>
              </a:ext>
            </a:extLst>
          </p:cNvPr>
          <p:cNvCxnSpPr/>
          <p:nvPr/>
        </p:nvCxnSpPr>
        <p:spPr>
          <a:xfrm>
            <a:off x="857504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447D99C-3A11-F6B5-9252-011D1861941B}"/>
              </a:ext>
            </a:extLst>
          </p:cNvPr>
          <p:cNvCxnSpPr/>
          <p:nvPr/>
        </p:nvCxnSpPr>
        <p:spPr>
          <a:xfrm>
            <a:off x="103632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BD4F18B2-3537-A40E-FB63-12EB3AA56C35}"/>
              </a:ext>
            </a:extLst>
          </p:cNvPr>
          <p:cNvCxnSpPr/>
          <p:nvPr/>
        </p:nvCxnSpPr>
        <p:spPr>
          <a:xfrm>
            <a:off x="1879600" y="33070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4617675-86F6-6ED3-D4F8-451330940C98}"/>
              </a:ext>
            </a:extLst>
          </p:cNvPr>
          <p:cNvCxnSpPr/>
          <p:nvPr/>
        </p:nvCxnSpPr>
        <p:spPr>
          <a:xfrm>
            <a:off x="6972300" y="3317240"/>
            <a:ext cx="0" cy="300228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049E49F-F8C2-1495-4026-FDFBFEA0F979}"/>
              </a:ext>
            </a:extLst>
          </p:cNvPr>
          <p:cNvCxnSpPr/>
          <p:nvPr/>
        </p:nvCxnSpPr>
        <p:spPr>
          <a:xfrm>
            <a:off x="1879600" y="4866640"/>
            <a:ext cx="10185400" cy="0"/>
          </a:xfrm>
          <a:prstGeom prst="line">
            <a:avLst/>
          </a:prstGeom>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48BB8462-9A0F-3181-AC55-7F14AF9597CE}"/>
              </a:ext>
            </a:extLst>
          </p:cNvPr>
          <p:cNvSpPr txBox="1"/>
          <p:nvPr/>
        </p:nvSpPr>
        <p:spPr>
          <a:xfrm>
            <a:off x="127000" y="132080"/>
            <a:ext cx="11943080" cy="553998"/>
          </a:xfrm>
          <a:prstGeom prst="rect">
            <a:avLst/>
          </a:prstGeom>
          <a:noFill/>
        </p:spPr>
        <p:txBody>
          <a:bodyPr wrap="square" rtlCol="0">
            <a:spAutoFit/>
          </a:bodyPr>
          <a:lstStyle/>
          <a:p>
            <a:pPr algn="ctr"/>
            <a:r>
              <a:rPr lang="en-IN" sz="3000" b="1" dirty="0"/>
              <a:t>HEALTHCARE EXECUTIVE</a:t>
            </a:r>
          </a:p>
        </p:txBody>
      </p:sp>
      <p:sp>
        <p:nvSpPr>
          <p:cNvPr id="27" name="TextBox 26">
            <a:extLst>
              <a:ext uri="{FF2B5EF4-FFF2-40B4-BE49-F238E27FC236}">
                <a16:creationId xmlns:a16="http://schemas.microsoft.com/office/drawing/2014/main" id="{3C62492E-3B2F-555D-C1F4-3754B0A0D9E7}"/>
              </a:ext>
            </a:extLst>
          </p:cNvPr>
          <p:cNvSpPr txBox="1"/>
          <p:nvPr/>
        </p:nvSpPr>
        <p:spPr>
          <a:xfrm>
            <a:off x="127000" y="640080"/>
            <a:ext cx="1747518" cy="615553"/>
          </a:xfrm>
          <a:prstGeom prst="rect">
            <a:avLst/>
          </a:prstGeom>
          <a:noFill/>
        </p:spPr>
        <p:txBody>
          <a:bodyPr wrap="square" rtlCol="0">
            <a:spAutoFit/>
          </a:bodyPr>
          <a:lstStyle/>
          <a:p>
            <a:r>
              <a:rPr lang="en-IN" sz="1700" dirty="0"/>
              <a:t>Date</a:t>
            </a:r>
          </a:p>
          <a:p>
            <a:r>
              <a:rPr lang="en-IN" sz="1700" dirty="0"/>
              <a:t>(slicer)</a:t>
            </a:r>
          </a:p>
        </p:txBody>
      </p:sp>
      <p:sp>
        <p:nvSpPr>
          <p:cNvPr id="29" name="TextBox 28">
            <a:extLst>
              <a:ext uri="{FF2B5EF4-FFF2-40B4-BE49-F238E27FC236}">
                <a16:creationId xmlns:a16="http://schemas.microsoft.com/office/drawing/2014/main" id="{F88BAADD-3586-4AF6-089E-5F8590139363}"/>
              </a:ext>
            </a:extLst>
          </p:cNvPr>
          <p:cNvSpPr txBox="1"/>
          <p:nvPr/>
        </p:nvSpPr>
        <p:spPr>
          <a:xfrm>
            <a:off x="121920" y="1881703"/>
            <a:ext cx="1747518" cy="615553"/>
          </a:xfrm>
          <a:prstGeom prst="rect">
            <a:avLst/>
          </a:prstGeom>
          <a:noFill/>
        </p:spPr>
        <p:txBody>
          <a:bodyPr wrap="square" rtlCol="0">
            <a:spAutoFit/>
          </a:bodyPr>
          <a:lstStyle/>
          <a:p>
            <a:r>
              <a:rPr lang="en-IN" sz="1700" dirty="0"/>
              <a:t>Department</a:t>
            </a:r>
          </a:p>
          <a:p>
            <a:r>
              <a:rPr lang="en-IN" sz="1700" dirty="0"/>
              <a:t>(slicer)</a:t>
            </a:r>
          </a:p>
        </p:txBody>
      </p:sp>
      <p:sp>
        <p:nvSpPr>
          <p:cNvPr id="31" name="TextBox 30">
            <a:extLst>
              <a:ext uri="{FF2B5EF4-FFF2-40B4-BE49-F238E27FC236}">
                <a16:creationId xmlns:a16="http://schemas.microsoft.com/office/drawing/2014/main" id="{AE3CB4F8-AB28-3109-555E-C752E4C99F4B}"/>
              </a:ext>
            </a:extLst>
          </p:cNvPr>
          <p:cNvSpPr txBox="1"/>
          <p:nvPr/>
        </p:nvSpPr>
        <p:spPr>
          <a:xfrm>
            <a:off x="129541" y="3321447"/>
            <a:ext cx="1747518" cy="615553"/>
          </a:xfrm>
          <a:prstGeom prst="rect">
            <a:avLst/>
          </a:prstGeom>
          <a:noFill/>
        </p:spPr>
        <p:txBody>
          <a:bodyPr wrap="square" rtlCol="0">
            <a:spAutoFit/>
          </a:bodyPr>
          <a:lstStyle/>
          <a:p>
            <a:r>
              <a:rPr lang="en-IN" sz="1700" dirty="0"/>
              <a:t>Doctor</a:t>
            </a:r>
          </a:p>
          <a:p>
            <a:r>
              <a:rPr lang="en-IN" sz="1700" dirty="0"/>
              <a:t>(slicer)</a:t>
            </a:r>
          </a:p>
        </p:txBody>
      </p:sp>
      <p:sp>
        <p:nvSpPr>
          <p:cNvPr id="33" name="TextBox 32">
            <a:extLst>
              <a:ext uri="{FF2B5EF4-FFF2-40B4-BE49-F238E27FC236}">
                <a16:creationId xmlns:a16="http://schemas.microsoft.com/office/drawing/2014/main" id="{210EB9D5-C0D6-1F6F-60A5-AAB55B84BB7E}"/>
              </a:ext>
            </a:extLst>
          </p:cNvPr>
          <p:cNvSpPr txBox="1"/>
          <p:nvPr/>
        </p:nvSpPr>
        <p:spPr>
          <a:xfrm>
            <a:off x="129541" y="4881006"/>
            <a:ext cx="1747518" cy="877163"/>
          </a:xfrm>
          <a:prstGeom prst="rect">
            <a:avLst/>
          </a:prstGeom>
          <a:noFill/>
        </p:spPr>
        <p:txBody>
          <a:bodyPr wrap="square" rtlCol="0">
            <a:spAutoFit/>
          </a:bodyPr>
          <a:lstStyle/>
          <a:p>
            <a:r>
              <a:rPr lang="en-IN" sz="1700" dirty="0"/>
              <a:t>Appointment Status</a:t>
            </a:r>
          </a:p>
          <a:p>
            <a:r>
              <a:rPr lang="en-IN" sz="1700" dirty="0"/>
              <a:t>(slicer)</a:t>
            </a:r>
          </a:p>
        </p:txBody>
      </p:sp>
      <p:sp>
        <p:nvSpPr>
          <p:cNvPr id="34" name="TextBox 33">
            <a:extLst>
              <a:ext uri="{FF2B5EF4-FFF2-40B4-BE49-F238E27FC236}">
                <a16:creationId xmlns:a16="http://schemas.microsoft.com/office/drawing/2014/main" id="{E3740116-58AD-4A38-75DD-F63347434884}"/>
              </a:ext>
            </a:extLst>
          </p:cNvPr>
          <p:cNvSpPr txBox="1"/>
          <p:nvPr/>
        </p:nvSpPr>
        <p:spPr>
          <a:xfrm>
            <a:off x="1877059" y="640080"/>
            <a:ext cx="1673842" cy="492443"/>
          </a:xfrm>
          <a:prstGeom prst="rect">
            <a:avLst/>
          </a:prstGeom>
          <a:noFill/>
        </p:spPr>
        <p:txBody>
          <a:bodyPr wrap="square" rtlCol="0">
            <a:spAutoFit/>
          </a:bodyPr>
          <a:lstStyle/>
          <a:p>
            <a:r>
              <a:rPr lang="en-IN" sz="1300" dirty="0"/>
              <a:t>Total Patients</a:t>
            </a:r>
          </a:p>
          <a:p>
            <a:r>
              <a:rPr lang="en-IN" sz="1300" dirty="0"/>
              <a:t>(KPIs)</a:t>
            </a:r>
          </a:p>
        </p:txBody>
      </p:sp>
      <p:sp>
        <p:nvSpPr>
          <p:cNvPr id="36" name="TextBox 35">
            <a:extLst>
              <a:ext uri="{FF2B5EF4-FFF2-40B4-BE49-F238E27FC236}">
                <a16:creationId xmlns:a16="http://schemas.microsoft.com/office/drawing/2014/main" id="{EA666713-0877-4D53-5037-576AD18ECEE4}"/>
              </a:ext>
            </a:extLst>
          </p:cNvPr>
          <p:cNvSpPr txBox="1"/>
          <p:nvPr/>
        </p:nvSpPr>
        <p:spPr>
          <a:xfrm>
            <a:off x="3555981" y="640080"/>
            <a:ext cx="1673842" cy="492443"/>
          </a:xfrm>
          <a:prstGeom prst="rect">
            <a:avLst/>
          </a:prstGeom>
          <a:noFill/>
        </p:spPr>
        <p:txBody>
          <a:bodyPr wrap="square" rtlCol="0">
            <a:spAutoFit/>
          </a:bodyPr>
          <a:lstStyle/>
          <a:p>
            <a:r>
              <a:rPr lang="en-IN" sz="1300" dirty="0"/>
              <a:t>Total Appointments</a:t>
            </a:r>
          </a:p>
          <a:p>
            <a:r>
              <a:rPr lang="en-IN" sz="1300" dirty="0"/>
              <a:t>(KPIs)</a:t>
            </a:r>
          </a:p>
        </p:txBody>
      </p:sp>
      <p:sp>
        <p:nvSpPr>
          <p:cNvPr id="38" name="TextBox 37">
            <a:extLst>
              <a:ext uri="{FF2B5EF4-FFF2-40B4-BE49-F238E27FC236}">
                <a16:creationId xmlns:a16="http://schemas.microsoft.com/office/drawing/2014/main" id="{07FF3A4B-DFEE-6FAA-FC3E-37C4762F7569}"/>
              </a:ext>
            </a:extLst>
          </p:cNvPr>
          <p:cNvSpPr txBox="1"/>
          <p:nvPr/>
        </p:nvSpPr>
        <p:spPr>
          <a:xfrm>
            <a:off x="5100320" y="663079"/>
            <a:ext cx="1673842" cy="692497"/>
          </a:xfrm>
          <a:prstGeom prst="rect">
            <a:avLst/>
          </a:prstGeom>
          <a:noFill/>
        </p:spPr>
        <p:txBody>
          <a:bodyPr wrap="square" rtlCol="0">
            <a:spAutoFit/>
          </a:bodyPr>
          <a:lstStyle/>
          <a:p>
            <a:r>
              <a:rPr lang="en-IN" sz="1300" dirty="0"/>
              <a:t>Completed Appointments</a:t>
            </a:r>
          </a:p>
          <a:p>
            <a:r>
              <a:rPr lang="en-IN" sz="1300" dirty="0"/>
              <a:t>(KPIs)</a:t>
            </a:r>
          </a:p>
        </p:txBody>
      </p:sp>
      <p:sp>
        <p:nvSpPr>
          <p:cNvPr id="40" name="TextBox 39">
            <a:extLst>
              <a:ext uri="{FF2B5EF4-FFF2-40B4-BE49-F238E27FC236}">
                <a16:creationId xmlns:a16="http://schemas.microsoft.com/office/drawing/2014/main" id="{EB9AF190-B6B2-5BA0-06BB-E5D138C1F443}"/>
              </a:ext>
            </a:extLst>
          </p:cNvPr>
          <p:cNvSpPr txBox="1"/>
          <p:nvPr/>
        </p:nvSpPr>
        <p:spPr>
          <a:xfrm>
            <a:off x="6860540" y="650240"/>
            <a:ext cx="1673842" cy="492443"/>
          </a:xfrm>
          <a:prstGeom prst="rect">
            <a:avLst/>
          </a:prstGeom>
          <a:noFill/>
        </p:spPr>
        <p:txBody>
          <a:bodyPr wrap="square" rtlCol="0">
            <a:spAutoFit/>
          </a:bodyPr>
          <a:lstStyle/>
          <a:p>
            <a:r>
              <a:rPr lang="en-IN" sz="1300" dirty="0"/>
              <a:t>Total Revenue</a:t>
            </a:r>
          </a:p>
          <a:p>
            <a:r>
              <a:rPr lang="en-IN" sz="1300" dirty="0"/>
              <a:t>(KPIs)</a:t>
            </a:r>
          </a:p>
        </p:txBody>
      </p:sp>
      <p:sp>
        <p:nvSpPr>
          <p:cNvPr id="42" name="TextBox 41">
            <a:extLst>
              <a:ext uri="{FF2B5EF4-FFF2-40B4-BE49-F238E27FC236}">
                <a16:creationId xmlns:a16="http://schemas.microsoft.com/office/drawing/2014/main" id="{7D1EF35B-497B-0E4E-00D4-A16ACE4447EE}"/>
              </a:ext>
            </a:extLst>
          </p:cNvPr>
          <p:cNvSpPr txBox="1"/>
          <p:nvPr/>
        </p:nvSpPr>
        <p:spPr>
          <a:xfrm>
            <a:off x="8591559" y="627835"/>
            <a:ext cx="1673842" cy="492443"/>
          </a:xfrm>
          <a:prstGeom prst="rect">
            <a:avLst/>
          </a:prstGeom>
          <a:noFill/>
        </p:spPr>
        <p:txBody>
          <a:bodyPr wrap="square" rtlCol="0">
            <a:spAutoFit/>
          </a:bodyPr>
          <a:lstStyle/>
          <a:p>
            <a:r>
              <a:rPr lang="en-IN" sz="1300" dirty="0"/>
              <a:t>Collection Rate %</a:t>
            </a:r>
          </a:p>
          <a:p>
            <a:r>
              <a:rPr lang="en-IN" sz="1300" dirty="0"/>
              <a:t>(KPIs)</a:t>
            </a:r>
          </a:p>
        </p:txBody>
      </p:sp>
      <p:sp>
        <p:nvSpPr>
          <p:cNvPr id="44" name="TextBox 43">
            <a:extLst>
              <a:ext uri="{FF2B5EF4-FFF2-40B4-BE49-F238E27FC236}">
                <a16:creationId xmlns:a16="http://schemas.microsoft.com/office/drawing/2014/main" id="{1A7F4EAE-3EE1-77F9-1A4A-3F969C843655}"/>
              </a:ext>
            </a:extLst>
          </p:cNvPr>
          <p:cNvSpPr txBox="1"/>
          <p:nvPr/>
        </p:nvSpPr>
        <p:spPr>
          <a:xfrm>
            <a:off x="10358120" y="640080"/>
            <a:ext cx="1673842" cy="692497"/>
          </a:xfrm>
          <a:prstGeom prst="rect">
            <a:avLst/>
          </a:prstGeom>
          <a:noFill/>
        </p:spPr>
        <p:txBody>
          <a:bodyPr wrap="square" rtlCol="0">
            <a:spAutoFit/>
          </a:bodyPr>
          <a:lstStyle/>
          <a:p>
            <a:r>
              <a:rPr lang="en-IN" sz="1300" dirty="0" err="1"/>
              <a:t>Avg</a:t>
            </a:r>
            <a:r>
              <a:rPr lang="en-IN" sz="1300" dirty="0"/>
              <a:t> Patient Waiting Time</a:t>
            </a:r>
          </a:p>
          <a:p>
            <a:r>
              <a:rPr lang="en-IN" sz="1300" dirty="0"/>
              <a:t>(KPIs)</a:t>
            </a:r>
          </a:p>
        </p:txBody>
      </p:sp>
      <p:sp>
        <p:nvSpPr>
          <p:cNvPr id="45" name="TextBox 44">
            <a:extLst>
              <a:ext uri="{FF2B5EF4-FFF2-40B4-BE49-F238E27FC236}">
                <a16:creationId xmlns:a16="http://schemas.microsoft.com/office/drawing/2014/main" id="{EDD47E69-306F-616F-C804-207E7424193B}"/>
              </a:ext>
            </a:extLst>
          </p:cNvPr>
          <p:cNvSpPr txBox="1"/>
          <p:nvPr/>
        </p:nvSpPr>
        <p:spPr>
          <a:xfrm>
            <a:off x="1877059" y="1554480"/>
            <a:ext cx="10154903" cy="646331"/>
          </a:xfrm>
          <a:prstGeom prst="rect">
            <a:avLst/>
          </a:prstGeom>
          <a:noFill/>
        </p:spPr>
        <p:txBody>
          <a:bodyPr wrap="square" rtlCol="0">
            <a:spAutoFit/>
          </a:bodyPr>
          <a:lstStyle/>
          <a:p>
            <a:pPr algn="ctr"/>
            <a:r>
              <a:rPr lang="en-IN" dirty="0"/>
              <a:t>Monthly Patient &amp; Appointment Trend</a:t>
            </a:r>
          </a:p>
          <a:p>
            <a:pPr algn="ctr"/>
            <a:r>
              <a:rPr lang="en-IN" dirty="0"/>
              <a:t>(Line Chart)</a:t>
            </a:r>
          </a:p>
        </p:txBody>
      </p:sp>
      <p:sp>
        <p:nvSpPr>
          <p:cNvPr id="46" name="TextBox 45">
            <a:extLst>
              <a:ext uri="{FF2B5EF4-FFF2-40B4-BE49-F238E27FC236}">
                <a16:creationId xmlns:a16="http://schemas.microsoft.com/office/drawing/2014/main" id="{F93CD386-C469-099F-F30C-BBD37953CCD7}"/>
              </a:ext>
            </a:extLst>
          </p:cNvPr>
          <p:cNvSpPr txBox="1"/>
          <p:nvPr/>
        </p:nvSpPr>
        <p:spPr>
          <a:xfrm>
            <a:off x="1877059" y="3312160"/>
            <a:ext cx="5105402" cy="646331"/>
          </a:xfrm>
          <a:prstGeom prst="rect">
            <a:avLst/>
          </a:prstGeom>
          <a:noFill/>
        </p:spPr>
        <p:txBody>
          <a:bodyPr wrap="square" rtlCol="0">
            <a:spAutoFit/>
          </a:bodyPr>
          <a:lstStyle/>
          <a:p>
            <a:pPr algn="ctr"/>
            <a:r>
              <a:rPr lang="en-IN" dirty="0"/>
              <a:t>Department-wise Patient Volume</a:t>
            </a:r>
          </a:p>
          <a:p>
            <a:pPr algn="ctr"/>
            <a:r>
              <a:rPr lang="en-IN" dirty="0"/>
              <a:t>(Bar Chart)</a:t>
            </a:r>
          </a:p>
        </p:txBody>
      </p:sp>
      <p:sp>
        <p:nvSpPr>
          <p:cNvPr id="48" name="TextBox 47">
            <a:extLst>
              <a:ext uri="{FF2B5EF4-FFF2-40B4-BE49-F238E27FC236}">
                <a16:creationId xmlns:a16="http://schemas.microsoft.com/office/drawing/2014/main" id="{3E4185D1-237F-8C21-CA9D-AF2762D0A487}"/>
              </a:ext>
            </a:extLst>
          </p:cNvPr>
          <p:cNvSpPr txBox="1"/>
          <p:nvPr/>
        </p:nvSpPr>
        <p:spPr>
          <a:xfrm>
            <a:off x="6967217" y="3321447"/>
            <a:ext cx="5105402" cy="646331"/>
          </a:xfrm>
          <a:prstGeom prst="rect">
            <a:avLst/>
          </a:prstGeom>
          <a:noFill/>
        </p:spPr>
        <p:txBody>
          <a:bodyPr wrap="square" rtlCol="0">
            <a:spAutoFit/>
          </a:bodyPr>
          <a:lstStyle/>
          <a:p>
            <a:pPr algn="ctr"/>
            <a:r>
              <a:rPr lang="en-IN" dirty="0"/>
              <a:t>Appointment Status</a:t>
            </a:r>
          </a:p>
          <a:p>
            <a:pPr algn="ctr"/>
            <a:r>
              <a:rPr lang="en-IN" dirty="0"/>
              <a:t> (Donut Chart)</a:t>
            </a:r>
          </a:p>
        </p:txBody>
      </p:sp>
      <p:sp>
        <p:nvSpPr>
          <p:cNvPr id="50" name="TextBox 49">
            <a:extLst>
              <a:ext uri="{FF2B5EF4-FFF2-40B4-BE49-F238E27FC236}">
                <a16:creationId xmlns:a16="http://schemas.microsoft.com/office/drawing/2014/main" id="{22F9F786-17F7-73A8-A8F2-D365C226A83F}"/>
              </a:ext>
            </a:extLst>
          </p:cNvPr>
          <p:cNvSpPr txBox="1"/>
          <p:nvPr/>
        </p:nvSpPr>
        <p:spPr>
          <a:xfrm>
            <a:off x="1889760" y="4866640"/>
            <a:ext cx="5064746" cy="646331"/>
          </a:xfrm>
          <a:prstGeom prst="rect">
            <a:avLst/>
          </a:prstGeom>
          <a:noFill/>
        </p:spPr>
        <p:txBody>
          <a:bodyPr wrap="square" rtlCol="0">
            <a:spAutoFit/>
          </a:bodyPr>
          <a:lstStyle/>
          <a:p>
            <a:pPr algn="ctr"/>
            <a:r>
              <a:rPr lang="en-IN" dirty="0"/>
              <a:t>Revenue by Department</a:t>
            </a:r>
          </a:p>
          <a:p>
            <a:pPr algn="ctr"/>
            <a:r>
              <a:rPr lang="en-IN" dirty="0"/>
              <a:t> (Column Chart)</a:t>
            </a:r>
          </a:p>
        </p:txBody>
      </p:sp>
      <p:sp>
        <p:nvSpPr>
          <p:cNvPr id="52" name="TextBox 51">
            <a:extLst>
              <a:ext uri="{FF2B5EF4-FFF2-40B4-BE49-F238E27FC236}">
                <a16:creationId xmlns:a16="http://schemas.microsoft.com/office/drawing/2014/main" id="{8FE48DE7-8DAD-F0DC-8B9F-1BE4EF2B9BE5}"/>
              </a:ext>
            </a:extLst>
          </p:cNvPr>
          <p:cNvSpPr txBox="1"/>
          <p:nvPr/>
        </p:nvSpPr>
        <p:spPr>
          <a:xfrm>
            <a:off x="6982472" y="4881006"/>
            <a:ext cx="5105402" cy="646331"/>
          </a:xfrm>
          <a:prstGeom prst="rect">
            <a:avLst/>
          </a:prstGeom>
          <a:noFill/>
        </p:spPr>
        <p:txBody>
          <a:bodyPr wrap="square" rtlCol="0">
            <a:spAutoFit/>
          </a:bodyPr>
          <a:lstStyle/>
          <a:p>
            <a:pPr algn="ctr"/>
            <a:r>
              <a:rPr lang="en-IN" dirty="0"/>
              <a:t>Revenue &amp; Collection Trend </a:t>
            </a:r>
          </a:p>
          <a:p>
            <a:pPr algn="ctr"/>
            <a:r>
              <a:rPr lang="en-IN" dirty="0"/>
              <a:t>(Line Chart)</a:t>
            </a:r>
          </a:p>
        </p:txBody>
      </p:sp>
      <p:pic>
        <p:nvPicPr>
          <p:cNvPr id="5" name="Picture 4">
            <a:extLst>
              <a:ext uri="{FF2B5EF4-FFF2-40B4-BE49-F238E27FC236}">
                <a16:creationId xmlns:a16="http://schemas.microsoft.com/office/drawing/2014/main" id="{42A16F4A-136A-B6D5-0DB6-F43D827A12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37" y="132079"/>
            <a:ext cx="11945621" cy="6187439"/>
          </a:xfrm>
          <a:prstGeom prst="rect">
            <a:avLst/>
          </a:prstGeom>
        </p:spPr>
      </p:pic>
    </p:spTree>
    <p:extLst>
      <p:ext uri="{BB962C8B-B14F-4D97-AF65-F5344CB8AC3E}">
        <p14:creationId xmlns:p14="http://schemas.microsoft.com/office/powerpoint/2010/main" val="1242088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B07F52-6D51-4AC8-0BD4-7C3AAC33B0CE}"/>
              </a:ext>
            </a:extLst>
          </p:cNvPr>
          <p:cNvSpPr/>
          <p:nvPr/>
        </p:nvSpPr>
        <p:spPr>
          <a:xfrm>
            <a:off x="132080" y="132080"/>
            <a:ext cx="11938000" cy="61874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3" name="Straight Connector 2">
            <a:extLst>
              <a:ext uri="{FF2B5EF4-FFF2-40B4-BE49-F238E27FC236}">
                <a16:creationId xmlns:a16="http://schemas.microsoft.com/office/drawing/2014/main" id="{B67B7C2C-7068-8F3C-81A8-425D460326DE}"/>
              </a:ext>
            </a:extLst>
          </p:cNvPr>
          <p:cNvCxnSpPr/>
          <p:nvPr/>
        </p:nvCxnSpPr>
        <p:spPr>
          <a:xfrm>
            <a:off x="127000" y="640080"/>
            <a:ext cx="11938000" cy="0"/>
          </a:xfrm>
          <a:prstGeom prst="line">
            <a:avLst/>
          </a:prstGeom>
        </p:spPr>
        <p:style>
          <a:lnRef idx="2">
            <a:schemeClr val="dk1"/>
          </a:lnRef>
          <a:fillRef idx="0">
            <a:schemeClr val="dk1"/>
          </a:fillRef>
          <a:effectRef idx="1">
            <a:schemeClr val="dk1"/>
          </a:effectRef>
          <a:fontRef idx="minor">
            <a:schemeClr val="tx1"/>
          </a:fontRef>
        </p:style>
      </p:cxnSp>
      <p:cxnSp>
        <p:nvCxnSpPr>
          <p:cNvPr id="4" name="Straight Connector 3">
            <a:extLst>
              <a:ext uri="{FF2B5EF4-FFF2-40B4-BE49-F238E27FC236}">
                <a16:creationId xmlns:a16="http://schemas.microsoft.com/office/drawing/2014/main" id="{1EDBB439-D6DD-C333-9BFF-9C3C5180A274}"/>
              </a:ext>
            </a:extLst>
          </p:cNvPr>
          <p:cNvCxnSpPr/>
          <p:nvPr/>
        </p:nvCxnSpPr>
        <p:spPr>
          <a:xfrm>
            <a:off x="1879600" y="640080"/>
            <a:ext cx="0" cy="567944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3B65AF8-E6D1-91A7-3BED-D4E3CAD66E6A}"/>
              </a:ext>
            </a:extLst>
          </p:cNvPr>
          <p:cNvCxnSpPr>
            <a:cxnSpLocks/>
          </p:cNvCxnSpPr>
          <p:nvPr/>
        </p:nvCxnSpPr>
        <p:spPr>
          <a:xfrm>
            <a:off x="1879600" y="15544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0ECBE44E-AD0F-7A22-B169-9363B3CD3DA5}"/>
              </a:ext>
            </a:extLst>
          </p:cNvPr>
          <p:cNvCxnSpPr/>
          <p:nvPr/>
        </p:nvCxnSpPr>
        <p:spPr>
          <a:xfrm>
            <a:off x="127000" y="187960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28A33151-89E6-E36D-89D1-911B3E41ED31}"/>
              </a:ext>
            </a:extLst>
          </p:cNvPr>
          <p:cNvCxnSpPr/>
          <p:nvPr/>
        </p:nvCxnSpPr>
        <p:spPr>
          <a:xfrm>
            <a:off x="127000" y="33172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51C93F3-7472-32B4-FC93-C94ADB9DF0BF}"/>
              </a:ext>
            </a:extLst>
          </p:cNvPr>
          <p:cNvCxnSpPr/>
          <p:nvPr/>
        </p:nvCxnSpPr>
        <p:spPr>
          <a:xfrm>
            <a:off x="127000" y="48666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9249800B-7708-900C-0DB3-79D8D3CDBD3E}"/>
              </a:ext>
            </a:extLst>
          </p:cNvPr>
          <p:cNvCxnSpPr/>
          <p:nvPr/>
        </p:nvCxnSpPr>
        <p:spPr>
          <a:xfrm>
            <a:off x="3556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BDE2906-0EAA-FAC5-C795-FA05DA09DFA5}"/>
              </a:ext>
            </a:extLst>
          </p:cNvPr>
          <p:cNvCxnSpPr/>
          <p:nvPr/>
        </p:nvCxnSpPr>
        <p:spPr>
          <a:xfrm>
            <a:off x="510032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65CD7E4-A33F-B735-9B7C-C1D21E7F581B}"/>
              </a:ext>
            </a:extLst>
          </p:cNvPr>
          <p:cNvCxnSpPr/>
          <p:nvPr/>
        </p:nvCxnSpPr>
        <p:spPr>
          <a:xfrm>
            <a:off x="6858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5B10C9E0-AA71-3003-49FF-C84B275F359A}"/>
              </a:ext>
            </a:extLst>
          </p:cNvPr>
          <p:cNvCxnSpPr/>
          <p:nvPr/>
        </p:nvCxnSpPr>
        <p:spPr>
          <a:xfrm>
            <a:off x="857504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2A6D3A86-FF00-5525-7FC2-25F350D4166A}"/>
              </a:ext>
            </a:extLst>
          </p:cNvPr>
          <p:cNvCxnSpPr/>
          <p:nvPr/>
        </p:nvCxnSpPr>
        <p:spPr>
          <a:xfrm>
            <a:off x="103632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1989B-BE3A-18EB-B2EB-7C271BC80CAF}"/>
              </a:ext>
            </a:extLst>
          </p:cNvPr>
          <p:cNvCxnSpPr/>
          <p:nvPr/>
        </p:nvCxnSpPr>
        <p:spPr>
          <a:xfrm>
            <a:off x="1879600" y="33070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F6FA295-5453-BD7D-06A7-E1DF02344638}"/>
              </a:ext>
            </a:extLst>
          </p:cNvPr>
          <p:cNvCxnSpPr/>
          <p:nvPr/>
        </p:nvCxnSpPr>
        <p:spPr>
          <a:xfrm>
            <a:off x="6972300" y="3317240"/>
            <a:ext cx="0" cy="300228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7409807-17C1-B18D-510B-30015610AE84}"/>
              </a:ext>
            </a:extLst>
          </p:cNvPr>
          <p:cNvCxnSpPr/>
          <p:nvPr/>
        </p:nvCxnSpPr>
        <p:spPr>
          <a:xfrm>
            <a:off x="1879600" y="4866640"/>
            <a:ext cx="10185400"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185DB574-3BA7-30C0-3314-FD2BBC2E34BC}"/>
              </a:ext>
            </a:extLst>
          </p:cNvPr>
          <p:cNvSpPr txBox="1"/>
          <p:nvPr/>
        </p:nvSpPr>
        <p:spPr>
          <a:xfrm>
            <a:off x="127000" y="132080"/>
            <a:ext cx="11943080" cy="553998"/>
          </a:xfrm>
          <a:prstGeom prst="rect">
            <a:avLst/>
          </a:prstGeom>
          <a:noFill/>
        </p:spPr>
        <p:txBody>
          <a:bodyPr wrap="square" rtlCol="0">
            <a:spAutoFit/>
          </a:bodyPr>
          <a:lstStyle/>
          <a:p>
            <a:pPr algn="ctr"/>
            <a:r>
              <a:rPr lang="en-IN" sz="3000" b="1" dirty="0"/>
              <a:t>APPOINTMENT OPERATIONS </a:t>
            </a:r>
          </a:p>
        </p:txBody>
      </p:sp>
      <p:sp>
        <p:nvSpPr>
          <p:cNvPr id="18" name="TextBox 17">
            <a:extLst>
              <a:ext uri="{FF2B5EF4-FFF2-40B4-BE49-F238E27FC236}">
                <a16:creationId xmlns:a16="http://schemas.microsoft.com/office/drawing/2014/main" id="{2550BE08-65EB-773F-930D-014C7CF14E78}"/>
              </a:ext>
            </a:extLst>
          </p:cNvPr>
          <p:cNvSpPr txBox="1"/>
          <p:nvPr/>
        </p:nvSpPr>
        <p:spPr>
          <a:xfrm>
            <a:off x="127000" y="640080"/>
            <a:ext cx="1747518" cy="615553"/>
          </a:xfrm>
          <a:prstGeom prst="rect">
            <a:avLst/>
          </a:prstGeom>
          <a:noFill/>
        </p:spPr>
        <p:txBody>
          <a:bodyPr wrap="square" rtlCol="0">
            <a:spAutoFit/>
          </a:bodyPr>
          <a:lstStyle/>
          <a:p>
            <a:r>
              <a:rPr lang="en-IN" sz="1700" dirty="0"/>
              <a:t>Date</a:t>
            </a:r>
          </a:p>
          <a:p>
            <a:r>
              <a:rPr lang="en-IN" sz="1700" dirty="0"/>
              <a:t>(slicer)</a:t>
            </a:r>
          </a:p>
        </p:txBody>
      </p:sp>
      <p:sp>
        <p:nvSpPr>
          <p:cNvPr id="19" name="TextBox 18">
            <a:extLst>
              <a:ext uri="{FF2B5EF4-FFF2-40B4-BE49-F238E27FC236}">
                <a16:creationId xmlns:a16="http://schemas.microsoft.com/office/drawing/2014/main" id="{676E12E5-8AE5-3932-42E9-77C3584BC2D4}"/>
              </a:ext>
            </a:extLst>
          </p:cNvPr>
          <p:cNvSpPr txBox="1"/>
          <p:nvPr/>
        </p:nvSpPr>
        <p:spPr>
          <a:xfrm>
            <a:off x="121920" y="1881703"/>
            <a:ext cx="1747518" cy="615553"/>
          </a:xfrm>
          <a:prstGeom prst="rect">
            <a:avLst/>
          </a:prstGeom>
          <a:noFill/>
        </p:spPr>
        <p:txBody>
          <a:bodyPr wrap="square" rtlCol="0">
            <a:spAutoFit/>
          </a:bodyPr>
          <a:lstStyle/>
          <a:p>
            <a:r>
              <a:rPr lang="en-IN" sz="1700" dirty="0"/>
              <a:t>Department</a:t>
            </a:r>
          </a:p>
          <a:p>
            <a:r>
              <a:rPr lang="en-IN" sz="1700" dirty="0"/>
              <a:t>(slicer)</a:t>
            </a:r>
          </a:p>
        </p:txBody>
      </p:sp>
      <p:sp>
        <p:nvSpPr>
          <p:cNvPr id="20" name="TextBox 19">
            <a:extLst>
              <a:ext uri="{FF2B5EF4-FFF2-40B4-BE49-F238E27FC236}">
                <a16:creationId xmlns:a16="http://schemas.microsoft.com/office/drawing/2014/main" id="{F5F2CFB2-BB6E-398A-BC77-526E387BE936}"/>
              </a:ext>
            </a:extLst>
          </p:cNvPr>
          <p:cNvSpPr txBox="1"/>
          <p:nvPr/>
        </p:nvSpPr>
        <p:spPr>
          <a:xfrm>
            <a:off x="129541" y="3321447"/>
            <a:ext cx="1747518" cy="615553"/>
          </a:xfrm>
          <a:prstGeom prst="rect">
            <a:avLst/>
          </a:prstGeom>
          <a:noFill/>
        </p:spPr>
        <p:txBody>
          <a:bodyPr wrap="square" rtlCol="0">
            <a:spAutoFit/>
          </a:bodyPr>
          <a:lstStyle/>
          <a:p>
            <a:r>
              <a:rPr lang="en-IN" sz="1700" dirty="0"/>
              <a:t>Doctor</a:t>
            </a:r>
          </a:p>
          <a:p>
            <a:r>
              <a:rPr lang="en-IN" sz="1700" dirty="0"/>
              <a:t>(slicer)</a:t>
            </a:r>
          </a:p>
        </p:txBody>
      </p:sp>
      <p:sp>
        <p:nvSpPr>
          <p:cNvPr id="21" name="TextBox 20">
            <a:extLst>
              <a:ext uri="{FF2B5EF4-FFF2-40B4-BE49-F238E27FC236}">
                <a16:creationId xmlns:a16="http://schemas.microsoft.com/office/drawing/2014/main" id="{02D9B0E9-3AB7-F673-1A5A-E32B2B2C4EA4}"/>
              </a:ext>
            </a:extLst>
          </p:cNvPr>
          <p:cNvSpPr txBox="1"/>
          <p:nvPr/>
        </p:nvSpPr>
        <p:spPr>
          <a:xfrm>
            <a:off x="129541" y="4881006"/>
            <a:ext cx="1747518" cy="877163"/>
          </a:xfrm>
          <a:prstGeom prst="rect">
            <a:avLst/>
          </a:prstGeom>
          <a:noFill/>
        </p:spPr>
        <p:txBody>
          <a:bodyPr wrap="square" rtlCol="0">
            <a:spAutoFit/>
          </a:bodyPr>
          <a:lstStyle/>
          <a:p>
            <a:r>
              <a:rPr lang="en-IN" sz="1700" dirty="0"/>
              <a:t>Appointment Type</a:t>
            </a:r>
          </a:p>
          <a:p>
            <a:r>
              <a:rPr lang="en-IN" sz="1700" dirty="0"/>
              <a:t>(slicer)</a:t>
            </a:r>
          </a:p>
        </p:txBody>
      </p:sp>
      <p:sp>
        <p:nvSpPr>
          <p:cNvPr id="22" name="TextBox 21">
            <a:extLst>
              <a:ext uri="{FF2B5EF4-FFF2-40B4-BE49-F238E27FC236}">
                <a16:creationId xmlns:a16="http://schemas.microsoft.com/office/drawing/2014/main" id="{80D5DC2E-495D-3120-B5C7-646CD0D23ACF}"/>
              </a:ext>
            </a:extLst>
          </p:cNvPr>
          <p:cNvSpPr txBox="1"/>
          <p:nvPr/>
        </p:nvSpPr>
        <p:spPr>
          <a:xfrm>
            <a:off x="1877059" y="640080"/>
            <a:ext cx="1673842" cy="492443"/>
          </a:xfrm>
          <a:prstGeom prst="rect">
            <a:avLst/>
          </a:prstGeom>
          <a:noFill/>
        </p:spPr>
        <p:txBody>
          <a:bodyPr wrap="square" rtlCol="0">
            <a:spAutoFit/>
          </a:bodyPr>
          <a:lstStyle/>
          <a:p>
            <a:r>
              <a:rPr lang="en-IN" sz="1300" dirty="0"/>
              <a:t>Total Appointments</a:t>
            </a:r>
          </a:p>
          <a:p>
            <a:r>
              <a:rPr lang="en-IN" sz="1300" dirty="0"/>
              <a:t>(KPIs)</a:t>
            </a:r>
          </a:p>
        </p:txBody>
      </p:sp>
      <p:sp>
        <p:nvSpPr>
          <p:cNvPr id="23" name="TextBox 22">
            <a:extLst>
              <a:ext uri="{FF2B5EF4-FFF2-40B4-BE49-F238E27FC236}">
                <a16:creationId xmlns:a16="http://schemas.microsoft.com/office/drawing/2014/main" id="{41AB5F06-D16B-35DD-4566-2077E2C4BEAE}"/>
              </a:ext>
            </a:extLst>
          </p:cNvPr>
          <p:cNvSpPr txBox="1"/>
          <p:nvPr/>
        </p:nvSpPr>
        <p:spPr>
          <a:xfrm>
            <a:off x="3555981" y="640080"/>
            <a:ext cx="1673842" cy="692497"/>
          </a:xfrm>
          <a:prstGeom prst="rect">
            <a:avLst/>
          </a:prstGeom>
          <a:noFill/>
        </p:spPr>
        <p:txBody>
          <a:bodyPr wrap="square" rtlCol="0">
            <a:spAutoFit/>
          </a:bodyPr>
          <a:lstStyle/>
          <a:p>
            <a:r>
              <a:rPr lang="en-IN" sz="1300" dirty="0"/>
              <a:t>Completed Appointments</a:t>
            </a:r>
          </a:p>
          <a:p>
            <a:r>
              <a:rPr lang="en-IN" sz="1300" dirty="0"/>
              <a:t>(KPIs)</a:t>
            </a:r>
          </a:p>
        </p:txBody>
      </p:sp>
      <p:sp>
        <p:nvSpPr>
          <p:cNvPr id="24" name="TextBox 23">
            <a:extLst>
              <a:ext uri="{FF2B5EF4-FFF2-40B4-BE49-F238E27FC236}">
                <a16:creationId xmlns:a16="http://schemas.microsoft.com/office/drawing/2014/main" id="{114BFC3A-B79E-BC27-2368-E1C7560A5B12}"/>
              </a:ext>
            </a:extLst>
          </p:cNvPr>
          <p:cNvSpPr txBox="1"/>
          <p:nvPr/>
        </p:nvSpPr>
        <p:spPr>
          <a:xfrm>
            <a:off x="5100320" y="663079"/>
            <a:ext cx="1673842" cy="692497"/>
          </a:xfrm>
          <a:prstGeom prst="rect">
            <a:avLst/>
          </a:prstGeom>
          <a:noFill/>
        </p:spPr>
        <p:txBody>
          <a:bodyPr wrap="square" rtlCol="0">
            <a:spAutoFit/>
          </a:bodyPr>
          <a:lstStyle/>
          <a:p>
            <a:r>
              <a:rPr lang="en-IN" sz="1300" dirty="0"/>
              <a:t>Pending Appointments</a:t>
            </a:r>
          </a:p>
          <a:p>
            <a:r>
              <a:rPr lang="en-IN" sz="1300" dirty="0"/>
              <a:t>(KPIs)</a:t>
            </a:r>
          </a:p>
        </p:txBody>
      </p:sp>
      <p:sp>
        <p:nvSpPr>
          <p:cNvPr id="25" name="TextBox 24">
            <a:extLst>
              <a:ext uri="{FF2B5EF4-FFF2-40B4-BE49-F238E27FC236}">
                <a16:creationId xmlns:a16="http://schemas.microsoft.com/office/drawing/2014/main" id="{F377B319-C444-E80E-0D49-B230C097CFD3}"/>
              </a:ext>
            </a:extLst>
          </p:cNvPr>
          <p:cNvSpPr txBox="1"/>
          <p:nvPr/>
        </p:nvSpPr>
        <p:spPr>
          <a:xfrm>
            <a:off x="6860540" y="650240"/>
            <a:ext cx="1673842" cy="492443"/>
          </a:xfrm>
          <a:prstGeom prst="rect">
            <a:avLst/>
          </a:prstGeom>
          <a:noFill/>
        </p:spPr>
        <p:txBody>
          <a:bodyPr wrap="square" rtlCol="0">
            <a:spAutoFit/>
          </a:bodyPr>
          <a:lstStyle/>
          <a:p>
            <a:r>
              <a:rPr lang="en-IN" sz="1300" dirty="0"/>
              <a:t>No – Show Rate %</a:t>
            </a:r>
          </a:p>
          <a:p>
            <a:r>
              <a:rPr lang="en-IN" sz="1300" dirty="0"/>
              <a:t>(KPIs)</a:t>
            </a:r>
          </a:p>
        </p:txBody>
      </p:sp>
      <p:sp>
        <p:nvSpPr>
          <p:cNvPr id="26" name="TextBox 25">
            <a:extLst>
              <a:ext uri="{FF2B5EF4-FFF2-40B4-BE49-F238E27FC236}">
                <a16:creationId xmlns:a16="http://schemas.microsoft.com/office/drawing/2014/main" id="{BC3DD813-7348-5BE9-1449-C94A8A819DFF}"/>
              </a:ext>
            </a:extLst>
          </p:cNvPr>
          <p:cNvSpPr txBox="1"/>
          <p:nvPr/>
        </p:nvSpPr>
        <p:spPr>
          <a:xfrm>
            <a:off x="8591559" y="627835"/>
            <a:ext cx="1673842" cy="492443"/>
          </a:xfrm>
          <a:prstGeom prst="rect">
            <a:avLst/>
          </a:prstGeom>
          <a:noFill/>
        </p:spPr>
        <p:txBody>
          <a:bodyPr wrap="square" rtlCol="0">
            <a:spAutoFit/>
          </a:bodyPr>
          <a:lstStyle/>
          <a:p>
            <a:r>
              <a:rPr lang="en-IN" sz="1300" dirty="0"/>
              <a:t>Collection Rate %</a:t>
            </a:r>
          </a:p>
          <a:p>
            <a:r>
              <a:rPr lang="en-IN" sz="1300" dirty="0"/>
              <a:t>(KPIs)</a:t>
            </a:r>
          </a:p>
        </p:txBody>
      </p:sp>
      <p:sp>
        <p:nvSpPr>
          <p:cNvPr id="27" name="TextBox 26">
            <a:extLst>
              <a:ext uri="{FF2B5EF4-FFF2-40B4-BE49-F238E27FC236}">
                <a16:creationId xmlns:a16="http://schemas.microsoft.com/office/drawing/2014/main" id="{85E95BC4-FCF4-FF45-2CF7-1D59086FA183}"/>
              </a:ext>
            </a:extLst>
          </p:cNvPr>
          <p:cNvSpPr txBox="1"/>
          <p:nvPr/>
        </p:nvSpPr>
        <p:spPr>
          <a:xfrm>
            <a:off x="10358120" y="640080"/>
            <a:ext cx="1673842" cy="692497"/>
          </a:xfrm>
          <a:prstGeom prst="rect">
            <a:avLst/>
          </a:prstGeom>
          <a:noFill/>
        </p:spPr>
        <p:txBody>
          <a:bodyPr wrap="square" rtlCol="0">
            <a:spAutoFit/>
          </a:bodyPr>
          <a:lstStyle/>
          <a:p>
            <a:r>
              <a:rPr lang="en-IN" sz="1300" dirty="0" err="1"/>
              <a:t>Avg</a:t>
            </a:r>
            <a:r>
              <a:rPr lang="en-IN" sz="1300" dirty="0"/>
              <a:t> Patient Waiting Time</a:t>
            </a:r>
          </a:p>
          <a:p>
            <a:r>
              <a:rPr lang="en-IN" sz="1300" dirty="0"/>
              <a:t>(KPIs)</a:t>
            </a:r>
          </a:p>
        </p:txBody>
      </p:sp>
      <p:sp>
        <p:nvSpPr>
          <p:cNvPr id="29" name="TextBox 28">
            <a:extLst>
              <a:ext uri="{FF2B5EF4-FFF2-40B4-BE49-F238E27FC236}">
                <a16:creationId xmlns:a16="http://schemas.microsoft.com/office/drawing/2014/main" id="{1AA362FC-1F3F-3501-2CD1-7EA6F9F5B8BC}"/>
              </a:ext>
            </a:extLst>
          </p:cNvPr>
          <p:cNvSpPr txBox="1"/>
          <p:nvPr/>
        </p:nvSpPr>
        <p:spPr>
          <a:xfrm>
            <a:off x="1877059" y="3312160"/>
            <a:ext cx="5105402" cy="646331"/>
          </a:xfrm>
          <a:prstGeom prst="rect">
            <a:avLst/>
          </a:prstGeom>
          <a:noFill/>
        </p:spPr>
        <p:txBody>
          <a:bodyPr wrap="square" rtlCol="0">
            <a:spAutoFit/>
          </a:bodyPr>
          <a:lstStyle/>
          <a:p>
            <a:pPr algn="ctr"/>
            <a:r>
              <a:rPr lang="en-IN" dirty="0"/>
              <a:t>Appointments by Department</a:t>
            </a:r>
          </a:p>
          <a:p>
            <a:pPr algn="ctr"/>
            <a:r>
              <a:rPr lang="en-IN" dirty="0"/>
              <a:t>(Bar Chart)</a:t>
            </a:r>
          </a:p>
        </p:txBody>
      </p:sp>
      <p:sp>
        <p:nvSpPr>
          <p:cNvPr id="30" name="TextBox 29">
            <a:extLst>
              <a:ext uri="{FF2B5EF4-FFF2-40B4-BE49-F238E27FC236}">
                <a16:creationId xmlns:a16="http://schemas.microsoft.com/office/drawing/2014/main" id="{D0AAF58D-DBC7-A0B5-CBE4-E6D5A19F1D60}"/>
              </a:ext>
            </a:extLst>
          </p:cNvPr>
          <p:cNvSpPr txBox="1"/>
          <p:nvPr/>
        </p:nvSpPr>
        <p:spPr>
          <a:xfrm>
            <a:off x="6967217" y="3321447"/>
            <a:ext cx="5105402" cy="646331"/>
          </a:xfrm>
          <a:prstGeom prst="rect">
            <a:avLst/>
          </a:prstGeom>
          <a:noFill/>
        </p:spPr>
        <p:txBody>
          <a:bodyPr wrap="square" rtlCol="0">
            <a:spAutoFit/>
          </a:bodyPr>
          <a:lstStyle/>
          <a:p>
            <a:pPr algn="ctr"/>
            <a:r>
              <a:rPr lang="en-IN" dirty="0"/>
              <a:t>Appointments by Day of Week</a:t>
            </a:r>
          </a:p>
          <a:p>
            <a:pPr algn="ctr"/>
            <a:r>
              <a:rPr lang="en-IN" dirty="0"/>
              <a:t> (Column Chart)</a:t>
            </a:r>
          </a:p>
        </p:txBody>
      </p:sp>
      <p:sp>
        <p:nvSpPr>
          <p:cNvPr id="31" name="TextBox 30">
            <a:extLst>
              <a:ext uri="{FF2B5EF4-FFF2-40B4-BE49-F238E27FC236}">
                <a16:creationId xmlns:a16="http://schemas.microsoft.com/office/drawing/2014/main" id="{AFF23808-8946-11BA-039F-D3D521DAB259}"/>
              </a:ext>
            </a:extLst>
          </p:cNvPr>
          <p:cNvSpPr txBox="1"/>
          <p:nvPr/>
        </p:nvSpPr>
        <p:spPr>
          <a:xfrm>
            <a:off x="1889760" y="4866640"/>
            <a:ext cx="5064746" cy="646331"/>
          </a:xfrm>
          <a:prstGeom prst="rect">
            <a:avLst/>
          </a:prstGeom>
          <a:noFill/>
        </p:spPr>
        <p:txBody>
          <a:bodyPr wrap="square" rtlCol="0">
            <a:spAutoFit/>
          </a:bodyPr>
          <a:lstStyle/>
          <a:p>
            <a:pPr algn="ctr"/>
            <a:r>
              <a:rPr lang="en-IN" dirty="0"/>
              <a:t>Doctor-wise Appointment Load</a:t>
            </a:r>
          </a:p>
          <a:p>
            <a:pPr algn="ctr"/>
            <a:r>
              <a:rPr lang="en-IN" dirty="0"/>
              <a:t> (Bar Chart)</a:t>
            </a:r>
          </a:p>
        </p:txBody>
      </p:sp>
      <p:sp>
        <p:nvSpPr>
          <p:cNvPr id="32" name="TextBox 31">
            <a:extLst>
              <a:ext uri="{FF2B5EF4-FFF2-40B4-BE49-F238E27FC236}">
                <a16:creationId xmlns:a16="http://schemas.microsoft.com/office/drawing/2014/main" id="{2D6BAD78-D70A-96DB-7C03-6EC57BEF795D}"/>
              </a:ext>
            </a:extLst>
          </p:cNvPr>
          <p:cNvSpPr txBox="1"/>
          <p:nvPr/>
        </p:nvSpPr>
        <p:spPr>
          <a:xfrm>
            <a:off x="6982472" y="4881006"/>
            <a:ext cx="5105402" cy="646331"/>
          </a:xfrm>
          <a:prstGeom prst="rect">
            <a:avLst/>
          </a:prstGeom>
          <a:noFill/>
        </p:spPr>
        <p:txBody>
          <a:bodyPr wrap="square" rtlCol="0">
            <a:spAutoFit/>
          </a:bodyPr>
          <a:lstStyle/>
          <a:p>
            <a:pPr algn="ctr"/>
            <a:r>
              <a:rPr lang="en-IN" dirty="0"/>
              <a:t>Average Waiting Time by Department</a:t>
            </a:r>
          </a:p>
          <a:p>
            <a:pPr algn="ctr"/>
            <a:r>
              <a:rPr lang="en-IN" dirty="0"/>
              <a:t>(Bar Chart)</a:t>
            </a:r>
          </a:p>
        </p:txBody>
      </p:sp>
      <p:cxnSp>
        <p:nvCxnSpPr>
          <p:cNvPr id="34" name="Straight Connector 33">
            <a:extLst>
              <a:ext uri="{FF2B5EF4-FFF2-40B4-BE49-F238E27FC236}">
                <a16:creationId xmlns:a16="http://schemas.microsoft.com/office/drawing/2014/main" id="{93075E06-71A7-3E93-D153-3151F2503397}"/>
              </a:ext>
            </a:extLst>
          </p:cNvPr>
          <p:cNvCxnSpPr/>
          <p:nvPr/>
        </p:nvCxnSpPr>
        <p:spPr>
          <a:xfrm>
            <a:off x="6967217" y="1544320"/>
            <a:ext cx="0" cy="1762760"/>
          </a:xfrm>
          <a:prstGeom prst="line">
            <a:avLst/>
          </a:prstGeom>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E19139F2-E634-7E4C-8208-0D46D7E459A6}"/>
              </a:ext>
            </a:extLst>
          </p:cNvPr>
          <p:cNvSpPr txBox="1"/>
          <p:nvPr/>
        </p:nvSpPr>
        <p:spPr>
          <a:xfrm>
            <a:off x="1884680" y="1564213"/>
            <a:ext cx="5069825" cy="646331"/>
          </a:xfrm>
          <a:prstGeom prst="rect">
            <a:avLst/>
          </a:prstGeom>
          <a:noFill/>
        </p:spPr>
        <p:txBody>
          <a:bodyPr wrap="square" rtlCol="0">
            <a:spAutoFit/>
          </a:bodyPr>
          <a:lstStyle/>
          <a:p>
            <a:pPr algn="ctr"/>
            <a:r>
              <a:rPr lang="en-IN" dirty="0"/>
              <a:t>Appointment Trend by Month</a:t>
            </a:r>
          </a:p>
          <a:p>
            <a:pPr algn="ctr"/>
            <a:r>
              <a:rPr lang="en-IN" dirty="0"/>
              <a:t>(Line Chart)</a:t>
            </a:r>
          </a:p>
        </p:txBody>
      </p:sp>
      <p:sp>
        <p:nvSpPr>
          <p:cNvPr id="38" name="TextBox 37">
            <a:extLst>
              <a:ext uri="{FF2B5EF4-FFF2-40B4-BE49-F238E27FC236}">
                <a16:creationId xmlns:a16="http://schemas.microsoft.com/office/drawing/2014/main" id="{17F8AC50-9247-40E4-1546-1323F590CB1C}"/>
              </a:ext>
            </a:extLst>
          </p:cNvPr>
          <p:cNvSpPr txBox="1"/>
          <p:nvPr/>
        </p:nvSpPr>
        <p:spPr>
          <a:xfrm>
            <a:off x="6977390" y="1575563"/>
            <a:ext cx="5105402" cy="646331"/>
          </a:xfrm>
          <a:prstGeom prst="rect">
            <a:avLst/>
          </a:prstGeom>
          <a:noFill/>
        </p:spPr>
        <p:txBody>
          <a:bodyPr wrap="square" rtlCol="0">
            <a:spAutoFit/>
          </a:bodyPr>
          <a:lstStyle/>
          <a:p>
            <a:pPr algn="ctr"/>
            <a:r>
              <a:rPr lang="en-IN" dirty="0"/>
              <a:t>Appointment Status Analysis </a:t>
            </a:r>
          </a:p>
          <a:p>
            <a:pPr algn="ctr"/>
            <a:r>
              <a:rPr lang="en-IN" dirty="0"/>
              <a:t>(Donut Chart)</a:t>
            </a:r>
          </a:p>
        </p:txBody>
      </p:sp>
      <p:pic>
        <p:nvPicPr>
          <p:cNvPr id="33" name="Picture 32">
            <a:extLst>
              <a:ext uri="{FF2B5EF4-FFF2-40B4-BE49-F238E27FC236}">
                <a16:creationId xmlns:a16="http://schemas.microsoft.com/office/drawing/2014/main" id="{D844109E-E575-A5D4-DB72-EEE5F29CD4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99" y="132078"/>
            <a:ext cx="11932922" cy="6176629"/>
          </a:xfrm>
          <a:prstGeom prst="rect">
            <a:avLst/>
          </a:prstGeom>
        </p:spPr>
      </p:pic>
    </p:spTree>
    <p:extLst>
      <p:ext uri="{BB962C8B-B14F-4D97-AF65-F5344CB8AC3E}">
        <p14:creationId xmlns:p14="http://schemas.microsoft.com/office/powerpoint/2010/main" val="191787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BDF410-B2BB-B9F3-E2B8-5AEA2FE6002E}"/>
              </a:ext>
            </a:extLst>
          </p:cNvPr>
          <p:cNvSpPr/>
          <p:nvPr/>
        </p:nvSpPr>
        <p:spPr>
          <a:xfrm>
            <a:off x="132080" y="132080"/>
            <a:ext cx="11938000" cy="61874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3" name="Straight Connector 2">
            <a:extLst>
              <a:ext uri="{FF2B5EF4-FFF2-40B4-BE49-F238E27FC236}">
                <a16:creationId xmlns:a16="http://schemas.microsoft.com/office/drawing/2014/main" id="{8F2F5C7A-B41E-4D4F-E23B-44BB87927C11}"/>
              </a:ext>
            </a:extLst>
          </p:cNvPr>
          <p:cNvCxnSpPr/>
          <p:nvPr/>
        </p:nvCxnSpPr>
        <p:spPr>
          <a:xfrm>
            <a:off x="127000" y="640080"/>
            <a:ext cx="11938000" cy="0"/>
          </a:xfrm>
          <a:prstGeom prst="line">
            <a:avLst/>
          </a:prstGeom>
        </p:spPr>
        <p:style>
          <a:lnRef idx="2">
            <a:schemeClr val="dk1"/>
          </a:lnRef>
          <a:fillRef idx="0">
            <a:schemeClr val="dk1"/>
          </a:fillRef>
          <a:effectRef idx="1">
            <a:schemeClr val="dk1"/>
          </a:effectRef>
          <a:fontRef idx="minor">
            <a:schemeClr val="tx1"/>
          </a:fontRef>
        </p:style>
      </p:cxnSp>
      <p:cxnSp>
        <p:nvCxnSpPr>
          <p:cNvPr id="4" name="Straight Connector 3">
            <a:extLst>
              <a:ext uri="{FF2B5EF4-FFF2-40B4-BE49-F238E27FC236}">
                <a16:creationId xmlns:a16="http://schemas.microsoft.com/office/drawing/2014/main" id="{E15FCE9C-536D-18F6-72CE-58352FCB9009}"/>
              </a:ext>
            </a:extLst>
          </p:cNvPr>
          <p:cNvCxnSpPr/>
          <p:nvPr/>
        </p:nvCxnSpPr>
        <p:spPr>
          <a:xfrm>
            <a:off x="1879600" y="640080"/>
            <a:ext cx="0" cy="567944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457367DA-C70B-7ACF-4847-A97FCE0A6F63}"/>
              </a:ext>
            </a:extLst>
          </p:cNvPr>
          <p:cNvCxnSpPr>
            <a:cxnSpLocks/>
          </p:cNvCxnSpPr>
          <p:nvPr/>
        </p:nvCxnSpPr>
        <p:spPr>
          <a:xfrm>
            <a:off x="1879600" y="15544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317A1DF5-9FFD-68EA-CB71-EE844F26F41A}"/>
              </a:ext>
            </a:extLst>
          </p:cNvPr>
          <p:cNvCxnSpPr/>
          <p:nvPr/>
        </p:nvCxnSpPr>
        <p:spPr>
          <a:xfrm>
            <a:off x="127000" y="187960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3B993CC-0C2D-F527-5139-AE060432BADA}"/>
              </a:ext>
            </a:extLst>
          </p:cNvPr>
          <p:cNvCxnSpPr/>
          <p:nvPr/>
        </p:nvCxnSpPr>
        <p:spPr>
          <a:xfrm>
            <a:off x="127000" y="33172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D88028F-A5A9-81BB-4118-436DF16DA0FD}"/>
              </a:ext>
            </a:extLst>
          </p:cNvPr>
          <p:cNvCxnSpPr/>
          <p:nvPr/>
        </p:nvCxnSpPr>
        <p:spPr>
          <a:xfrm>
            <a:off x="127000" y="48666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C5A9EC0-46AF-7ACB-29F8-40A019C7F372}"/>
              </a:ext>
            </a:extLst>
          </p:cNvPr>
          <p:cNvCxnSpPr/>
          <p:nvPr/>
        </p:nvCxnSpPr>
        <p:spPr>
          <a:xfrm>
            <a:off x="3556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0DD983E3-C9A0-1008-D1E8-B5B0F757E6B6}"/>
              </a:ext>
            </a:extLst>
          </p:cNvPr>
          <p:cNvCxnSpPr/>
          <p:nvPr/>
        </p:nvCxnSpPr>
        <p:spPr>
          <a:xfrm>
            <a:off x="510032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9618219-E6BE-06B7-3DA9-4523BAFE9CDA}"/>
              </a:ext>
            </a:extLst>
          </p:cNvPr>
          <p:cNvCxnSpPr/>
          <p:nvPr/>
        </p:nvCxnSpPr>
        <p:spPr>
          <a:xfrm>
            <a:off x="6858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BE61241-27B2-A2F2-17E4-720BD03402C6}"/>
              </a:ext>
            </a:extLst>
          </p:cNvPr>
          <p:cNvCxnSpPr/>
          <p:nvPr/>
        </p:nvCxnSpPr>
        <p:spPr>
          <a:xfrm>
            <a:off x="857504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B4BA7B1C-4429-1C63-276E-A5CCE1929E81}"/>
              </a:ext>
            </a:extLst>
          </p:cNvPr>
          <p:cNvCxnSpPr/>
          <p:nvPr/>
        </p:nvCxnSpPr>
        <p:spPr>
          <a:xfrm>
            <a:off x="103632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E2167308-537C-ABB1-3FA8-DA48DDD8B9FD}"/>
              </a:ext>
            </a:extLst>
          </p:cNvPr>
          <p:cNvCxnSpPr/>
          <p:nvPr/>
        </p:nvCxnSpPr>
        <p:spPr>
          <a:xfrm>
            <a:off x="1879600" y="33070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D436E6A6-E3D4-CC47-3211-EC711E87409C}"/>
              </a:ext>
            </a:extLst>
          </p:cNvPr>
          <p:cNvCxnSpPr/>
          <p:nvPr/>
        </p:nvCxnSpPr>
        <p:spPr>
          <a:xfrm>
            <a:off x="6972300" y="3317240"/>
            <a:ext cx="0" cy="300228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6DEC97F3-3EE9-CA61-B57F-E384384B9523}"/>
              </a:ext>
            </a:extLst>
          </p:cNvPr>
          <p:cNvCxnSpPr/>
          <p:nvPr/>
        </p:nvCxnSpPr>
        <p:spPr>
          <a:xfrm>
            <a:off x="1879600" y="4866640"/>
            <a:ext cx="10185400"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0B7A446B-8582-4029-1C4E-4A63B97C276B}"/>
              </a:ext>
            </a:extLst>
          </p:cNvPr>
          <p:cNvSpPr txBox="1"/>
          <p:nvPr/>
        </p:nvSpPr>
        <p:spPr>
          <a:xfrm>
            <a:off x="127000" y="132080"/>
            <a:ext cx="11943080" cy="553998"/>
          </a:xfrm>
          <a:prstGeom prst="rect">
            <a:avLst/>
          </a:prstGeom>
          <a:noFill/>
        </p:spPr>
        <p:txBody>
          <a:bodyPr wrap="square" rtlCol="0">
            <a:spAutoFit/>
          </a:bodyPr>
          <a:lstStyle/>
          <a:p>
            <a:pPr algn="ctr"/>
            <a:r>
              <a:rPr lang="en-IN" sz="3000" b="1" dirty="0"/>
              <a:t>DOCTOR &amp; TREATMENT ANALYTICS</a:t>
            </a:r>
          </a:p>
        </p:txBody>
      </p:sp>
      <p:sp>
        <p:nvSpPr>
          <p:cNvPr id="18" name="TextBox 17">
            <a:extLst>
              <a:ext uri="{FF2B5EF4-FFF2-40B4-BE49-F238E27FC236}">
                <a16:creationId xmlns:a16="http://schemas.microsoft.com/office/drawing/2014/main" id="{BB6713F0-D765-FD50-85E0-7B3C28D25F7B}"/>
              </a:ext>
            </a:extLst>
          </p:cNvPr>
          <p:cNvSpPr txBox="1"/>
          <p:nvPr/>
        </p:nvSpPr>
        <p:spPr>
          <a:xfrm>
            <a:off x="127000" y="640080"/>
            <a:ext cx="1747518" cy="615553"/>
          </a:xfrm>
          <a:prstGeom prst="rect">
            <a:avLst/>
          </a:prstGeom>
          <a:noFill/>
        </p:spPr>
        <p:txBody>
          <a:bodyPr wrap="square" rtlCol="0">
            <a:spAutoFit/>
          </a:bodyPr>
          <a:lstStyle/>
          <a:p>
            <a:r>
              <a:rPr lang="en-IN" sz="1700" dirty="0"/>
              <a:t>Date</a:t>
            </a:r>
          </a:p>
          <a:p>
            <a:r>
              <a:rPr lang="en-IN" sz="1700" dirty="0"/>
              <a:t>(slicer)</a:t>
            </a:r>
          </a:p>
        </p:txBody>
      </p:sp>
      <p:sp>
        <p:nvSpPr>
          <p:cNvPr id="19" name="TextBox 18">
            <a:extLst>
              <a:ext uri="{FF2B5EF4-FFF2-40B4-BE49-F238E27FC236}">
                <a16:creationId xmlns:a16="http://schemas.microsoft.com/office/drawing/2014/main" id="{2B9A147D-F34B-5C92-8038-2C689D27A12F}"/>
              </a:ext>
            </a:extLst>
          </p:cNvPr>
          <p:cNvSpPr txBox="1"/>
          <p:nvPr/>
        </p:nvSpPr>
        <p:spPr>
          <a:xfrm>
            <a:off x="121920" y="1881703"/>
            <a:ext cx="1747518" cy="615553"/>
          </a:xfrm>
          <a:prstGeom prst="rect">
            <a:avLst/>
          </a:prstGeom>
          <a:noFill/>
        </p:spPr>
        <p:txBody>
          <a:bodyPr wrap="square" rtlCol="0">
            <a:spAutoFit/>
          </a:bodyPr>
          <a:lstStyle/>
          <a:p>
            <a:r>
              <a:rPr lang="en-IN" sz="1700" dirty="0"/>
              <a:t>Department</a:t>
            </a:r>
          </a:p>
          <a:p>
            <a:r>
              <a:rPr lang="en-IN" sz="1700" dirty="0"/>
              <a:t>(slicer)</a:t>
            </a:r>
          </a:p>
        </p:txBody>
      </p:sp>
      <p:sp>
        <p:nvSpPr>
          <p:cNvPr id="20" name="TextBox 19">
            <a:extLst>
              <a:ext uri="{FF2B5EF4-FFF2-40B4-BE49-F238E27FC236}">
                <a16:creationId xmlns:a16="http://schemas.microsoft.com/office/drawing/2014/main" id="{F9139E1A-1DE6-8B10-4B15-AA544A7787BB}"/>
              </a:ext>
            </a:extLst>
          </p:cNvPr>
          <p:cNvSpPr txBox="1"/>
          <p:nvPr/>
        </p:nvSpPr>
        <p:spPr>
          <a:xfrm>
            <a:off x="129541" y="3321447"/>
            <a:ext cx="1747518" cy="615553"/>
          </a:xfrm>
          <a:prstGeom prst="rect">
            <a:avLst/>
          </a:prstGeom>
          <a:noFill/>
        </p:spPr>
        <p:txBody>
          <a:bodyPr wrap="square" rtlCol="0">
            <a:spAutoFit/>
          </a:bodyPr>
          <a:lstStyle/>
          <a:p>
            <a:r>
              <a:rPr lang="en-IN" sz="1700" dirty="0"/>
              <a:t>Doctor</a:t>
            </a:r>
          </a:p>
          <a:p>
            <a:r>
              <a:rPr lang="en-IN" sz="1700" dirty="0"/>
              <a:t>(slicer)</a:t>
            </a:r>
          </a:p>
        </p:txBody>
      </p:sp>
      <p:sp>
        <p:nvSpPr>
          <p:cNvPr id="21" name="TextBox 20">
            <a:extLst>
              <a:ext uri="{FF2B5EF4-FFF2-40B4-BE49-F238E27FC236}">
                <a16:creationId xmlns:a16="http://schemas.microsoft.com/office/drawing/2014/main" id="{BC3D681E-24C7-DB21-F24C-B08B4404D1FF}"/>
              </a:ext>
            </a:extLst>
          </p:cNvPr>
          <p:cNvSpPr txBox="1"/>
          <p:nvPr/>
        </p:nvSpPr>
        <p:spPr>
          <a:xfrm>
            <a:off x="129541" y="4881006"/>
            <a:ext cx="1747518" cy="615553"/>
          </a:xfrm>
          <a:prstGeom prst="rect">
            <a:avLst/>
          </a:prstGeom>
          <a:noFill/>
        </p:spPr>
        <p:txBody>
          <a:bodyPr wrap="square" rtlCol="0">
            <a:spAutoFit/>
          </a:bodyPr>
          <a:lstStyle/>
          <a:p>
            <a:r>
              <a:rPr lang="en-IN" sz="1700" dirty="0"/>
              <a:t>Patient Gender</a:t>
            </a:r>
          </a:p>
          <a:p>
            <a:r>
              <a:rPr lang="en-IN" sz="1700" dirty="0"/>
              <a:t>(slicer)</a:t>
            </a:r>
          </a:p>
        </p:txBody>
      </p:sp>
      <p:sp>
        <p:nvSpPr>
          <p:cNvPr id="22" name="TextBox 21">
            <a:extLst>
              <a:ext uri="{FF2B5EF4-FFF2-40B4-BE49-F238E27FC236}">
                <a16:creationId xmlns:a16="http://schemas.microsoft.com/office/drawing/2014/main" id="{177679F0-E4B6-8220-FDF4-2488C6F32BCD}"/>
              </a:ext>
            </a:extLst>
          </p:cNvPr>
          <p:cNvSpPr txBox="1"/>
          <p:nvPr/>
        </p:nvSpPr>
        <p:spPr>
          <a:xfrm>
            <a:off x="1877059" y="640080"/>
            <a:ext cx="1673842" cy="492443"/>
          </a:xfrm>
          <a:prstGeom prst="rect">
            <a:avLst/>
          </a:prstGeom>
          <a:noFill/>
        </p:spPr>
        <p:txBody>
          <a:bodyPr wrap="square" rtlCol="0">
            <a:spAutoFit/>
          </a:bodyPr>
          <a:lstStyle/>
          <a:p>
            <a:r>
              <a:rPr lang="en-IN" sz="1300" dirty="0"/>
              <a:t>Total Doctors</a:t>
            </a:r>
          </a:p>
          <a:p>
            <a:r>
              <a:rPr lang="en-IN" sz="1300" dirty="0"/>
              <a:t>(KPIs)</a:t>
            </a:r>
          </a:p>
        </p:txBody>
      </p:sp>
      <p:sp>
        <p:nvSpPr>
          <p:cNvPr id="23" name="TextBox 22">
            <a:extLst>
              <a:ext uri="{FF2B5EF4-FFF2-40B4-BE49-F238E27FC236}">
                <a16:creationId xmlns:a16="http://schemas.microsoft.com/office/drawing/2014/main" id="{7F953553-F1BC-3D79-BC1B-BBDB31DC8910}"/>
              </a:ext>
            </a:extLst>
          </p:cNvPr>
          <p:cNvSpPr txBox="1"/>
          <p:nvPr/>
        </p:nvSpPr>
        <p:spPr>
          <a:xfrm>
            <a:off x="3555981" y="640080"/>
            <a:ext cx="1673842" cy="492443"/>
          </a:xfrm>
          <a:prstGeom prst="rect">
            <a:avLst/>
          </a:prstGeom>
          <a:noFill/>
        </p:spPr>
        <p:txBody>
          <a:bodyPr wrap="square" rtlCol="0">
            <a:spAutoFit/>
          </a:bodyPr>
          <a:lstStyle/>
          <a:p>
            <a:r>
              <a:rPr lang="en-IN" sz="1300" dirty="0"/>
              <a:t>Active Doctors</a:t>
            </a:r>
          </a:p>
          <a:p>
            <a:r>
              <a:rPr lang="en-IN" sz="1300" dirty="0"/>
              <a:t>(KPIs)</a:t>
            </a:r>
          </a:p>
        </p:txBody>
      </p:sp>
      <p:sp>
        <p:nvSpPr>
          <p:cNvPr id="24" name="TextBox 23">
            <a:extLst>
              <a:ext uri="{FF2B5EF4-FFF2-40B4-BE49-F238E27FC236}">
                <a16:creationId xmlns:a16="http://schemas.microsoft.com/office/drawing/2014/main" id="{B656349B-59A4-CD56-1769-FA20F8092FE9}"/>
              </a:ext>
            </a:extLst>
          </p:cNvPr>
          <p:cNvSpPr txBox="1"/>
          <p:nvPr/>
        </p:nvSpPr>
        <p:spPr>
          <a:xfrm>
            <a:off x="5100320" y="663079"/>
            <a:ext cx="1673842" cy="692497"/>
          </a:xfrm>
          <a:prstGeom prst="rect">
            <a:avLst/>
          </a:prstGeom>
          <a:noFill/>
        </p:spPr>
        <p:txBody>
          <a:bodyPr wrap="square" rtlCol="0">
            <a:spAutoFit/>
          </a:bodyPr>
          <a:lstStyle/>
          <a:p>
            <a:r>
              <a:rPr lang="en-IN" sz="1300" dirty="0"/>
              <a:t>Total Patient Treated</a:t>
            </a:r>
          </a:p>
          <a:p>
            <a:r>
              <a:rPr lang="en-IN" sz="1300" dirty="0"/>
              <a:t>(KPIs)</a:t>
            </a:r>
          </a:p>
        </p:txBody>
      </p:sp>
      <p:sp>
        <p:nvSpPr>
          <p:cNvPr id="25" name="TextBox 24">
            <a:extLst>
              <a:ext uri="{FF2B5EF4-FFF2-40B4-BE49-F238E27FC236}">
                <a16:creationId xmlns:a16="http://schemas.microsoft.com/office/drawing/2014/main" id="{708C8721-CE65-B8BF-0CFE-9CDCF23456B4}"/>
              </a:ext>
            </a:extLst>
          </p:cNvPr>
          <p:cNvSpPr txBox="1"/>
          <p:nvPr/>
        </p:nvSpPr>
        <p:spPr>
          <a:xfrm>
            <a:off x="6860540" y="650240"/>
            <a:ext cx="1673842" cy="692497"/>
          </a:xfrm>
          <a:prstGeom prst="rect">
            <a:avLst/>
          </a:prstGeom>
          <a:noFill/>
        </p:spPr>
        <p:txBody>
          <a:bodyPr wrap="square" rtlCol="0">
            <a:spAutoFit/>
          </a:bodyPr>
          <a:lstStyle/>
          <a:p>
            <a:r>
              <a:rPr lang="en-IN" sz="1300" dirty="0"/>
              <a:t>Completed Treatments</a:t>
            </a:r>
          </a:p>
          <a:p>
            <a:r>
              <a:rPr lang="en-IN" sz="1300" dirty="0"/>
              <a:t>(KPIs)</a:t>
            </a:r>
          </a:p>
        </p:txBody>
      </p:sp>
      <p:sp>
        <p:nvSpPr>
          <p:cNvPr id="26" name="TextBox 25">
            <a:extLst>
              <a:ext uri="{FF2B5EF4-FFF2-40B4-BE49-F238E27FC236}">
                <a16:creationId xmlns:a16="http://schemas.microsoft.com/office/drawing/2014/main" id="{8399934E-9441-D7BA-315A-9C42FFAA6931}"/>
              </a:ext>
            </a:extLst>
          </p:cNvPr>
          <p:cNvSpPr txBox="1"/>
          <p:nvPr/>
        </p:nvSpPr>
        <p:spPr>
          <a:xfrm>
            <a:off x="8591559" y="627835"/>
            <a:ext cx="1673842" cy="692497"/>
          </a:xfrm>
          <a:prstGeom prst="rect">
            <a:avLst/>
          </a:prstGeom>
          <a:noFill/>
        </p:spPr>
        <p:txBody>
          <a:bodyPr wrap="square" rtlCol="0">
            <a:spAutoFit/>
          </a:bodyPr>
          <a:lstStyle/>
          <a:p>
            <a:r>
              <a:rPr lang="en-IN" sz="1300" dirty="0" err="1"/>
              <a:t>Avg</a:t>
            </a:r>
            <a:r>
              <a:rPr lang="en-IN" sz="1300" dirty="0"/>
              <a:t> Patient per Doctor</a:t>
            </a:r>
          </a:p>
          <a:p>
            <a:r>
              <a:rPr lang="en-IN" sz="1300" dirty="0"/>
              <a:t>(KPIs)</a:t>
            </a:r>
          </a:p>
        </p:txBody>
      </p:sp>
      <p:sp>
        <p:nvSpPr>
          <p:cNvPr id="27" name="TextBox 26">
            <a:extLst>
              <a:ext uri="{FF2B5EF4-FFF2-40B4-BE49-F238E27FC236}">
                <a16:creationId xmlns:a16="http://schemas.microsoft.com/office/drawing/2014/main" id="{1A012155-02E4-6135-0331-7165F7026FAF}"/>
              </a:ext>
            </a:extLst>
          </p:cNvPr>
          <p:cNvSpPr txBox="1"/>
          <p:nvPr/>
        </p:nvSpPr>
        <p:spPr>
          <a:xfrm>
            <a:off x="10358120" y="640080"/>
            <a:ext cx="1673842" cy="692497"/>
          </a:xfrm>
          <a:prstGeom prst="rect">
            <a:avLst/>
          </a:prstGeom>
          <a:noFill/>
        </p:spPr>
        <p:txBody>
          <a:bodyPr wrap="square" rtlCol="0">
            <a:spAutoFit/>
          </a:bodyPr>
          <a:lstStyle/>
          <a:p>
            <a:r>
              <a:rPr lang="en-IN" sz="1300" dirty="0" err="1"/>
              <a:t>Avg</a:t>
            </a:r>
            <a:r>
              <a:rPr lang="en-IN" sz="1300" dirty="0"/>
              <a:t> Treatment /</a:t>
            </a:r>
          </a:p>
          <a:p>
            <a:r>
              <a:rPr lang="en-IN" sz="1300" dirty="0"/>
              <a:t>Consultation Time</a:t>
            </a:r>
          </a:p>
          <a:p>
            <a:r>
              <a:rPr lang="en-IN" sz="1300" dirty="0"/>
              <a:t>(KPIs)</a:t>
            </a:r>
          </a:p>
        </p:txBody>
      </p:sp>
      <p:sp>
        <p:nvSpPr>
          <p:cNvPr id="28" name="TextBox 27">
            <a:extLst>
              <a:ext uri="{FF2B5EF4-FFF2-40B4-BE49-F238E27FC236}">
                <a16:creationId xmlns:a16="http://schemas.microsoft.com/office/drawing/2014/main" id="{5DC3C17C-CD12-1A36-1F6F-EC8A1A5A04DC}"/>
              </a:ext>
            </a:extLst>
          </p:cNvPr>
          <p:cNvSpPr txBox="1"/>
          <p:nvPr/>
        </p:nvSpPr>
        <p:spPr>
          <a:xfrm>
            <a:off x="1877059" y="3312160"/>
            <a:ext cx="5105402" cy="646331"/>
          </a:xfrm>
          <a:prstGeom prst="rect">
            <a:avLst/>
          </a:prstGeom>
          <a:noFill/>
        </p:spPr>
        <p:txBody>
          <a:bodyPr wrap="square" rtlCol="0">
            <a:spAutoFit/>
          </a:bodyPr>
          <a:lstStyle/>
          <a:p>
            <a:pPr algn="ctr"/>
            <a:r>
              <a:rPr lang="en-IN" dirty="0"/>
              <a:t>Department-wise Treatment Volume</a:t>
            </a:r>
          </a:p>
          <a:p>
            <a:pPr algn="ctr"/>
            <a:r>
              <a:rPr lang="en-IN" dirty="0"/>
              <a:t>(Bar Chart)</a:t>
            </a:r>
          </a:p>
        </p:txBody>
      </p:sp>
      <p:sp>
        <p:nvSpPr>
          <p:cNvPr id="29" name="TextBox 28">
            <a:extLst>
              <a:ext uri="{FF2B5EF4-FFF2-40B4-BE49-F238E27FC236}">
                <a16:creationId xmlns:a16="http://schemas.microsoft.com/office/drawing/2014/main" id="{AD11972E-6B52-7EEF-9C02-C753071D9452}"/>
              </a:ext>
            </a:extLst>
          </p:cNvPr>
          <p:cNvSpPr txBox="1"/>
          <p:nvPr/>
        </p:nvSpPr>
        <p:spPr>
          <a:xfrm>
            <a:off x="6967217" y="3321447"/>
            <a:ext cx="5105402" cy="646331"/>
          </a:xfrm>
          <a:prstGeom prst="rect">
            <a:avLst/>
          </a:prstGeom>
          <a:noFill/>
        </p:spPr>
        <p:txBody>
          <a:bodyPr wrap="square" rtlCol="0">
            <a:spAutoFit/>
          </a:bodyPr>
          <a:lstStyle/>
          <a:p>
            <a:pPr algn="ctr"/>
            <a:r>
              <a:rPr lang="en-IN" dirty="0"/>
              <a:t>Top 10 Treatments</a:t>
            </a:r>
          </a:p>
          <a:p>
            <a:pPr algn="ctr"/>
            <a:r>
              <a:rPr lang="en-IN" dirty="0"/>
              <a:t> (Bar Chart)</a:t>
            </a:r>
          </a:p>
        </p:txBody>
      </p:sp>
      <p:sp>
        <p:nvSpPr>
          <p:cNvPr id="30" name="TextBox 29">
            <a:extLst>
              <a:ext uri="{FF2B5EF4-FFF2-40B4-BE49-F238E27FC236}">
                <a16:creationId xmlns:a16="http://schemas.microsoft.com/office/drawing/2014/main" id="{D5DAFDD3-E909-34D6-BEC3-03E7D582F2A3}"/>
              </a:ext>
            </a:extLst>
          </p:cNvPr>
          <p:cNvSpPr txBox="1"/>
          <p:nvPr/>
        </p:nvSpPr>
        <p:spPr>
          <a:xfrm>
            <a:off x="1889760" y="4866640"/>
            <a:ext cx="5064746" cy="646331"/>
          </a:xfrm>
          <a:prstGeom prst="rect">
            <a:avLst/>
          </a:prstGeom>
          <a:noFill/>
        </p:spPr>
        <p:txBody>
          <a:bodyPr wrap="square" rtlCol="0">
            <a:spAutoFit/>
          </a:bodyPr>
          <a:lstStyle/>
          <a:p>
            <a:pPr algn="ctr"/>
            <a:r>
              <a:rPr lang="en-IN" dirty="0"/>
              <a:t>Treatment Trend Over Time</a:t>
            </a:r>
          </a:p>
          <a:p>
            <a:pPr algn="ctr"/>
            <a:r>
              <a:rPr lang="en-IN" dirty="0"/>
              <a:t> (Line Chart)</a:t>
            </a:r>
          </a:p>
        </p:txBody>
      </p:sp>
      <p:sp>
        <p:nvSpPr>
          <p:cNvPr id="31" name="TextBox 30">
            <a:extLst>
              <a:ext uri="{FF2B5EF4-FFF2-40B4-BE49-F238E27FC236}">
                <a16:creationId xmlns:a16="http://schemas.microsoft.com/office/drawing/2014/main" id="{3A335EE4-76F3-4746-5A62-A16831848CA5}"/>
              </a:ext>
            </a:extLst>
          </p:cNvPr>
          <p:cNvSpPr txBox="1"/>
          <p:nvPr/>
        </p:nvSpPr>
        <p:spPr>
          <a:xfrm>
            <a:off x="6982472" y="4881006"/>
            <a:ext cx="5105402" cy="646331"/>
          </a:xfrm>
          <a:prstGeom prst="rect">
            <a:avLst/>
          </a:prstGeom>
          <a:noFill/>
        </p:spPr>
        <p:txBody>
          <a:bodyPr wrap="square" rtlCol="0">
            <a:spAutoFit/>
          </a:bodyPr>
          <a:lstStyle/>
          <a:p>
            <a:pPr algn="ctr"/>
            <a:r>
              <a:rPr lang="en-IN" dirty="0"/>
              <a:t>Doctor Workload Distribution</a:t>
            </a:r>
          </a:p>
          <a:p>
            <a:pPr algn="ctr"/>
            <a:r>
              <a:rPr lang="en-IN" dirty="0"/>
              <a:t>(Bar Chart)</a:t>
            </a:r>
          </a:p>
        </p:txBody>
      </p:sp>
      <p:cxnSp>
        <p:nvCxnSpPr>
          <p:cNvPr id="32" name="Straight Connector 31">
            <a:extLst>
              <a:ext uri="{FF2B5EF4-FFF2-40B4-BE49-F238E27FC236}">
                <a16:creationId xmlns:a16="http://schemas.microsoft.com/office/drawing/2014/main" id="{308D5C21-65E3-EF30-BBB5-6D5B466373D1}"/>
              </a:ext>
            </a:extLst>
          </p:cNvPr>
          <p:cNvCxnSpPr/>
          <p:nvPr/>
        </p:nvCxnSpPr>
        <p:spPr>
          <a:xfrm>
            <a:off x="6967217" y="1544320"/>
            <a:ext cx="0" cy="1762760"/>
          </a:xfrm>
          <a:prstGeom prst="line">
            <a:avLst/>
          </a:prstGeom>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E11B2081-5204-98DA-3A2F-4D7B3B5E44E0}"/>
              </a:ext>
            </a:extLst>
          </p:cNvPr>
          <p:cNvSpPr txBox="1"/>
          <p:nvPr/>
        </p:nvSpPr>
        <p:spPr>
          <a:xfrm>
            <a:off x="1884680" y="1564213"/>
            <a:ext cx="5069825" cy="646331"/>
          </a:xfrm>
          <a:prstGeom prst="rect">
            <a:avLst/>
          </a:prstGeom>
          <a:noFill/>
        </p:spPr>
        <p:txBody>
          <a:bodyPr wrap="square" rtlCol="0">
            <a:spAutoFit/>
          </a:bodyPr>
          <a:lstStyle/>
          <a:p>
            <a:pPr algn="ctr"/>
            <a:r>
              <a:rPr lang="en-IN" dirty="0"/>
              <a:t>Doctor-wise Patient Volume</a:t>
            </a:r>
          </a:p>
          <a:p>
            <a:pPr algn="ctr"/>
            <a:r>
              <a:rPr lang="en-IN" dirty="0"/>
              <a:t>(Bar Chart)</a:t>
            </a:r>
          </a:p>
        </p:txBody>
      </p:sp>
      <p:sp>
        <p:nvSpPr>
          <p:cNvPr id="34" name="TextBox 33">
            <a:extLst>
              <a:ext uri="{FF2B5EF4-FFF2-40B4-BE49-F238E27FC236}">
                <a16:creationId xmlns:a16="http://schemas.microsoft.com/office/drawing/2014/main" id="{2E748270-935F-DFC9-2AE9-1CBBB97CE90D}"/>
              </a:ext>
            </a:extLst>
          </p:cNvPr>
          <p:cNvSpPr txBox="1"/>
          <p:nvPr/>
        </p:nvSpPr>
        <p:spPr>
          <a:xfrm>
            <a:off x="6977390" y="1575563"/>
            <a:ext cx="5105402" cy="646331"/>
          </a:xfrm>
          <a:prstGeom prst="rect">
            <a:avLst/>
          </a:prstGeom>
          <a:noFill/>
        </p:spPr>
        <p:txBody>
          <a:bodyPr wrap="square" rtlCol="0">
            <a:spAutoFit/>
          </a:bodyPr>
          <a:lstStyle/>
          <a:p>
            <a:pPr algn="ctr"/>
            <a:r>
              <a:rPr lang="en-IN" dirty="0"/>
              <a:t>Doctor-wise Appointment Completion</a:t>
            </a:r>
          </a:p>
          <a:p>
            <a:pPr algn="ctr"/>
            <a:r>
              <a:rPr lang="en-IN" dirty="0"/>
              <a:t>(Column Chart)</a:t>
            </a:r>
          </a:p>
        </p:txBody>
      </p:sp>
      <p:pic>
        <p:nvPicPr>
          <p:cNvPr id="36" name="Picture 35">
            <a:extLst>
              <a:ext uri="{FF2B5EF4-FFF2-40B4-BE49-F238E27FC236}">
                <a16:creationId xmlns:a16="http://schemas.microsoft.com/office/drawing/2014/main" id="{EB8A0B81-CD74-E53A-4C2B-BB17418C9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78" y="132079"/>
            <a:ext cx="11950712" cy="6169719"/>
          </a:xfrm>
          <a:prstGeom prst="rect">
            <a:avLst/>
          </a:prstGeom>
        </p:spPr>
      </p:pic>
    </p:spTree>
    <p:extLst>
      <p:ext uri="{BB962C8B-B14F-4D97-AF65-F5344CB8AC3E}">
        <p14:creationId xmlns:p14="http://schemas.microsoft.com/office/powerpoint/2010/main" val="1197099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7300EA-A9A4-B270-4F1D-4A55AAE38731}"/>
              </a:ext>
            </a:extLst>
          </p:cNvPr>
          <p:cNvSpPr/>
          <p:nvPr/>
        </p:nvSpPr>
        <p:spPr>
          <a:xfrm>
            <a:off x="132080" y="132080"/>
            <a:ext cx="11938000" cy="61874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3" name="Straight Connector 2">
            <a:extLst>
              <a:ext uri="{FF2B5EF4-FFF2-40B4-BE49-F238E27FC236}">
                <a16:creationId xmlns:a16="http://schemas.microsoft.com/office/drawing/2014/main" id="{60BADDA7-E66B-6934-7759-F437A8C6FAD0}"/>
              </a:ext>
            </a:extLst>
          </p:cNvPr>
          <p:cNvCxnSpPr/>
          <p:nvPr/>
        </p:nvCxnSpPr>
        <p:spPr>
          <a:xfrm>
            <a:off x="127000" y="640080"/>
            <a:ext cx="11938000" cy="0"/>
          </a:xfrm>
          <a:prstGeom prst="line">
            <a:avLst/>
          </a:prstGeom>
        </p:spPr>
        <p:style>
          <a:lnRef idx="2">
            <a:schemeClr val="dk1"/>
          </a:lnRef>
          <a:fillRef idx="0">
            <a:schemeClr val="dk1"/>
          </a:fillRef>
          <a:effectRef idx="1">
            <a:schemeClr val="dk1"/>
          </a:effectRef>
          <a:fontRef idx="minor">
            <a:schemeClr val="tx1"/>
          </a:fontRef>
        </p:style>
      </p:cxnSp>
      <p:cxnSp>
        <p:nvCxnSpPr>
          <p:cNvPr id="4" name="Straight Connector 3">
            <a:extLst>
              <a:ext uri="{FF2B5EF4-FFF2-40B4-BE49-F238E27FC236}">
                <a16:creationId xmlns:a16="http://schemas.microsoft.com/office/drawing/2014/main" id="{13B51A46-504F-7356-4C21-4FF17E0238E4}"/>
              </a:ext>
            </a:extLst>
          </p:cNvPr>
          <p:cNvCxnSpPr/>
          <p:nvPr/>
        </p:nvCxnSpPr>
        <p:spPr>
          <a:xfrm>
            <a:off x="1879600" y="640080"/>
            <a:ext cx="0" cy="567944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9DE60BB9-AE45-A0A5-F6CB-E1DC7CE8BD00}"/>
              </a:ext>
            </a:extLst>
          </p:cNvPr>
          <p:cNvCxnSpPr>
            <a:cxnSpLocks/>
          </p:cNvCxnSpPr>
          <p:nvPr/>
        </p:nvCxnSpPr>
        <p:spPr>
          <a:xfrm>
            <a:off x="1879600" y="15544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6C9A79D3-A1A3-AE4D-504D-CAD318AC839E}"/>
              </a:ext>
            </a:extLst>
          </p:cNvPr>
          <p:cNvCxnSpPr/>
          <p:nvPr/>
        </p:nvCxnSpPr>
        <p:spPr>
          <a:xfrm>
            <a:off x="127000" y="187960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DAD7405-2393-1103-B9E6-DEC0B1758FAD}"/>
              </a:ext>
            </a:extLst>
          </p:cNvPr>
          <p:cNvCxnSpPr/>
          <p:nvPr/>
        </p:nvCxnSpPr>
        <p:spPr>
          <a:xfrm>
            <a:off x="127000" y="33172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7BB72C7-4C1F-2BB5-59B7-9A8EB3A250BB}"/>
              </a:ext>
            </a:extLst>
          </p:cNvPr>
          <p:cNvCxnSpPr/>
          <p:nvPr/>
        </p:nvCxnSpPr>
        <p:spPr>
          <a:xfrm>
            <a:off x="127000" y="4866640"/>
            <a:ext cx="1752600"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3CA069AA-842B-B82D-71D6-C53718F61FBF}"/>
              </a:ext>
            </a:extLst>
          </p:cNvPr>
          <p:cNvCxnSpPr/>
          <p:nvPr/>
        </p:nvCxnSpPr>
        <p:spPr>
          <a:xfrm>
            <a:off x="3556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D53028F7-FC3A-34E8-5966-BCB43AA73139}"/>
              </a:ext>
            </a:extLst>
          </p:cNvPr>
          <p:cNvCxnSpPr/>
          <p:nvPr/>
        </p:nvCxnSpPr>
        <p:spPr>
          <a:xfrm>
            <a:off x="510032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91FFFC5D-88FF-B0DB-718F-0BBD5DEE22F9}"/>
              </a:ext>
            </a:extLst>
          </p:cNvPr>
          <p:cNvCxnSpPr/>
          <p:nvPr/>
        </p:nvCxnSpPr>
        <p:spPr>
          <a:xfrm>
            <a:off x="68580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5F627520-3F8E-4800-D02A-721A8E298D01}"/>
              </a:ext>
            </a:extLst>
          </p:cNvPr>
          <p:cNvCxnSpPr/>
          <p:nvPr/>
        </p:nvCxnSpPr>
        <p:spPr>
          <a:xfrm>
            <a:off x="857504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EE1D843-78AE-4AFC-BF30-B013CC8A4545}"/>
              </a:ext>
            </a:extLst>
          </p:cNvPr>
          <p:cNvCxnSpPr/>
          <p:nvPr/>
        </p:nvCxnSpPr>
        <p:spPr>
          <a:xfrm>
            <a:off x="10363200" y="640080"/>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0FB70B5-C69D-BDFF-21EC-6A4BA4DAED2F}"/>
              </a:ext>
            </a:extLst>
          </p:cNvPr>
          <p:cNvCxnSpPr/>
          <p:nvPr/>
        </p:nvCxnSpPr>
        <p:spPr>
          <a:xfrm>
            <a:off x="1879600" y="3307080"/>
            <a:ext cx="101854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D51C7B8-3007-D443-490E-7859CD28D8FB}"/>
              </a:ext>
            </a:extLst>
          </p:cNvPr>
          <p:cNvCxnSpPr/>
          <p:nvPr/>
        </p:nvCxnSpPr>
        <p:spPr>
          <a:xfrm>
            <a:off x="6972300" y="3317240"/>
            <a:ext cx="0" cy="300228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627ED30-867E-AF4A-05E7-9D25AABB79D7}"/>
              </a:ext>
            </a:extLst>
          </p:cNvPr>
          <p:cNvCxnSpPr/>
          <p:nvPr/>
        </p:nvCxnSpPr>
        <p:spPr>
          <a:xfrm>
            <a:off x="1879600" y="4866640"/>
            <a:ext cx="10185400"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5F4D205A-B807-5DA4-3784-20CF0BCD6323}"/>
              </a:ext>
            </a:extLst>
          </p:cNvPr>
          <p:cNvSpPr txBox="1"/>
          <p:nvPr/>
        </p:nvSpPr>
        <p:spPr>
          <a:xfrm>
            <a:off x="127000" y="132080"/>
            <a:ext cx="11943080" cy="553998"/>
          </a:xfrm>
          <a:prstGeom prst="rect">
            <a:avLst/>
          </a:prstGeom>
          <a:noFill/>
        </p:spPr>
        <p:txBody>
          <a:bodyPr wrap="square" rtlCol="0">
            <a:spAutoFit/>
          </a:bodyPr>
          <a:lstStyle/>
          <a:p>
            <a:pPr algn="ctr"/>
            <a:r>
              <a:rPr lang="en-IN" sz="3000" b="1" dirty="0"/>
              <a:t>BILLING &amp; COLLECTIONS</a:t>
            </a:r>
          </a:p>
        </p:txBody>
      </p:sp>
      <p:sp>
        <p:nvSpPr>
          <p:cNvPr id="18" name="TextBox 17">
            <a:extLst>
              <a:ext uri="{FF2B5EF4-FFF2-40B4-BE49-F238E27FC236}">
                <a16:creationId xmlns:a16="http://schemas.microsoft.com/office/drawing/2014/main" id="{A77CD88C-4990-341D-A4B0-5E6042B6B374}"/>
              </a:ext>
            </a:extLst>
          </p:cNvPr>
          <p:cNvSpPr txBox="1"/>
          <p:nvPr/>
        </p:nvSpPr>
        <p:spPr>
          <a:xfrm>
            <a:off x="127000" y="640080"/>
            <a:ext cx="1747518" cy="615553"/>
          </a:xfrm>
          <a:prstGeom prst="rect">
            <a:avLst/>
          </a:prstGeom>
          <a:noFill/>
        </p:spPr>
        <p:txBody>
          <a:bodyPr wrap="square" rtlCol="0">
            <a:spAutoFit/>
          </a:bodyPr>
          <a:lstStyle/>
          <a:p>
            <a:r>
              <a:rPr lang="en-IN" sz="1700" dirty="0"/>
              <a:t>Date</a:t>
            </a:r>
          </a:p>
          <a:p>
            <a:r>
              <a:rPr lang="en-IN" sz="1700" dirty="0"/>
              <a:t>(slicer)</a:t>
            </a:r>
          </a:p>
        </p:txBody>
      </p:sp>
      <p:sp>
        <p:nvSpPr>
          <p:cNvPr id="19" name="TextBox 18">
            <a:extLst>
              <a:ext uri="{FF2B5EF4-FFF2-40B4-BE49-F238E27FC236}">
                <a16:creationId xmlns:a16="http://schemas.microsoft.com/office/drawing/2014/main" id="{485B7169-E440-9CA2-B77F-43DC94E25551}"/>
              </a:ext>
            </a:extLst>
          </p:cNvPr>
          <p:cNvSpPr txBox="1"/>
          <p:nvPr/>
        </p:nvSpPr>
        <p:spPr>
          <a:xfrm>
            <a:off x="121920" y="1881703"/>
            <a:ext cx="1747518" cy="877163"/>
          </a:xfrm>
          <a:prstGeom prst="rect">
            <a:avLst/>
          </a:prstGeom>
          <a:noFill/>
        </p:spPr>
        <p:txBody>
          <a:bodyPr wrap="square" rtlCol="0">
            <a:spAutoFit/>
          </a:bodyPr>
          <a:lstStyle/>
          <a:p>
            <a:r>
              <a:rPr lang="en-IN" sz="1700" dirty="0"/>
              <a:t>Payment Method</a:t>
            </a:r>
          </a:p>
          <a:p>
            <a:r>
              <a:rPr lang="en-IN" sz="1700" dirty="0"/>
              <a:t>(slicer)</a:t>
            </a:r>
          </a:p>
        </p:txBody>
      </p:sp>
      <p:sp>
        <p:nvSpPr>
          <p:cNvPr id="20" name="TextBox 19">
            <a:extLst>
              <a:ext uri="{FF2B5EF4-FFF2-40B4-BE49-F238E27FC236}">
                <a16:creationId xmlns:a16="http://schemas.microsoft.com/office/drawing/2014/main" id="{6B815B1B-79CA-E4CB-8BBC-E8A4584936F1}"/>
              </a:ext>
            </a:extLst>
          </p:cNvPr>
          <p:cNvSpPr txBox="1"/>
          <p:nvPr/>
        </p:nvSpPr>
        <p:spPr>
          <a:xfrm>
            <a:off x="129541" y="3321447"/>
            <a:ext cx="1747518" cy="615553"/>
          </a:xfrm>
          <a:prstGeom prst="rect">
            <a:avLst/>
          </a:prstGeom>
          <a:noFill/>
        </p:spPr>
        <p:txBody>
          <a:bodyPr wrap="square" rtlCol="0">
            <a:spAutoFit/>
          </a:bodyPr>
          <a:lstStyle/>
          <a:p>
            <a:r>
              <a:rPr lang="en-IN" sz="1700" dirty="0"/>
              <a:t>Bill type</a:t>
            </a:r>
          </a:p>
          <a:p>
            <a:r>
              <a:rPr lang="en-IN" sz="1700" dirty="0"/>
              <a:t>(slicer)</a:t>
            </a:r>
          </a:p>
        </p:txBody>
      </p:sp>
      <p:sp>
        <p:nvSpPr>
          <p:cNvPr id="21" name="TextBox 20">
            <a:extLst>
              <a:ext uri="{FF2B5EF4-FFF2-40B4-BE49-F238E27FC236}">
                <a16:creationId xmlns:a16="http://schemas.microsoft.com/office/drawing/2014/main" id="{5A4B16B2-72C2-1CAD-FFC7-9C7EC51AE58F}"/>
              </a:ext>
            </a:extLst>
          </p:cNvPr>
          <p:cNvSpPr txBox="1"/>
          <p:nvPr/>
        </p:nvSpPr>
        <p:spPr>
          <a:xfrm>
            <a:off x="129541" y="4881006"/>
            <a:ext cx="1747518" cy="615553"/>
          </a:xfrm>
          <a:prstGeom prst="rect">
            <a:avLst/>
          </a:prstGeom>
          <a:noFill/>
        </p:spPr>
        <p:txBody>
          <a:bodyPr wrap="square" rtlCol="0">
            <a:spAutoFit/>
          </a:bodyPr>
          <a:lstStyle/>
          <a:p>
            <a:r>
              <a:rPr lang="en-IN" sz="1700" dirty="0"/>
              <a:t>Payment Status</a:t>
            </a:r>
          </a:p>
          <a:p>
            <a:r>
              <a:rPr lang="en-IN" sz="1700" dirty="0"/>
              <a:t>(slicer)</a:t>
            </a:r>
          </a:p>
        </p:txBody>
      </p:sp>
      <p:sp>
        <p:nvSpPr>
          <p:cNvPr id="22" name="TextBox 21">
            <a:extLst>
              <a:ext uri="{FF2B5EF4-FFF2-40B4-BE49-F238E27FC236}">
                <a16:creationId xmlns:a16="http://schemas.microsoft.com/office/drawing/2014/main" id="{4E3EB349-45DD-1CC7-6A84-1628344DAF66}"/>
              </a:ext>
            </a:extLst>
          </p:cNvPr>
          <p:cNvSpPr txBox="1"/>
          <p:nvPr/>
        </p:nvSpPr>
        <p:spPr>
          <a:xfrm>
            <a:off x="1877059" y="640080"/>
            <a:ext cx="1673842" cy="492443"/>
          </a:xfrm>
          <a:prstGeom prst="rect">
            <a:avLst/>
          </a:prstGeom>
          <a:noFill/>
        </p:spPr>
        <p:txBody>
          <a:bodyPr wrap="square" rtlCol="0">
            <a:spAutoFit/>
          </a:bodyPr>
          <a:lstStyle/>
          <a:p>
            <a:r>
              <a:rPr lang="en-IN" sz="1300" dirty="0"/>
              <a:t>Total Billing Amount</a:t>
            </a:r>
          </a:p>
          <a:p>
            <a:r>
              <a:rPr lang="en-IN" sz="1300" dirty="0"/>
              <a:t>(KPIs)</a:t>
            </a:r>
          </a:p>
        </p:txBody>
      </p:sp>
      <p:sp>
        <p:nvSpPr>
          <p:cNvPr id="23" name="TextBox 22">
            <a:extLst>
              <a:ext uri="{FF2B5EF4-FFF2-40B4-BE49-F238E27FC236}">
                <a16:creationId xmlns:a16="http://schemas.microsoft.com/office/drawing/2014/main" id="{0757819F-4A9F-C94A-38BD-99D497ACC923}"/>
              </a:ext>
            </a:extLst>
          </p:cNvPr>
          <p:cNvSpPr txBox="1"/>
          <p:nvPr/>
        </p:nvSpPr>
        <p:spPr>
          <a:xfrm>
            <a:off x="3555981" y="640080"/>
            <a:ext cx="1673842" cy="692497"/>
          </a:xfrm>
          <a:prstGeom prst="rect">
            <a:avLst/>
          </a:prstGeom>
          <a:noFill/>
        </p:spPr>
        <p:txBody>
          <a:bodyPr wrap="square" rtlCol="0">
            <a:spAutoFit/>
          </a:bodyPr>
          <a:lstStyle/>
          <a:p>
            <a:r>
              <a:rPr lang="en-IN" sz="1300" dirty="0"/>
              <a:t>Total Amount Collected</a:t>
            </a:r>
          </a:p>
          <a:p>
            <a:r>
              <a:rPr lang="en-IN" sz="1300" dirty="0"/>
              <a:t>(KPIs)</a:t>
            </a:r>
          </a:p>
        </p:txBody>
      </p:sp>
      <p:sp>
        <p:nvSpPr>
          <p:cNvPr id="24" name="TextBox 23">
            <a:extLst>
              <a:ext uri="{FF2B5EF4-FFF2-40B4-BE49-F238E27FC236}">
                <a16:creationId xmlns:a16="http://schemas.microsoft.com/office/drawing/2014/main" id="{42A49D5F-6109-F035-CDFD-BB5F57A9E9EF}"/>
              </a:ext>
            </a:extLst>
          </p:cNvPr>
          <p:cNvSpPr txBox="1"/>
          <p:nvPr/>
        </p:nvSpPr>
        <p:spPr>
          <a:xfrm>
            <a:off x="5100320" y="663079"/>
            <a:ext cx="1673842" cy="692497"/>
          </a:xfrm>
          <a:prstGeom prst="rect">
            <a:avLst/>
          </a:prstGeom>
          <a:noFill/>
        </p:spPr>
        <p:txBody>
          <a:bodyPr wrap="square" rtlCol="0">
            <a:spAutoFit/>
          </a:bodyPr>
          <a:lstStyle/>
          <a:p>
            <a:r>
              <a:rPr lang="en-IN" sz="1300" dirty="0"/>
              <a:t>Outstanding Amount</a:t>
            </a:r>
          </a:p>
          <a:p>
            <a:r>
              <a:rPr lang="en-IN" sz="1300" dirty="0"/>
              <a:t>(KPIs)</a:t>
            </a:r>
          </a:p>
        </p:txBody>
      </p:sp>
      <p:sp>
        <p:nvSpPr>
          <p:cNvPr id="25" name="TextBox 24">
            <a:extLst>
              <a:ext uri="{FF2B5EF4-FFF2-40B4-BE49-F238E27FC236}">
                <a16:creationId xmlns:a16="http://schemas.microsoft.com/office/drawing/2014/main" id="{0DA66BB6-ED62-DA3C-1532-B9AE27802E82}"/>
              </a:ext>
            </a:extLst>
          </p:cNvPr>
          <p:cNvSpPr txBox="1"/>
          <p:nvPr/>
        </p:nvSpPr>
        <p:spPr>
          <a:xfrm>
            <a:off x="6860540" y="650240"/>
            <a:ext cx="1673842" cy="492443"/>
          </a:xfrm>
          <a:prstGeom prst="rect">
            <a:avLst/>
          </a:prstGeom>
          <a:noFill/>
        </p:spPr>
        <p:txBody>
          <a:bodyPr wrap="square" rtlCol="0">
            <a:spAutoFit/>
          </a:bodyPr>
          <a:lstStyle/>
          <a:p>
            <a:r>
              <a:rPr lang="en-IN" sz="1300" dirty="0"/>
              <a:t>Collection Rate%</a:t>
            </a:r>
          </a:p>
          <a:p>
            <a:r>
              <a:rPr lang="en-IN" sz="1300" dirty="0"/>
              <a:t>(KPIs)</a:t>
            </a:r>
          </a:p>
        </p:txBody>
      </p:sp>
      <p:sp>
        <p:nvSpPr>
          <p:cNvPr id="26" name="TextBox 25">
            <a:extLst>
              <a:ext uri="{FF2B5EF4-FFF2-40B4-BE49-F238E27FC236}">
                <a16:creationId xmlns:a16="http://schemas.microsoft.com/office/drawing/2014/main" id="{1B7AA3B0-CEB1-F075-FF1F-4F24D63C19F6}"/>
              </a:ext>
            </a:extLst>
          </p:cNvPr>
          <p:cNvSpPr txBox="1"/>
          <p:nvPr/>
        </p:nvSpPr>
        <p:spPr>
          <a:xfrm>
            <a:off x="8591559" y="627835"/>
            <a:ext cx="1673842" cy="492443"/>
          </a:xfrm>
          <a:prstGeom prst="rect">
            <a:avLst/>
          </a:prstGeom>
          <a:noFill/>
        </p:spPr>
        <p:txBody>
          <a:bodyPr wrap="square" rtlCol="0">
            <a:spAutoFit/>
          </a:bodyPr>
          <a:lstStyle/>
          <a:p>
            <a:r>
              <a:rPr lang="en-IN" sz="1300" dirty="0"/>
              <a:t>Average Bill Amount</a:t>
            </a:r>
          </a:p>
          <a:p>
            <a:r>
              <a:rPr lang="en-IN" sz="1300" dirty="0"/>
              <a:t>(KPIs)</a:t>
            </a:r>
          </a:p>
        </p:txBody>
      </p:sp>
      <p:sp>
        <p:nvSpPr>
          <p:cNvPr id="27" name="TextBox 26">
            <a:extLst>
              <a:ext uri="{FF2B5EF4-FFF2-40B4-BE49-F238E27FC236}">
                <a16:creationId xmlns:a16="http://schemas.microsoft.com/office/drawing/2014/main" id="{590CA08C-65CA-B6D1-CC95-7A4CB602F566}"/>
              </a:ext>
            </a:extLst>
          </p:cNvPr>
          <p:cNvSpPr txBox="1"/>
          <p:nvPr/>
        </p:nvSpPr>
        <p:spPr>
          <a:xfrm>
            <a:off x="10358120" y="640080"/>
            <a:ext cx="1673842" cy="492443"/>
          </a:xfrm>
          <a:prstGeom prst="rect">
            <a:avLst/>
          </a:prstGeom>
          <a:noFill/>
        </p:spPr>
        <p:txBody>
          <a:bodyPr wrap="square" rtlCol="0">
            <a:spAutoFit/>
          </a:bodyPr>
          <a:lstStyle/>
          <a:p>
            <a:r>
              <a:rPr lang="en-IN" sz="1300" dirty="0"/>
              <a:t>Total Transactions</a:t>
            </a:r>
          </a:p>
          <a:p>
            <a:r>
              <a:rPr lang="en-IN" sz="1300" dirty="0"/>
              <a:t>(KPIs)</a:t>
            </a:r>
          </a:p>
        </p:txBody>
      </p:sp>
      <p:sp>
        <p:nvSpPr>
          <p:cNvPr id="28" name="TextBox 27">
            <a:extLst>
              <a:ext uri="{FF2B5EF4-FFF2-40B4-BE49-F238E27FC236}">
                <a16:creationId xmlns:a16="http://schemas.microsoft.com/office/drawing/2014/main" id="{25CF08CC-2834-EC80-92A2-8B4B135B9C8B}"/>
              </a:ext>
            </a:extLst>
          </p:cNvPr>
          <p:cNvSpPr txBox="1"/>
          <p:nvPr/>
        </p:nvSpPr>
        <p:spPr>
          <a:xfrm>
            <a:off x="1877059" y="3312160"/>
            <a:ext cx="5105402" cy="646331"/>
          </a:xfrm>
          <a:prstGeom prst="rect">
            <a:avLst/>
          </a:prstGeom>
          <a:noFill/>
        </p:spPr>
        <p:txBody>
          <a:bodyPr wrap="square" rtlCol="0">
            <a:spAutoFit/>
          </a:bodyPr>
          <a:lstStyle/>
          <a:p>
            <a:pPr algn="ctr"/>
            <a:r>
              <a:rPr lang="en-IN" dirty="0"/>
              <a:t>Revenue by Department</a:t>
            </a:r>
          </a:p>
          <a:p>
            <a:pPr algn="ctr"/>
            <a:r>
              <a:rPr lang="en-IN" dirty="0"/>
              <a:t>(Bar Chart)</a:t>
            </a:r>
          </a:p>
        </p:txBody>
      </p:sp>
      <p:sp>
        <p:nvSpPr>
          <p:cNvPr id="29" name="TextBox 28">
            <a:extLst>
              <a:ext uri="{FF2B5EF4-FFF2-40B4-BE49-F238E27FC236}">
                <a16:creationId xmlns:a16="http://schemas.microsoft.com/office/drawing/2014/main" id="{6C6B2736-51AB-5D8E-768A-92025BBE9B68}"/>
              </a:ext>
            </a:extLst>
          </p:cNvPr>
          <p:cNvSpPr txBox="1"/>
          <p:nvPr/>
        </p:nvSpPr>
        <p:spPr>
          <a:xfrm>
            <a:off x="6967217" y="3321447"/>
            <a:ext cx="5105402" cy="646331"/>
          </a:xfrm>
          <a:prstGeom prst="rect">
            <a:avLst/>
          </a:prstGeom>
          <a:noFill/>
        </p:spPr>
        <p:txBody>
          <a:bodyPr wrap="square" rtlCol="0">
            <a:spAutoFit/>
          </a:bodyPr>
          <a:lstStyle/>
          <a:p>
            <a:pPr algn="ctr"/>
            <a:r>
              <a:rPr lang="en-IN" dirty="0"/>
              <a:t>Revenue by Payment Method</a:t>
            </a:r>
          </a:p>
          <a:p>
            <a:pPr algn="ctr"/>
            <a:r>
              <a:rPr lang="en-IN" dirty="0"/>
              <a:t> (Donut Chart)</a:t>
            </a:r>
          </a:p>
        </p:txBody>
      </p:sp>
      <p:sp>
        <p:nvSpPr>
          <p:cNvPr id="30" name="TextBox 29">
            <a:extLst>
              <a:ext uri="{FF2B5EF4-FFF2-40B4-BE49-F238E27FC236}">
                <a16:creationId xmlns:a16="http://schemas.microsoft.com/office/drawing/2014/main" id="{1F22C8E3-473A-3F84-4873-E66CFC7100C8}"/>
              </a:ext>
            </a:extLst>
          </p:cNvPr>
          <p:cNvSpPr txBox="1"/>
          <p:nvPr/>
        </p:nvSpPr>
        <p:spPr>
          <a:xfrm>
            <a:off x="1889760" y="4866640"/>
            <a:ext cx="5064746" cy="646331"/>
          </a:xfrm>
          <a:prstGeom prst="rect">
            <a:avLst/>
          </a:prstGeom>
          <a:noFill/>
        </p:spPr>
        <p:txBody>
          <a:bodyPr wrap="square" rtlCol="0">
            <a:spAutoFit/>
          </a:bodyPr>
          <a:lstStyle/>
          <a:p>
            <a:pPr algn="ctr"/>
            <a:r>
              <a:rPr lang="en-IN" dirty="0"/>
              <a:t>Outstanding Amount by Department</a:t>
            </a:r>
          </a:p>
          <a:p>
            <a:pPr algn="ctr"/>
            <a:r>
              <a:rPr lang="en-IN" dirty="0"/>
              <a:t> (Bar Chart)</a:t>
            </a:r>
          </a:p>
        </p:txBody>
      </p:sp>
      <p:sp>
        <p:nvSpPr>
          <p:cNvPr id="31" name="TextBox 30">
            <a:extLst>
              <a:ext uri="{FF2B5EF4-FFF2-40B4-BE49-F238E27FC236}">
                <a16:creationId xmlns:a16="http://schemas.microsoft.com/office/drawing/2014/main" id="{35BE3A4E-5A1A-07E4-5C39-DD459987E567}"/>
              </a:ext>
            </a:extLst>
          </p:cNvPr>
          <p:cNvSpPr txBox="1"/>
          <p:nvPr/>
        </p:nvSpPr>
        <p:spPr>
          <a:xfrm>
            <a:off x="6982472" y="4881006"/>
            <a:ext cx="5105402" cy="646331"/>
          </a:xfrm>
          <a:prstGeom prst="rect">
            <a:avLst/>
          </a:prstGeom>
          <a:noFill/>
        </p:spPr>
        <p:txBody>
          <a:bodyPr wrap="square" rtlCol="0">
            <a:spAutoFit/>
          </a:bodyPr>
          <a:lstStyle/>
          <a:p>
            <a:pPr algn="ctr"/>
            <a:r>
              <a:rPr lang="en-IN" dirty="0"/>
              <a:t>Billing vs Collection Analysis</a:t>
            </a:r>
          </a:p>
          <a:p>
            <a:pPr algn="ctr"/>
            <a:r>
              <a:rPr lang="en-IN" dirty="0"/>
              <a:t>(Scatter Plot)</a:t>
            </a:r>
          </a:p>
        </p:txBody>
      </p:sp>
      <p:cxnSp>
        <p:nvCxnSpPr>
          <p:cNvPr id="32" name="Straight Connector 31">
            <a:extLst>
              <a:ext uri="{FF2B5EF4-FFF2-40B4-BE49-F238E27FC236}">
                <a16:creationId xmlns:a16="http://schemas.microsoft.com/office/drawing/2014/main" id="{CE8F91AA-2DDE-11DB-D7B4-6F698BAACCBC}"/>
              </a:ext>
            </a:extLst>
          </p:cNvPr>
          <p:cNvCxnSpPr/>
          <p:nvPr/>
        </p:nvCxnSpPr>
        <p:spPr>
          <a:xfrm>
            <a:off x="6967217" y="1544320"/>
            <a:ext cx="0" cy="1762760"/>
          </a:xfrm>
          <a:prstGeom prst="line">
            <a:avLst/>
          </a:prstGeom>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3B180FB7-A99E-DF63-FBDF-D496A207617E}"/>
              </a:ext>
            </a:extLst>
          </p:cNvPr>
          <p:cNvSpPr txBox="1"/>
          <p:nvPr/>
        </p:nvSpPr>
        <p:spPr>
          <a:xfrm>
            <a:off x="1884680" y="1564213"/>
            <a:ext cx="5069825" cy="646331"/>
          </a:xfrm>
          <a:prstGeom prst="rect">
            <a:avLst/>
          </a:prstGeom>
          <a:noFill/>
        </p:spPr>
        <p:txBody>
          <a:bodyPr wrap="square" rtlCol="0">
            <a:spAutoFit/>
          </a:bodyPr>
          <a:lstStyle/>
          <a:p>
            <a:pPr algn="ctr"/>
            <a:r>
              <a:rPr lang="en-IN" dirty="0"/>
              <a:t>Monthly Billing &amp; Collection Trend</a:t>
            </a:r>
          </a:p>
          <a:p>
            <a:pPr algn="ctr"/>
            <a:r>
              <a:rPr lang="en-IN" dirty="0"/>
              <a:t>(Line Chart)</a:t>
            </a:r>
          </a:p>
        </p:txBody>
      </p:sp>
      <p:sp>
        <p:nvSpPr>
          <p:cNvPr id="34" name="TextBox 33">
            <a:extLst>
              <a:ext uri="{FF2B5EF4-FFF2-40B4-BE49-F238E27FC236}">
                <a16:creationId xmlns:a16="http://schemas.microsoft.com/office/drawing/2014/main" id="{FE1B8530-4EA2-D791-36D8-4EEF6056CFDC}"/>
              </a:ext>
            </a:extLst>
          </p:cNvPr>
          <p:cNvSpPr txBox="1"/>
          <p:nvPr/>
        </p:nvSpPr>
        <p:spPr>
          <a:xfrm>
            <a:off x="6977390" y="1575563"/>
            <a:ext cx="5105402" cy="646331"/>
          </a:xfrm>
          <a:prstGeom prst="rect">
            <a:avLst/>
          </a:prstGeom>
          <a:noFill/>
        </p:spPr>
        <p:txBody>
          <a:bodyPr wrap="square" rtlCol="0">
            <a:spAutoFit/>
          </a:bodyPr>
          <a:lstStyle/>
          <a:p>
            <a:pPr algn="ctr"/>
            <a:r>
              <a:rPr lang="en-IN" dirty="0"/>
              <a:t>Payment Status Distribution</a:t>
            </a:r>
          </a:p>
          <a:p>
            <a:pPr algn="ctr"/>
            <a:r>
              <a:rPr lang="en-IN" dirty="0"/>
              <a:t>(Donut Chart)</a:t>
            </a:r>
          </a:p>
        </p:txBody>
      </p:sp>
      <p:pic>
        <p:nvPicPr>
          <p:cNvPr id="36" name="Picture 35">
            <a:extLst>
              <a:ext uri="{FF2B5EF4-FFF2-40B4-BE49-F238E27FC236}">
                <a16:creationId xmlns:a16="http://schemas.microsoft.com/office/drawing/2014/main" id="{6DAB9746-7E74-3EC6-6FD9-B09E79A8C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458" y="132079"/>
            <a:ext cx="11907503" cy="6187440"/>
          </a:xfrm>
          <a:prstGeom prst="rect">
            <a:avLst/>
          </a:prstGeom>
        </p:spPr>
      </p:pic>
    </p:spTree>
    <p:extLst>
      <p:ext uri="{BB962C8B-B14F-4D97-AF65-F5344CB8AC3E}">
        <p14:creationId xmlns:p14="http://schemas.microsoft.com/office/powerpoint/2010/main" val="937970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rain in head with solid fill">
            <a:extLst>
              <a:ext uri="{FF2B5EF4-FFF2-40B4-BE49-F238E27FC236}">
                <a16:creationId xmlns:a16="http://schemas.microsoft.com/office/drawing/2014/main" id="{B8747AE5-37C7-C2D9-CF5E-E29EFE00C5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5" name="TextBox 4">
            <a:extLst>
              <a:ext uri="{FF2B5EF4-FFF2-40B4-BE49-F238E27FC236}">
                <a16:creationId xmlns:a16="http://schemas.microsoft.com/office/drawing/2014/main" id="{08ECC0BB-A2E1-F403-6B32-5E9BC0FA6279}"/>
              </a:ext>
            </a:extLst>
          </p:cNvPr>
          <p:cNvSpPr txBox="1"/>
          <p:nvPr/>
        </p:nvSpPr>
        <p:spPr>
          <a:xfrm>
            <a:off x="1054100" y="553581"/>
            <a:ext cx="4927600" cy="553998"/>
          </a:xfrm>
          <a:prstGeom prst="rect">
            <a:avLst/>
          </a:prstGeom>
          <a:noFill/>
        </p:spPr>
        <p:txBody>
          <a:bodyPr wrap="square" rtlCol="0">
            <a:spAutoFit/>
          </a:bodyPr>
          <a:lstStyle/>
          <a:p>
            <a:r>
              <a:rPr lang="en-IN" sz="3000" b="1" dirty="0"/>
              <a:t>WEB APPLICATION</a:t>
            </a:r>
          </a:p>
        </p:txBody>
      </p:sp>
      <p:sp>
        <p:nvSpPr>
          <p:cNvPr id="7" name="TextBox 6">
            <a:extLst>
              <a:ext uri="{FF2B5EF4-FFF2-40B4-BE49-F238E27FC236}">
                <a16:creationId xmlns:a16="http://schemas.microsoft.com/office/drawing/2014/main" id="{980373B8-E03A-90A0-892D-3637660DE5F0}"/>
              </a:ext>
            </a:extLst>
          </p:cNvPr>
          <p:cNvSpPr txBox="1"/>
          <p:nvPr/>
        </p:nvSpPr>
        <p:spPr>
          <a:xfrm>
            <a:off x="711200" y="1345982"/>
            <a:ext cx="10972800" cy="3754874"/>
          </a:xfrm>
          <a:prstGeom prst="rect">
            <a:avLst/>
          </a:prstGeom>
          <a:noFill/>
        </p:spPr>
        <p:txBody>
          <a:bodyPr wrap="square">
            <a:spAutoFit/>
          </a:bodyPr>
          <a:lstStyle/>
          <a:p>
            <a:pPr marL="342900" lvl="0" indent="-342900">
              <a:buFont typeface="Arial" panose="020B0604020202020204" pitchFamily="34" charset="0"/>
              <a:buChar char="•"/>
            </a:pPr>
            <a:r>
              <a:rPr lang="en-IN" sz="1700" dirty="0"/>
              <a:t>Developed an interactive </a:t>
            </a:r>
            <a:r>
              <a:rPr lang="en-IN" sz="1700" dirty="0" err="1"/>
              <a:t>Streamlit</a:t>
            </a:r>
            <a:r>
              <a:rPr lang="en-IN" sz="1700" dirty="0"/>
              <a:t> healthcare analytics web application integrating patient, appointment, doctor, treatment, and billing data.</a:t>
            </a:r>
          </a:p>
          <a:p>
            <a:pPr lvl="0"/>
            <a:r>
              <a:rPr lang="en-IN" sz="1700" dirty="0"/>
              <a:t> </a:t>
            </a:r>
          </a:p>
          <a:p>
            <a:pPr marL="342900" lvl="0" indent="-342900">
              <a:buFont typeface="Arial" panose="020B0604020202020204" pitchFamily="34" charset="0"/>
              <a:buChar char="•"/>
            </a:pPr>
            <a:r>
              <a:rPr lang="en-IN" sz="1700" dirty="0"/>
              <a:t>Created interactive KPIs and </a:t>
            </a:r>
            <a:r>
              <a:rPr lang="en-IN" sz="1700" dirty="0" err="1"/>
              <a:t>Plotly</a:t>
            </a:r>
            <a:r>
              <a:rPr lang="en-IN" sz="1700" dirty="0"/>
              <a:t> visualizations for patient volume, appointments, treatments, revenue, collections, and outstanding amounts. </a:t>
            </a:r>
          </a:p>
          <a:p>
            <a:pPr lvl="0"/>
            <a:endParaRPr lang="en-IN" sz="1700" dirty="0"/>
          </a:p>
          <a:p>
            <a:pPr marL="342900" lvl="0" indent="-342900">
              <a:buFont typeface="Arial" panose="020B0604020202020204" pitchFamily="34" charset="0"/>
              <a:buChar char="•"/>
            </a:pPr>
            <a:r>
              <a:rPr lang="en-IN" sz="1700" dirty="0"/>
              <a:t>Built a machine learning module for appointment no-show prediction using Python and Scikit-learn. </a:t>
            </a:r>
          </a:p>
          <a:p>
            <a:pPr lvl="0"/>
            <a:endParaRPr lang="en-IN" sz="1700" dirty="0"/>
          </a:p>
          <a:p>
            <a:pPr marL="342900" lvl="0" indent="-342900">
              <a:buFont typeface="Arial" panose="020B0604020202020204" pitchFamily="34" charset="0"/>
              <a:buChar char="•"/>
            </a:pPr>
            <a:r>
              <a:rPr lang="en-IN" sz="1700" dirty="0"/>
              <a:t>Provided actionable business insights and recommendations to improve appointment utilization, reduce no-shows, monitor doctor workload, and improve billing collections.</a:t>
            </a:r>
          </a:p>
          <a:p>
            <a:pPr lvl="0"/>
            <a:endParaRPr lang="en-IN" sz="1700" dirty="0">
              <a:solidFill>
                <a:schemeClr val="tx1">
                  <a:lumMod val="95000"/>
                </a:schemeClr>
              </a:solidFill>
            </a:endParaRPr>
          </a:p>
          <a:p>
            <a:pPr marL="342900" lvl="0" indent="-342900">
              <a:buFont typeface="Arial" panose="020B0604020202020204" pitchFamily="34" charset="0"/>
              <a:buChar char="•"/>
            </a:pPr>
            <a:r>
              <a:rPr lang="en-IN" sz="1700" dirty="0">
                <a:solidFill>
                  <a:schemeClr val="tx1">
                    <a:lumMod val="95000"/>
                  </a:schemeClr>
                </a:solidFill>
              </a:rPr>
              <a:t>WEB APP LINK: </a:t>
            </a:r>
            <a:r>
              <a:rPr lang="en-IN" sz="1700" dirty="0">
                <a:solidFill>
                  <a:srgbClr val="92D050"/>
                </a:solidFill>
                <a:hlinkClick r:id="rId3">
                  <a:extLst>
                    <a:ext uri="{A12FA001-AC4F-418D-AE19-62706E023703}">
                      <ahyp:hlinkClr xmlns:ahyp="http://schemas.microsoft.com/office/drawing/2018/hyperlinkcolor" val="tx"/>
                    </a:ext>
                  </a:extLst>
                </a:hlinkClick>
              </a:rPr>
              <a:t>https://healthcare-management-system-7474658118016042.aws.databricksapps.com</a:t>
            </a:r>
            <a:endParaRPr lang="en-IN" sz="1700" dirty="0">
              <a:solidFill>
                <a:srgbClr val="92D050"/>
              </a:solidFill>
            </a:endParaRPr>
          </a:p>
          <a:p>
            <a:pPr marL="342900" lvl="0" indent="-342900">
              <a:buFont typeface="Arial" panose="020B0604020202020204" pitchFamily="34" charset="0"/>
              <a:buChar char="•"/>
            </a:pPr>
            <a:endParaRPr lang="en-IN" sz="1700" dirty="0">
              <a:solidFill>
                <a:srgbClr val="92D050"/>
              </a:solidFill>
            </a:endParaRPr>
          </a:p>
          <a:p>
            <a:pPr marL="342900" lvl="0" indent="-342900">
              <a:buFont typeface="Arial" panose="020B0604020202020204" pitchFamily="34" charset="0"/>
              <a:buChar char="•"/>
            </a:pPr>
            <a:r>
              <a:rPr lang="en-IN" sz="1700" dirty="0">
                <a:solidFill>
                  <a:schemeClr val="tx1">
                    <a:lumMod val="95000"/>
                  </a:schemeClr>
                </a:solidFill>
              </a:rPr>
              <a:t>GITHUB: </a:t>
            </a:r>
            <a:r>
              <a:rPr lang="en-IN" sz="1700" dirty="0">
                <a:solidFill>
                  <a:srgbClr val="92D050"/>
                </a:solidFill>
                <a:hlinkClick r:id="rId4">
                  <a:extLst>
                    <a:ext uri="{A12FA001-AC4F-418D-AE19-62706E023703}">
                      <ahyp:hlinkClr xmlns:ahyp="http://schemas.microsoft.com/office/drawing/2018/hyperlinkcolor" val="tx"/>
                    </a:ext>
                  </a:extLst>
                </a:hlinkClick>
              </a:rPr>
              <a:t>https://github.com/harshcodeer/Healthcare-Management-System</a:t>
            </a:r>
            <a:endParaRPr lang="en-IN" sz="1700" dirty="0">
              <a:solidFill>
                <a:srgbClr val="92D050"/>
              </a:solidFill>
            </a:endParaRPr>
          </a:p>
        </p:txBody>
      </p:sp>
    </p:spTree>
    <p:extLst>
      <p:ext uri="{BB962C8B-B14F-4D97-AF65-F5344CB8AC3E}">
        <p14:creationId xmlns:p14="http://schemas.microsoft.com/office/powerpoint/2010/main" val="2899762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rain in head with solid fill">
            <a:extLst>
              <a:ext uri="{FF2B5EF4-FFF2-40B4-BE49-F238E27FC236}">
                <a16:creationId xmlns:a16="http://schemas.microsoft.com/office/drawing/2014/main" id="{648F35D5-A1FE-E705-97A4-C125F75335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5" name="TextBox 4">
            <a:extLst>
              <a:ext uri="{FF2B5EF4-FFF2-40B4-BE49-F238E27FC236}">
                <a16:creationId xmlns:a16="http://schemas.microsoft.com/office/drawing/2014/main" id="{5D389AE9-93AA-D8C8-83F7-EB45598ABE05}"/>
              </a:ext>
            </a:extLst>
          </p:cNvPr>
          <p:cNvSpPr txBox="1"/>
          <p:nvPr/>
        </p:nvSpPr>
        <p:spPr>
          <a:xfrm>
            <a:off x="1054100" y="553581"/>
            <a:ext cx="4927600" cy="553998"/>
          </a:xfrm>
          <a:prstGeom prst="rect">
            <a:avLst/>
          </a:prstGeom>
          <a:noFill/>
        </p:spPr>
        <p:txBody>
          <a:bodyPr wrap="square" rtlCol="0">
            <a:spAutoFit/>
          </a:bodyPr>
          <a:lstStyle/>
          <a:p>
            <a:r>
              <a:rPr lang="en-IN" sz="3000" b="1" dirty="0"/>
              <a:t>INSIGHTS</a:t>
            </a:r>
          </a:p>
        </p:txBody>
      </p:sp>
      <p:sp>
        <p:nvSpPr>
          <p:cNvPr id="7" name="TextBox 6">
            <a:extLst>
              <a:ext uri="{FF2B5EF4-FFF2-40B4-BE49-F238E27FC236}">
                <a16:creationId xmlns:a16="http://schemas.microsoft.com/office/drawing/2014/main" id="{4275F408-D9CA-D20C-72B9-1998F6C66973}"/>
              </a:ext>
            </a:extLst>
          </p:cNvPr>
          <p:cNvSpPr txBox="1"/>
          <p:nvPr/>
        </p:nvSpPr>
        <p:spPr>
          <a:xfrm>
            <a:off x="589280" y="1274306"/>
            <a:ext cx="11267440" cy="4278094"/>
          </a:xfrm>
          <a:prstGeom prst="rect">
            <a:avLst/>
          </a:prstGeom>
          <a:noFill/>
        </p:spPr>
        <p:txBody>
          <a:bodyPr wrap="square">
            <a:spAutoFit/>
          </a:bodyPr>
          <a:lstStyle/>
          <a:p>
            <a:pPr marL="342900" lvl="0" indent="-342900">
              <a:buFont typeface="Arial" panose="020B0604020202020204" pitchFamily="34" charset="0"/>
              <a:buChar char="•"/>
            </a:pPr>
            <a:r>
              <a:rPr lang="en-IN" sz="1700" b="1" dirty="0"/>
              <a:t>Appointment Performance:</a:t>
            </a:r>
            <a:r>
              <a:rPr lang="en-IN" sz="1700" dirty="0"/>
              <a:t> Analysis of appointment statuses — Scheduled, Completed, Cancelled, and No-show — helps identify appointment utilization and attendance patterns. </a:t>
            </a:r>
          </a:p>
          <a:p>
            <a:pPr marL="285750" lvl="0" indent="-28575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No-Show Risk:</a:t>
            </a:r>
            <a:r>
              <a:rPr lang="en-IN" sz="1700" dirty="0"/>
              <a:t> The predictive analysis shows that historical patient and appointment information can be used to identify patients who may be more likely to miss scheduled appointments, supporting proactive reminder strategies. </a:t>
            </a:r>
          </a:p>
          <a:p>
            <a:pPr marL="285750" lvl="0" indent="-28575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Doctor &amp; Specialization Workload:</a:t>
            </a:r>
            <a:r>
              <a:rPr lang="en-IN" sz="1700" dirty="0"/>
              <a:t> Doctor-wise and specialization-wise appointment and treatment analysis helps identify variations in patient demand and workload distribution across healthcare providers. </a:t>
            </a:r>
          </a:p>
          <a:p>
            <a:pPr marL="285750" lvl="0" indent="-28575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Treatment &amp; Revenue Patterns:</a:t>
            </a:r>
            <a:r>
              <a:rPr lang="en-IN" sz="1700" dirty="0"/>
              <a:t> Linking treatments with billing data provides visibility into treatment volumes, treatment costs, revenue generation, and financial activity across specializations. </a:t>
            </a:r>
          </a:p>
          <a:p>
            <a:pPr marL="285750" lvl="0" indent="-28575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Operational &amp; Financial Monitoring:</a:t>
            </a:r>
            <a:r>
              <a:rPr lang="en-IN" sz="1700" dirty="0"/>
              <a:t> Combining appointment, treatment, patient, and billing analytics in interactive dashboards gives management a centralized view for monitoring patient activity, operational performance, and financial collections and supports data-driven planning. </a:t>
            </a:r>
          </a:p>
        </p:txBody>
      </p:sp>
    </p:spTree>
    <p:extLst>
      <p:ext uri="{BB962C8B-B14F-4D97-AF65-F5344CB8AC3E}">
        <p14:creationId xmlns:p14="http://schemas.microsoft.com/office/powerpoint/2010/main" val="4136409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rain in head with solid fill">
            <a:extLst>
              <a:ext uri="{FF2B5EF4-FFF2-40B4-BE49-F238E27FC236}">
                <a16:creationId xmlns:a16="http://schemas.microsoft.com/office/drawing/2014/main" id="{E7B6BEEF-A6DE-6EE0-FCD2-F0F225123D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420" y="523240"/>
            <a:ext cx="614680" cy="614680"/>
          </a:xfrm>
          <a:prstGeom prst="rect">
            <a:avLst/>
          </a:prstGeom>
        </p:spPr>
      </p:pic>
      <p:sp>
        <p:nvSpPr>
          <p:cNvPr id="5" name="TextBox 4">
            <a:extLst>
              <a:ext uri="{FF2B5EF4-FFF2-40B4-BE49-F238E27FC236}">
                <a16:creationId xmlns:a16="http://schemas.microsoft.com/office/drawing/2014/main" id="{9990CAA9-6C55-CBED-5EF0-DB5E4E61F02A}"/>
              </a:ext>
            </a:extLst>
          </p:cNvPr>
          <p:cNvSpPr txBox="1"/>
          <p:nvPr/>
        </p:nvSpPr>
        <p:spPr>
          <a:xfrm>
            <a:off x="1054100" y="553581"/>
            <a:ext cx="6383020" cy="553998"/>
          </a:xfrm>
          <a:prstGeom prst="rect">
            <a:avLst/>
          </a:prstGeom>
          <a:noFill/>
        </p:spPr>
        <p:txBody>
          <a:bodyPr wrap="square" rtlCol="0">
            <a:spAutoFit/>
          </a:bodyPr>
          <a:lstStyle/>
          <a:p>
            <a:r>
              <a:rPr lang="en-IN" sz="3000" b="1" dirty="0"/>
              <a:t>BUSINESS RECOMMENDATIONS</a:t>
            </a:r>
          </a:p>
        </p:txBody>
      </p:sp>
      <p:sp>
        <p:nvSpPr>
          <p:cNvPr id="7" name="TextBox 6">
            <a:extLst>
              <a:ext uri="{FF2B5EF4-FFF2-40B4-BE49-F238E27FC236}">
                <a16:creationId xmlns:a16="http://schemas.microsoft.com/office/drawing/2014/main" id="{3070F8B7-4CEB-3EFB-12CA-24F626A771EB}"/>
              </a:ext>
            </a:extLst>
          </p:cNvPr>
          <p:cNvSpPr txBox="1"/>
          <p:nvPr/>
        </p:nvSpPr>
        <p:spPr>
          <a:xfrm>
            <a:off x="652780" y="1394053"/>
            <a:ext cx="11193780" cy="4278094"/>
          </a:xfrm>
          <a:prstGeom prst="rect">
            <a:avLst/>
          </a:prstGeom>
          <a:noFill/>
        </p:spPr>
        <p:txBody>
          <a:bodyPr wrap="square">
            <a:spAutoFit/>
          </a:bodyPr>
          <a:lstStyle/>
          <a:p>
            <a:pPr marL="342900" lvl="0" indent="-342900">
              <a:buFont typeface="Arial" panose="020B0604020202020204" pitchFamily="34" charset="0"/>
              <a:buChar char="•"/>
            </a:pPr>
            <a:r>
              <a:rPr lang="en-IN" sz="1700" b="1" dirty="0"/>
              <a:t>Reduce Appointment No-Shows</a:t>
            </a:r>
            <a:r>
              <a:rPr lang="en-IN" sz="1700" dirty="0"/>
              <a:t> </a:t>
            </a:r>
          </a:p>
          <a:p>
            <a:pPr marL="742950" lvl="1" indent="-285750">
              <a:buFont typeface="Arial" panose="020B0604020202020204" pitchFamily="34" charset="0"/>
              <a:buChar char="•"/>
            </a:pPr>
            <a:r>
              <a:rPr lang="en-IN" sz="1700" dirty="0"/>
              <a:t>Use the no-show prediction model to identify potentially high-risk appointments. </a:t>
            </a:r>
          </a:p>
          <a:p>
            <a:pPr marL="742950" lvl="1" indent="-285750">
              <a:buFont typeface="Arial" panose="020B0604020202020204" pitchFamily="34" charset="0"/>
              <a:buChar char="•"/>
            </a:pPr>
            <a:r>
              <a:rPr lang="en-IN" sz="1700" dirty="0"/>
              <a:t>Send automated SMS/email reminders before scheduled appointments. </a:t>
            </a:r>
          </a:p>
          <a:p>
            <a:pPr marL="742950" lvl="1" indent="-285750">
              <a:buFont typeface="Arial" panose="020B0604020202020204" pitchFamily="34" charset="0"/>
              <a:buChar char="•"/>
            </a:pPr>
            <a:r>
              <a:rPr lang="en-IN" sz="1700" dirty="0"/>
              <a:t>Provide easy appointment confirmation and rescheduling options. </a:t>
            </a:r>
          </a:p>
          <a:p>
            <a:pPr marL="342900" lvl="0" indent="-342900">
              <a:buFont typeface="Arial" panose="020B0604020202020204" pitchFamily="34" charset="0"/>
              <a:buChar char="•"/>
            </a:pPr>
            <a:r>
              <a:rPr lang="en-IN" sz="1700" b="1" dirty="0"/>
              <a:t>Optimize Doctor Workload</a:t>
            </a:r>
            <a:r>
              <a:rPr lang="en-IN" sz="1700" dirty="0"/>
              <a:t> </a:t>
            </a:r>
          </a:p>
          <a:p>
            <a:pPr marL="742950" lvl="1" indent="-285750">
              <a:buFont typeface="Arial" panose="020B0604020202020204" pitchFamily="34" charset="0"/>
              <a:buChar char="•"/>
            </a:pPr>
            <a:r>
              <a:rPr lang="en-IN" sz="1700" dirty="0"/>
              <a:t>Monitor doctor-wise appointment and patient volumes. </a:t>
            </a:r>
          </a:p>
          <a:p>
            <a:pPr marL="742950" lvl="1" indent="-285750">
              <a:buFont typeface="Arial" panose="020B0604020202020204" pitchFamily="34" charset="0"/>
              <a:buChar char="•"/>
            </a:pPr>
            <a:r>
              <a:rPr lang="en-IN" sz="1700" dirty="0"/>
              <a:t>Adjust appointment slots based on demand across specializations. </a:t>
            </a:r>
          </a:p>
          <a:p>
            <a:pPr marL="742950" lvl="1" indent="-285750">
              <a:buFont typeface="Arial" panose="020B0604020202020204" pitchFamily="34" charset="0"/>
              <a:buChar char="•"/>
            </a:pPr>
            <a:r>
              <a:rPr lang="en-IN" sz="1700" dirty="0"/>
              <a:t>Identify periods of high workload and redistribute appointments where appropriate. </a:t>
            </a:r>
          </a:p>
          <a:p>
            <a:pPr marL="342900" lvl="0" indent="-342900">
              <a:buFont typeface="Arial" panose="020B0604020202020204" pitchFamily="34" charset="0"/>
              <a:buChar char="•"/>
            </a:pPr>
            <a:r>
              <a:rPr lang="en-IN" sz="1700" b="1" dirty="0"/>
              <a:t>Improve Appointment Utilization</a:t>
            </a:r>
            <a:r>
              <a:rPr lang="en-IN" sz="1700" dirty="0"/>
              <a:t> </a:t>
            </a:r>
          </a:p>
          <a:p>
            <a:pPr marL="742950" lvl="1" indent="-285750">
              <a:buFont typeface="Arial" panose="020B0604020202020204" pitchFamily="34" charset="0"/>
              <a:buChar char="•"/>
            </a:pPr>
            <a:r>
              <a:rPr lang="en-IN" sz="1700" dirty="0"/>
              <a:t>Track Scheduled, Completed, Cancelled, and No-show appointments. </a:t>
            </a:r>
          </a:p>
          <a:p>
            <a:pPr marL="742950" lvl="1" indent="-285750">
              <a:buFont typeface="Arial" panose="020B0604020202020204" pitchFamily="34" charset="0"/>
              <a:buChar char="•"/>
            </a:pPr>
            <a:r>
              <a:rPr lang="en-IN" sz="1700" dirty="0" err="1"/>
              <a:t>Analyze</a:t>
            </a:r>
            <a:r>
              <a:rPr lang="en-IN" sz="1700" dirty="0"/>
              <a:t> no-show and cancellation patterns by day, month, doctor, and specialization. </a:t>
            </a:r>
          </a:p>
          <a:p>
            <a:pPr marL="742950" lvl="1" indent="-285750">
              <a:buFont typeface="Arial" panose="020B0604020202020204" pitchFamily="34" charset="0"/>
              <a:buChar char="•"/>
            </a:pPr>
            <a:r>
              <a:rPr lang="en-IN" sz="1700" dirty="0"/>
              <a:t>Use these patterns to improve scheduling and capacity planning. </a:t>
            </a:r>
          </a:p>
          <a:p>
            <a:pPr marL="342900" lvl="0" indent="-342900">
              <a:buFont typeface="Arial" panose="020B0604020202020204" pitchFamily="34" charset="0"/>
              <a:buChar char="•"/>
            </a:pPr>
            <a:r>
              <a:rPr lang="en-IN" sz="1700" b="1" dirty="0"/>
              <a:t>Strengthen Billing &amp; Collections</a:t>
            </a:r>
            <a:r>
              <a:rPr lang="en-IN" sz="1700" dirty="0"/>
              <a:t> </a:t>
            </a:r>
          </a:p>
          <a:p>
            <a:pPr marL="742950" lvl="1" indent="-285750">
              <a:buFont typeface="Arial" panose="020B0604020202020204" pitchFamily="34" charset="0"/>
              <a:buChar char="•"/>
            </a:pPr>
            <a:r>
              <a:rPr lang="en-IN" sz="1700" dirty="0"/>
              <a:t>Monitor outstanding amounts and payment-status trends. </a:t>
            </a:r>
          </a:p>
          <a:p>
            <a:pPr marL="742950" lvl="1" indent="-285750">
              <a:buFont typeface="Arial" panose="020B0604020202020204" pitchFamily="34" charset="0"/>
              <a:buChar char="•"/>
            </a:pPr>
            <a:r>
              <a:rPr lang="en-IN" sz="1700" dirty="0"/>
              <a:t>Send automated payment reminders for outstanding bills. </a:t>
            </a:r>
          </a:p>
          <a:p>
            <a:pPr marL="742950" lvl="1" indent="-285750">
              <a:buFont typeface="Arial" panose="020B0604020202020204" pitchFamily="34" charset="0"/>
              <a:buChar char="•"/>
            </a:pPr>
            <a:r>
              <a:rPr lang="en-IN" sz="1700" dirty="0"/>
              <a:t>Track collection rates regularly through the Billing &amp; Collections dashboard. </a:t>
            </a:r>
          </a:p>
        </p:txBody>
      </p:sp>
    </p:spTree>
    <p:extLst>
      <p:ext uri="{BB962C8B-B14F-4D97-AF65-F5344CB8AC3E}">
        <p14:creationId xmlns:p14="http://schemas.microsoft.com/office/powerpoint/2010/main" val="2086181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17861</TotalTime>
  <Words>2303</Words>
  <Application>Microsoft Office PowerPoint</Application>
  <PresentationFormat>Widescreen</PresentationFormat>
  <Paragraphs>387</Paragraphs>
  <Slides>23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Century Gothic</vt:lpstr>
      <vt:lpstr>Raleway</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Pankaj Kumar</cp:lastModifiedBy>
  <cp:revision>95</cp:revision>
  <dcterms:created xsi:type="dcterms:W3CDTF">2025-04-04T02:52:34Z</dcterms:created>
  <dcterms:modified xsi:type="dcterms:W3CDTF">2026-09-21T09:51:14Z</dcterms:modified>
</cp:coreProperties>
</file>